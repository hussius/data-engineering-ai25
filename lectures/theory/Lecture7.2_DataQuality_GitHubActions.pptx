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5"/>
  </p:normalViewPr>
  <p:slideViewPr>
    <p:cSldViewPr snapToGrid="0" snapToObjects="1">
      <p:cViewPr varScale="1">
        <p:scale>
          <a:sx n="113" d="100"/>
          <a:sy n="113" d="100"/>
        </p:scale>
        <p:origin x="54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Oval 1"/>
          <p:cNvSpPr/>
          <p:nvPr/>
        </p:nvSpPr>
        <p:spPr>
          <a:xfrm>
            <a:off x="9132707" y="1198004"/>
            <a:ext cx="106445" cy="106445"/>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702527" y="521909"/>
            <a:ext cx="149319" cy="14931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747652" y="567405"/>
            <a:ext cx="171646" cy="17164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944390" y="491632"/>
            <a:ext cx="111931" cy="11193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400509" y="448634"/>
            <a:ext cx="130510" cy="13051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318841" y="1246970"/>
            <a:ext cx="75265" cy="75265"/>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509413" y="560238"/>
            <a:ext cx="73156" cy="7315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280562" y="493963"/>
            <a:ext cx="136226" cy="13622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871684" y="629631"/>
            <a:ext cx="172377" cy="172377"/>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1145036" y="1685822"/>
            <a:ext cx="93260" cy="9326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759468" y="1580272"/>
            <a:ext cx="140414" cy="14041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163798" y="473996"/>
            <a:ext cx="140748" cy="14074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695381" y="1537410"/>
            <a:ext cx="92977" cy="92977"/>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9714709" y="1248998"/>
            <a:ext cx="81455" cy="81455"/>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767800" y="617028"/>
            <a:ext cx="82907" cy="82907"/>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793866" y="1544944"/>
            <a:ext cx="138830" cy="13883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1360526" y="749010"/>
            <a:ext cx="170971" cy="17097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939407" y="1567902"/>
            <a:ext cx="77507" cy="77507"/>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287988" y="1150974"/>
            <a:ext cx="147743" cy="14774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797406" y="1863404"/>
            <a:ext cx="76770" cy="7677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867132" y="494992"/>
            <a:ext cx="72229" cy="7222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9363853" y="1411056"/>
            <a:ext cx="145134" cy="14513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730196" y="1266726"/>
            <a:ext cx="153181" cy="15318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817628" y="1346437"/>
            <a:ext cx="165872" cy="16587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0400793" y="1128293"/>
            <a:ext cx="140750" cy="14075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9541976" y="2035934"/>
            <a:ext cx="103291" cy="10329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40080" y="640080"/>
            <a:ext cx="3450000" cy="400000"/>
          </a:xfrm>
          <a:prstGeom prst="roundRect">
            <a:avLst>
              <a:gd name="adj" fmla="val 50000"/>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Calibri"/>
              </a:rPr>
              <a:t>DATA ENGINEERING · WEEK 4</a:t>
            </a:r>
          </a:p>
        </p:txBody>
      </p:sp>
      <p:sp>
        <p:nvSpPr>
          <p:cNvPr id="29" name="TextBox 28"/>
          <p:cNvSpPr txBox="1"/>
          <p:nvPr/>
        </p:nvSpPr>
        <p:spPr>
          <a:xfrm>
            <a:off x="640080" y="1600200"/>
            <a:ext cx="9601200" cy="1938992"/>
          </a:xfrm>
          <a:prstGeom prst="rect">
            <a:avLst/>
          </a:prstGeom>
          <a:noFill/>
        </p:spPr>
        <p:txBody>
          <a:bodyPr wrap="square" lIns="0" tIns="0" rIns="0" bIns="0">
            <a:spAutoFit/>
          </a:bodyPr>
          <a:lstStyle/>
          <a:p>
            <a:pPr>
              <a:spcAft>
                <a:spcPts val="0"/>
              </a:spcAft>
            </a:pPr>
            <a:r>
              <a:rPr sz="4000" b="0">
                <a:solidFill>
                  <a:srgbClr val="FFFFFF"/>
                </a:solidFill>
                <a:latin typeface="Calibri"/>
              </a:rPr>
              <a:t>Data quality and GitHub Actions</a:t>
            </a:r>
          </a:p>
        </p:txBody>
      </p:sp>
      <p:sp>
        <p:nvSpPr>
          <p:cNvPr id="30" name="TextBox 29"/>
          <p:cNvSpPr txBox="1"/>
          <p:nvPr/>
        </p:nvSpPr>
        <p:spPr>
          <a:xfrm>
            <a:off x="640080" y="4200000"/>
            <a:ext cx="9601200" cy="323165"/>
          </a:xfrm>
          <a:prstGeom prst="rect">
            <a:avLst/>
          </a:prstGeom>
          <a:noFill/>
        </p:spPr>
        <p:txBody>
          <a:bodyPr wrap="square" lIns="0" tIns="0" rIns="0" bIns="0">
            <a:spAutoFit/>
          </a:bodyPr>
          <a:lstStyle/>
          <a:p>
            <a:pPr>
              <a:spcAft>
                <a:spcPts val="0"/>
              </a:spcAft>
            </a:pPr>
            <a:r>
              <a:rPr sz="1500" b="0">
                <a:solidFill>
                  <a:srgbClr val="CADCFC"/>
                </a:solidFill>
                <a:latin typeface="Calibri"/>
              </a:rPr>
              <a:t>Data engineering och Agila metoder — IT Högskolan · Thu 3/9</a:t>
            </a:r>
          </a:p>
        </p:txBody>
      </p:sp>
      <p:sp>
        <p:nvSpPr>
          <p:cNvPr id="31" name="TextBox 30"/>
          <p:cNvSpPr txBox="1"/>
          <p:nvPr/>
        </p:nvSpPr>
        <p:spPr>
          <a:xfrm>
            <a:off x="640080" y="4750000"/>
            <a:ext cx="9601200" cy="300000"/>
          </a:xfrm>
          <a:prstGeom prst="rect">
            <a:avLst/>
          </a:prstGeom>
          <a:noFill/>
        </p:spPr>
        <p:txBody>
          <a:bodyPr wrap="square" lIns="0" tIns="0" rIns="0" bIns="0">
            <a:spAutoFit/>
          </a:bodyPr>
          <a:lstStyle/>
          <a:p>
            <a:pPr>
              <a:spcAft>
                <a:spcPts val="0"/>
              </a:spcAft>
            </a:pPr>
            <a:r>
              <a:rPr sz="1200" b="0">
                <a:solidFill>
                  <a:srgbClr val="CADCFC"/>
                </a:solidFill>
                <a:latin typeface="Calibri"/>
              </a:rPr>
              <a:t>Mikael Huss  ·  IT Högskolan</a:t>
            </a:r>
          </a:p>
        </p:txBody>
      </p:sp>
      <p:sp>
        <p:nvSpPr>
          <p:cNvPr id="32" name="TextBox 31"/>
          <p:cNvSpPr txBox="1"/>
          <p:nvPr/>
        </p:nvSpPr>
        <p:spPr>
          <a:xfrm>
            <a:off x="502920" y="6510528"/>
            <a:ext cx="4572000" cy="274320"/>
          </a:xfrm>
          <a:prstGeom prst="rect">
            <a:avLst/>
          </a:prstGeom>
          <a:noFill/>
        </p:spPr>
        <p:txBody>
          <a:bodyPr wrap="square" lIns="0" tIns="0" rIns="0" bIns="0">
            <a:spAutoFit/>
          </a:bodyPr>
          <a:lstStyle/>
          <a:p>
            <a:pPr>
              <a:spcAft>
                <a:spcPts val="0"/>
              </a:spcAft>
            </a:pPr>
            <a:r>
              <a:rPr sz="900" b="0">
                <a:solidFill>
                  <a:srgbClr val="9AA6C4"/>
                </a:solidFill>
                <a:latin typeface="Calibri"/>
              </a:rPr>
              <a:t>Data Engineering och Agila metoder · Week 4</a:t>
            </a:r>
          </a:p>
        </p:txBody>
      </p:sp>
      <p:sp>
        <p:nvSpPr>
          <p:cNvPr id="33" name="TextBox 32"/>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spcAft>
                <a:spcPts val="0"/>
              </a:spcAft>
            </a:pPr>
            <a:r>
              <a:rPr sz="1200" b="1">
                <a:solidFill>
                  <a:srgbClr val="F2994A"/>
                </a:solidFill>
                <a:latin typeface="Calibri"/>
              </a:rPr>
              <a:t>TODAY</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spcAft>
                <a:spcPts val="0"/>
              </a:spcAft>
            </a:pPr>
            <a:r>
              <a:rPr sz="2600" b="1">
                <a:solidFill>
                  <a:srgbClr val="1E2761"/>
                </a:solidFill>
                <a:latin typeface="Calibri"/>
              </a:rPr>
              <a:t>What we will do</a:t>
            </a:r>
          </a:p>
        </p:txBody>
      </p:sp>
      <p:sp>
        <p:nvSpPr>
          <p:cNvPr id="4" name="TextBox 3"/>
          <p:cNvSpPr txBox="1"/>
          <p:nvPr/>
        </p:nvSpPr>
        <p:spPr>
          <a:xfrm>
            <a:off x="502920" y="1500000"/>
            <a:ext cx="10800000" cy="1500667"/>
          </a:xfrm>
          <a:prstGeom prst="rect">
            <a:avLst/>
          </a:prstGeom>
          <a:noFill/>
        </p:spPr>
        <p:txBody>
          <a:bodyPr wrap="square" lIns="0" tIns="0" rIns="0" bIns="0">
            <a:spAutoFit/>
          </a:bodyPr>
          <a:lstStyle/>
          <a:p>
            <a:pPr>
              <a:lnSpc>
                <a:spcPct val="115000"/>
              </a:lnSpc>
              <a:spcAft>
                <a:spcPts val="1000"/>
              </a:spcAft>
            </a:pPr>
            <a:r>
              <a:rPr sz="1600" b="1" dirty="0">
                <a:solidFill>
                  <a:srgbClr val="44506B"/>
                </a:solidFill>
                <a:latin typeface="Calibri"/>
              </a:rPr>
              <a:t>•  Block 1</a:t>
            </a:r>
            <a:r>
              <a:rPr sz="1600" dirty="0">
                <a:solidFill>
                  <a:srgbClr val="44506B"/>
                </a:solidFill>
                <a:latin typeface="Calibri"/>
              </a:rPr>
              <a:t>  data quality — how you find out data is wrong before a model does.</a:t>
            </a:r>
          </a:p>
          <a:p>
            <a:pPr>
              <a:lnSpc>
                <a:spcPct val="115000"/>
              </a:lnSpc>
              <a:spcAft>
                <a:spcPts val="1000"/>
              </a:spcAft>
            </a:pPr>
            <a:r>
              <a:rPr sz="1600" b="1" dirty="0">
                <a:solidFill>
                  <a:srgbClr val="44506B"/>
                </a:solidFill>
                <a:latin typeface="Calibri"/>
              </a:rPr>
              <a:t>•  Block 2</a:t>
            </a:r>
            <a:r>
              <a:rPr sz="1600" dirty="0">
                <a:solidFill>
                  <a:srgbClr val="44506B"/>
                </a:solidFill>
                <a:latin typeface="Calibri"/>
              </a:rPr>
              <a:t>  GitHub Actions — what it actually is, and building a workflow line by line.</a:t>
            </a:r>
          </a:p>
          <a:p>
            <a:pPr>
              <a:lnSpc>
                <a:spcPct val="115000"/>
              </a:lnSpc>
              <a:spcAft>
                <a:spcPts val="1000"/>
              </a:spcAft>
            </a:pPr>
            <a:r>
              <a:rPr sz="1600" b="1" dirty="0">
                <a:solidFill>
                  <a:srgbClr val="44506B"/>
                </a:solidFill>
                <a:latin typeface="Calibri"/>
              </a:rPr>
              <a:t>•  Exercise</a:t>
            </a:r>
            <a:r>
              <a:rPr sz="1600" dirty="0">
                <a:solidFill>
                  <a:srgbClr val="44506B"/>
                </a:solidFill>
                <a:latin typeface="Calibri"/>
              </a:rPr>
              <a:t>  one validation check and one scheduled run, in your own repo.</a:t>
            </a:r>
          </a:p>
          <a:p>
            <a:pPr>
              <a:lnSpc>
                <a:spcPct val="115000"/>
              </a:lnSpc>
              <a:spcAft>
                <a:spcPts val="1000"/>
              </a:spcAft>
            </a:pPr>
            <a:r>
              <a:rPr sz="1600" b="1" dirty="0">
                <a:solidFill>
                  <a:srgbClr val="44506B"/>
                </a:solidFill>
                <a:latin typeface="Calibri"/>
              </a:rPr>
              <a:t>•  </a:t>
            </a:r>
            <a:r>
              <a:rPr lang="sv-SE" sz="1600" b="1" dirty="0" err="1">
                <a:solidFill>
                  <a:srgbClr val="44506B"/>
                </a:solidFill>
                <a:latin typeface="Calibri"/>
              </a:rPr>
              <a:t>After</a:t>
            </a:r>
            <a:r>
              <a:rPr lang="sv-SE" sz="1600" b="1" dirty="0">
                <a:solidFill>
                  <a:srgbClr val="44506B"/>
                </a:solidFill>
                <a:latin typeface="Calibri"/>
              </a:rPr>
              <a:t> lunch</a:t>
            </a:r>
            <a:r>
              <a:rPr sz="1600" dirty="0">
                <a:solidFill>
                  <a:srgbClr val="44506B"/>
                </a:solidFill>
                <a:latin typeface="Calibri"/>
              </a:rPr>
              <a:t> </a:t>
            </a:r>
            <a:r>
              <a:rPr lang="sv-SE" sz="1600" dirty="0">
                <a:solidFill>
                  <a:srgbClr val="44506B"/>
                </a:solidFill>
                <a:latin typeface="Calibri"/>
              </a:rPr>
              <a:t>”</a:t>
            </a:r>
            <a:r>
              <a:rPr lang="sv-SE" sz="1600" dirty="0" err="1">
                <a:solidFill>
                  <a:srgbClr val="44506B"/>
                </a:solidFill>
                <a:latin typeface="Calibri"/>
              </a:rPr>
              <a:t>project</a:t>
            </a:r>
            <a:r>
              <a:rPr sz="1600" dirty="0">
                <a:solidFill>
                  <a:srgbClr val="44506B"/>
                </a:solidFill>
                <a:latin typeface="Calibri"/>
              </a:rPr>
              <a:t> studio</a:t>
            </a:r>
            <a:r>
              <a:rPr lang="sv-SE" sz="1600" dirty="0">
                <a:solidFill>
                  <a:srgbClr val="44506B"/>
                </a:solidFill>
                <a:latin typeface="Calibri"/>
              </a:rPr>
              <a:t>"</a:t>
            </a:r>
            <a:r>
              <a:rPr sz="1600" dirty="0">
                <a:solidFill>
                  <a:srgbClr val="44506B"/>
                </a:solidFill>
                <a:latin typeface="Calibri"/>
              </a:rPr>
              <a:t> for the rest of the day.</a:t>
            </a:r>
          </a:p>
        </p:txBody>
      </p:sp>
      <p:sp>
        <p:nvSpPr>
          <p:cNvPr id="5" name="TextBox 4"/>
          <p:cNvSpPr txBox="1"/>
          <p:nvPr/>
        </p:nvSpPr>
        <p:spPr>
          <a:xfrm>
            <a:off x="502920" y="6510528"/>
            <a:ext cx="4572000" cy="274320"/>
          </a:xfrm>
          <a:prstGeom prst="rect">
            <a:avLst/>
          </a:prstGeom>
          <a:noFill/>
        </p:spPr>
        <p:txBody>
          <a:bodyPr wrap="square" lIns="0" tIns="0" rIns="0" bIns="0">
            <a:spAutoFit/>
          </a:bodyPr>
          <a:lstStyle/>
          <a:p>
            <a:pPr>
              <a:spcAft>
                <a:spcPts val="0"/>
              </a:spcAft>
            </a:pPr>
            <a:r>
              <a:rPr sz="900" b="0">
                <a:solidFill>
                  <a:srgbClr val="9AA6C4"/>
                </a:solidFill>
                <a:latin typeface="Calibri"/>
              </a:rPr>
              <a:t>Data Engineering och Agila metoder · Week 4</a:t>
            </a:r>
          </a:p>
        </p:txBody>
      </p:sp>
      <p:sp>
        <p:nvSpPr>
          <p:cNvPr id="6" name="TextBox 5"/>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640080" y="3200000"/>
            <a:ext cx="10000000" cy="1000000"/>
          </a:xfrm>
          <a:prstGeom prst="rect">
            <a:avLst/>
          </a:prstGeom>
          <a:noFill/>
        </p:spPr>
        <p:txBody>
          <a:bodyPr wrap="square" lIns="0" tIns="0" rIns="0" bIns="0">
            <a:spAutoFit/>
          </a:bodyPr>
          <a:lstStyle/>
          <a:p>
            <a:pPr>
              <a:spcAft>
                <a:spcPts val="0"/>
              </a:spcAft>
            </a:pPr>
            <a:r>
              <a:rPr sz="3400" b="1">
                <a:solidFill>
                  <a:srgbClr val="FFFFFF"/>
                </a:solidFill>
                <a:latin typeface="Calibri"/>
              </a:rPr>
              <a:t>Part 1 — Data quality</a:t>
            </a:r>
          </a:p>
        </p:txBody>
      </p:sp>
      <p:sp>
        <p:nvSpPr>
          <p:cNvPr id="3" name="TextBox 2"/>
          <p:cNvSpPr txBox="1"/>
          <p:nvPr/>
        </p:nvSpPr>
        <p:spPr>
          <a:xfrm>
            <a:off x="640080" y="4250000"/>
            <a:ext cx="9500000" cy="900000"/>
          </a:xfrm>
          <a:prstGeom prst="rect">
            <a:avLst/>
          </a:prstGeom>
          <a:noFill/>
        </p:spPr>
        <p:txBody>
          <a:bodyPr wrap="square" lIns="0" tIns="0" rIns="0" bIns="0">
            <a:spAutoFit/>
          </a:bodyPr>
          <a:lstStyle/>
          <a:p>
            <a:pPr>
              <a:spcAft>
                <a:spcPts val="0"/>
              </a:spcAft>
            </a:pPr>
            <a:r>
              <a:rPr sz="1500" b="0">
                <a:solidFill>
                  <a:srgbClr val="CADCFC"/>
                </a:solidFill>
                <a:latin typeface="Calibri"/>
              </a:rPr>
              <a:t>A model cannot tell you its input is wrong. It just gets quietly worse.</a:t>
            </a:r>
          </a:p>
        </p:txBody>
      </p:sp>
      <p:sp>
        <p:nvSpPr>
          <p:cNvPr id="4" name="TextBox 3"/>
          <p:cNvSpPr txBox="1"/>
          <p:nvPr/>
        </p:nvSpPr>
        <p:spPr>
          <a:xfrm>
            <a:off x="502920" y="6510528"/>
            <a:ext cx="4572000" cy="274320"/>
          </a:xfrm>
          <a:prstGeom prst="rect">
            <a:avLst/>
          </a:prstGeom>
          <a:noFill/>
        </p:spPr>
        <p:txBody>
          <a:bodyPr wrap="square" lIns="0" tIns="0" rIns="0" bIns="0">
            <a:spAutoFit/>
          </a:bodyPr>
          <a:lstStyle/>
          <a:p>
            <a:pPr>
              <a:spcAft>
                <a:spcPts val="0"/>
              </a:spcAft>
            </a:pPr>
            <a:r>
              <a:rPr sz="900" b="0">
                <a:solidFill>
                  <a:srgbClr val="9AA6C4"/>
                </a:solidFill>
                <a:latin typeface="Calibri"/>
              </a:rPr>
              <a:t>Data Engineering och Agila metoder · Week 4</a:t>
            </a:r>
          </a:p>
        </p:txBody>
      </p:sp>
      <p:sp>
        <p:nvSpPr>
          <p:cNvPr id="5" name="TextBox 4"/>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spcAft>
                <a:spcPts val="0"/>
              </a:spcAft>
            </a:pPr>
            <a:r>
              <a:rPr sz="1200" b="1">
                <a:solidFill>
                  <a:srgbClr val="F2994A"/>
                </a:solidFill>
                <a:latin typeface="Calibri"/>
              </a:rPr>
              <a:t>THE WHOLE PROBLEM IN ONE SENTENCE</a:t>
            </a:r>
          </a:p>
        </p:txBody>
      </p:sp>
      <p:sp>
        <p:nvSpPr>
          <p:cNvPr id="3" name="TextBox 2"/>
          <p:cNvSpPr txBox="1"/>
          <p:nvPr/>
        </p:nvSpPr>
        <p:spPr>
          <a:xfrm>
            <a:off x="502920" y="2300000"/>
            <a:ext cx="11000000" cy="2000000"/>
          </a:xfrm>
          <a:prstGeom prst="rect">
            <a:avLst/>
          </a:prstGeom>
          <a:noFill/>
        </p:spPr>
        <p:txBody>
          <a:bodyPr wrap="square" lIns="0" tIns="0" rIns="0" bIns="0">
            <a:spAutoFit/>
          </a:bodyPr>
          <a:lstStyle/>
          <a:p>
            <a:pPr>
              <a:lnSpc>
                <a:spcPct val="120000"/>
              </a:lnSpc>
              <a:spcAft>
                <a:spcPts val="0"/>
              </a:spcAft>
            </a:pPr>
            <a:r>
              <a:rPr sz="3000" b="1">
                <a:solidFill>
                  <a:srgbClr val="1E2761"/>
                </a:solidFill>
                <a:latin typeface="Calibri"/>
              </a:rPr>
              <a:t>Bad code crashes. Bad data doesn't.</a:t>
            </a:r>
          </a:p>
        </p:txBody>
      </p:sp>
      <p:sp>
        <p:nvSpPr>
          <p:cNvPr id="4" name="TextBox 3"/>
          <p:cNvSpPr txBox="1"/>
          <p:nvPr/>
        </p:nvSpPr>
        <p:spPr>
          <a:xfrm>
            <a:off x="502920" y="4400000"/>
            <a:ext cx="10800000" cy="535531"/>
          </a:xfrm>
          <a:prstGeom prst="rect">
            <a:avLst/>
          </a:prstGeom>
          <a:noFill/>
        </p:spPr>
        <p:txBody>
          <a:bodyPr wrap="square" lIns="0" tIns="0" rIns="0" bIns="0">
            <a:spAutoFit/>
          </a:bodyPr>
          <a:lstStyle/>
          <a:p>
            <a:pPr>
              <a:lnSpc>
                <a:spcPct val="120000"/>
              </a:lnSpc>
              <a:spcAft>
                <a:spcPts val="0"/>
              </a:spcAft>
            </a:pPr>
            <a:r>
              <a:rPr sz="1500" b="0" dirty="0">
                <a:solidFill>
                  <a:srgbClr val="44506B"/>
                </a:solidFill>
                <a:latin typeface="Calibri"/>
              </a:rPr>
              <a:t>Code that is wrong usually stops. Data that is wrong keeps flowing, and everything downstream keeps working</a:t>
            </a:r>
            <a:r>
              <a:rPr lang="sv-SE" sz="1500" b="0" dirty="0">
                <a:solidFill>
                  <a:srgbClr val="44506B"/>
                </a:solidFill>
                <a:latin typeface="Calibri"/>
              </a:rPr>
              <a:t>,</a:t>
            </a:r>
            <a:r>
              <a:rPr sz="1500" b="0" dirty="0">
                <a:solidFill>
                  <a:srgbClr val="44506B"/>
                </a:solidFill>
                <a:latin typeface="Calibri"/>
              </a:rPr>
              <a:t> a little bit incorrectly, for as long as nobody looks.</a:t>
            </a:r>
          </a:p>
        </p:txBody>
      </p:sp>
      <p:sp>
        <p:nvSpPr>
          <p:cNvPr id="5" name="TextBox 4"/>
          <p:cNvSpPr txBox="1"/>
          <p:nvPr/>
        </p:nvSpPr>
        <p:spPr>
          <a:xfrm>
            <a:off x="502920" y="6510528"/>
            <a:ext cx="4572000" cy="274320"/>
          </a:xfrm>
          <a:prstGeom prst="rect">
            <a:avLst/>
          </a:prstGeom>
          <a:noFill/>
        </p:spPr>
        <p:txBody>
          <a:bodyPr wrap="square" lIns="0" tIns="0" rIns="0" bIns="0">
            <a:spAutoFit/>
          </a:bodyPr>
          <a:lstStyle/>
          <a:p>
            <a:pPr>
              <a:spcAft>
                <a:spcPts val="0"/>
              </a:spcAft>
            </a:pPr>
            <a:r>
              <a:rPr sz="900" b="0">
                <a:solidFill>
                  <a:srgbClr val="9AA6C4"/>
                </a:solidFill>
                <a:latin typeface="Calibri"/>
              </a:rPr>
              <a:t>Data Engineering och Agila metoder · Week 4</a:t>
            </a:r>
          </a:p>
        </p:txBody>
      </p:sp>
      <p:sp>
        <p:nvSpPr>
          <p:cNvPr id="6" name="TextBox 5"/>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spcAft>
                <a:spcPts val="0"/>
              </a:spcAft>
            </a:pPr>
            <a:r>
              <a:rPr sz="1200" b="1">
                <a:solidFill>
                  <a:srgbClr val="F2994A"/>
                </a:solidFill>
                <a:latin typeface="Calibri"/>
              </a:rPr>
              <a:t>DATA QUALITY</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spcAft>
                <a:spcPts val="0"/>
              </a:spcAft>
            </a:pPr>
            <a:r>
              <a:rPr sz="2600" b="1">
                <a:solidFill>
                  <a:srgbClr val="1E2761"/>
                </a:solidFill>
                <a:latin typeface="Calibri"/>
              </a:rPr>
              <a:t>Three that made the news</a:t>
            </a:r>
          </a:p>
        </p:txBody>
      </p:sp>
      <p:sp>
        <p:nvSpPr>
          <p:cNvPr id="4" name="Oval 3"/>
          <p:cNvSpPr/>
          <p:nvPr/>
        </p:nvSpPr>
        <p:spPr>
          <a:xfrm>
            <a:off x="700000" y="1510000"/>
            <a:ext cx="180000" cy="180000"/>
          </a:xfrm>
          <a:prstGeom prst="ellipse">
            <a:avLst/>
          </a:prstGeom>
          <a:solidFill>
            <a:srgbClr val="B0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0000" y="1450000"/>
            <a:ext cx="2900000" cy="700000"/>
          </a:xfrm>
          <a:prstGeom prst="rect">
            <a:avLst/>
          </a:prstGeom>
          <a:noFill/>
        </p:spPr>
        <p:txBody>
          <a:bodyPr wrap="square" lIns="0" tIns="0" rIns="0" bIns="0">
            <a:spAutoFit/>
          </a:bodyPr>
          <a:lstStyle/>
          <a:p>
            <a:pPr>
              <a:spcAft>
                <a:spcPts val="0"/>
              </a:spcAft>
            </a:pPr>
            <a:r>
              <a:rPr sz="1400" b="1">
                <a:solidFill>
                  <a:srgbClr val="1E2761"/>
                </a:solidFill>
                <a:latin typeface="Calibri"/>
              </a:rPr>
              <a:t>15,841 lost cases</a:t>
            </a:r>
          </a:p>
        </p:txBody>
      </p:sp>
      <p:sp>
        <p:nvSpPr>
          <p:cNvPr id="6" name="TextBox 5"/>
          <p:cNvSpPr txBox="1"/>
          <p:nvPr/>
        </p:nvSpPr>
        <p:spPr>
          <a:xfrm>
            <a:off x="3650000" y="1450000"/>
            <a:ext cx="7650000" cy="700000"/>
          </a:xfrm>
          <a:prstGeom prst="rect">
            <a:avLst/>
          </a:prstGeom>
          <a:noFill/>
        </p:spPr>
        <p:txBody>
          <a:bodyPr wrap="square" lIns="0" tIns="0" rIns="0" bIns="0">
            <a:spAutoFit/>
          </a:bodyPr>
          <a:lstStyle/>
          <a:p>
            <a:pPr>
              <a:lnSpc>
                <a:spcPct val="110000"/>
              </a:lnSpc>
              <a:spcAft>
                <a:spcPts val="0"/>
              </a:spcAft>
            </a:pPr>
            <a:r>
              <a:rPr sz="1400" b="0">
                <a:solidFill>
                  <a:srgbClr val="44506B"/>
                </a:solidFill>
                <a:latin typeface="Calibri"/>
              </a:rPr>
              <a:t>Public Health England, October 2020. Test results were collated in the old .xls format, which stops at 65,536 rows. Everything past that was dropped in silence. About 48,000 contacts were never told to isolate.</a:t>
            </a:r>
          </a:p>
        </p:txBody>
      </p:sp>
      <p:sp>
        <p:nvSpPr>
          <p:cNvPr id="7" name="Oval 6"/>
          <p:cNvSpPr/>
          <p:nvPr/>
        </p:nvSpPr>
        <p:spPr>
          <a:xfrm>
            <a:off x="700000" y="2290000"/>
            <a:ext cx="180000" cy="180000"/>
          </a:xfrm>
          <a:prstGeom prst="ellipse">
            <a:avLst/>
          </a:prstGeom>
          <a:solidFill>
            <a:srgbClr val="C17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0000" y="2230000"/>
            <a:ext cx="2900000" cy="700000"/>
          </a:xfrm>
          <a:prstGeom prst="rect">
            <a:avLst/>
          </a:prstGeom>
          <a:noFill/>
        </p:spPr>
        <p:txBody>
          <a:bodyPr wrap="square" lIns="0" tIns="0" rIns="0" bIns="0">
            <a:spAutoFit/>
          </a:bodyPr>
          <a:lstStyle/>
          <a:p>
            <a:pPr>
              <a:spcAft>
                <a:spcPts val="0"/>
              </a:spcAft>
            </a:pPr>
            <a:r>
              <a:rPr sz="1400" b="1">
                <a:solidFill>
                  <a:srgbClr val="1E2761"/>
                </a:solidFill>
                <a:latin typeface="Calibri"/>
              </a:rPr>
              <a:t>A $125 million spacecraft</a:t>
            </a:r>
          </a:p>
        </p:txBody>
      </p:sp>
      <p:sp>
        <p:nvSpPr>
          <p:cNvPr id="9" name="TextBox 8"/>
          <p:cNvSpPr txBox="1"/>
          <p:nvPr/>
        </p:nvSpPr>
        <p:spPr>
          <a:xfrm>
            <a:off x="3650000" y="2230000"/>
            <a:ext cx="7650000" cy="700000"/>
          </a:xfrm>
          <a:prstGeom prst="rect">
            <a:avLst/>
          </a:prstGeom>
          <a:noFill/>
        </p:spPr>
        <p:txBody>
          <a:bodyPr wrap="square" lIns="0" tIns="0" rIns="0" bIns="0">
            <a:spAutoFit/>
          </a:bodyPr>
          <a:lstStyle/>
          <a:p>
            <a:pPr>
              <a:lnSpc>
                <a:spcPct val="110000"/>
              </a:lnSpc>
              <a:spcAft>
                <a:spcPts val="0"/>
              </a:spcAft>
            </a:pPr>
            <a:r>
              <a:rPr sz="1400" b="0">
                <a:solidFill>
                  <a:srgbClr val="44506B"/>
                </a:solidFill>
                <a:latin typeface="Calibri"/>
              </a:rPr>
              <a:t>Mars Climate Orbiter, 1999. One team worked in pound-force seconds, the other in newton seconds. Both sets of numbers were correct. The orbiter entered the atmosphere too low and broke up.</a:t>
            </a:r>
          </a:p>
        </p:txBody>
      </p:sp>
      <p:sp>
        <p:nvSpPr>
          <p:cNvPr id="10" name="Oval 9"/>
          <p:cNvSpPr/>
          <p:nvPr/>
        </p:nvSpPr>
        <p:spPr>
          <a:xfrm>
            <a:off x="700000" y="3070000"/>
            <a:ext cx="180000" cy="180000"/>
          </a:xfrm>
          <a:prstGeom prst="ellipse">
            <a:avLst/>
          </a:prstGeom>
          <a:solidFill>
            <a:srgbClr val="1E7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0000" y="3010000"/>
            <a:ext cx="2900000" cy="700000"/>
          </a:xfrm>
          <a:prstGeom prst="rect">
            <a:avLst/>
          </a:prstGeom>
          <a:noFill/>
        </p:spPr>
        <p:txBody>
          <a:bodyPr wrap="square" lIns="0" tIns="0" rIns="0" bIns="0">
            <a:spAutoFit/>
          </a:bodyPr>
          <a:lstStyle/>
          <a:p>
            <a:pPr>
              <a:spcAft>
                <a:spcPts val="0"/>
              </a:spcAft>
            </a:pPr>
            <a:r>
              <a:rPr sz="1400" b="1">
                <a:solidFill>
                  <a:srgbClr val="1E2761"/>
                </a:solidFill>
                <a:latin typeface="Calibri"/>
              </a:rPr>
              <a:t>A fifth of all genetics papers</a:t>
            </a:r>
          </a:p>
        </p:txBody>
      </p:sp>
      <p:sp>
        <p:nvSpPr>
          <p:cNvPr id="12" name="TextBox 11"/>
          <p:cNvSpPr txBox="1"/>
          <p:nvPr/>
        </p:nvSpPr>
        <p:spPr>
          <a:xfrm>
            <a:off x="3650000" y="3010000"/>
            <a:ext cx="7650000" cy="700000"/>
          </a:xfrm>
          <a:prstGeom prst="rect">
            <a:avLst/>
          </a:prstGeom>
          <a:noFill/>
        </p:spPr>
        <p:txBody>
          <a:bodyPr wrap="square" lIns="0" tIns="0" rIns="0" bIns="0">
            <a:spAutoFit/>
          </a:bodyPr>
          <a:lstStyle/>
          <a:p>
            <a:pPr>
              <a:lnSpc>
                <a:spcPct val="110000"/>
              </a:lnSpc>
              <a:spcAft>
                <a:spcPts val="0"/>
              </a:spcAft>
            </a:pPr>
            <a:r>
              <a:rPr sz="1400" b="0">
                <a:solidFill>
                  <a:srgbClr val="44506B"/>
                </a:solidFill>
                <a:latin typeface="Calibri"/>
              </a:rPr>
              <a:t>Excel turns gene names into dates: SEPT2 becomes 2-Sep. In 2020 the naming committee renamed the genes, because that was easier than fixing the spreadsheets.</a:t>
            </a:r>
          </a:p>
        </p:txBody>
      </p:sp>
      <p:sp>
        <p:nvSpPr>
          <p:cNvPr id="13" name="Rounded Rectangle 12"/>
          <p:cNvSpPr/>
          <p:nvPr/>
        </p:nvSpPr>
        <p:spPr>
          <a:xfrm>
            <a:off x="502920" y="3890000"/>
            <a:ext cx="10800000" cy="90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00000" y="4070000"/>
            <a:ext cx="10400000" cy="700000"/>
          </a:xfrm>
          <a:prstGeom prst="rect">
            <a:avLst/>
          </a:prstGeom>
          <a:noFill/>
        </p:spPr>
        <p:txBody>
          <a:bodyPr wrap="square" lIns="0" tIns="0" rIns="0" bIns="0">
            <a:spAutoFit/>
          </a:bodyPr>
          <a:lstStyle/>
          <a:p>
            <a:pPr>
              <a:lnSpc>
                <a:spcPct val="115000"/>
              </a:lnSpc>
              <a:spcAft>
                <a:spcPts val="0"/>
              </a:spcAft>
            </a:pPr>
            <a:r>
              <a:rPr sz="1400" b="0">
                <a:solidFill>
                  <a:srgbClr val="1E2761"/>
                </a:solidFill>
                <a:latin typeface="Calibri"/>
              </a:rPr>
              <a:t>Not one of these was a code bug. Every one of those programs ran successfully.</a:t>
            </a:r>
          </a:p>
        </p:txBody>
      </p:sp>
      <p:sp>
        <p:nvSpPr>
          <p:cNvPr id="15" name="TextBox 14"/>
          <p:cNvSpPr txBox="1"/>
          <p:nvPr/>
        </p:nvSpPr>
        <p:spPr>
          <a:xfrm>
            <a:off x="502920" y="6510528"/>
            <a:ext cx="4572000" cy="274320"/>
          </a:xfrm>
          <a:prstGeom prst="rect">
            <a:avLst/>
          </a:prstGeom>
          <a:noFill/>
        </p:spPr>
        <p:txBody>
          <a:bodyPr wrap="square" lIns="0" tIns="0" rIns="0" bIns="0">
            <a:spAutoFit/>
          </a:bodyPr>
          <a:lstStyle/>
          <a:p>
            <a:pPr>
              <a:spcAft>
                <a:spcPts val="0"/>
              </a:spcAft>
            </a:pPr>
            <a:r>
              <a:rPr sz="900" b="0">
                <a:solidFill>
                  <a:srgbClr val="9AA6C4"/>
                </a:solidFill>
                <a:latin typeface="Calibri"/>
              </a:rPr>
              <a:t>Data Engineering och Agila metoder · Week 4</a:t>
            </a:r>
          </a:p>
        </p:txBody>
      </p:sp>
      <p:sp>
        <p:nvSpPr>
          <p:cNvPr id="16" name="TextBox 15"/>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spcAft>
                <a:spcPts val="0"/>
              </a:spcAft>
            </a:pPr>
            <a:r>
              <a:rPr sz="1200" b="1">
                <a:solidFill>
                  <a:srgbClr val="F2994A"/>
                </a:solidFill>
                <a:latin typeface="Calibri"/>
              </a:rPr>
              <a:t>DATA QUALITY</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spcAft>
                <a:spcPts val="0"/>
              </a:spcAft>
            </a:pPr>
            <a:r>
              <a:rPr sz="2600" b="1">
                <a:solidFill>
                  <a:srgbClr val="1E2761"/>
                </a:solidFill>
                <a:latin typeface="Calibri"/>
              </a:rPr>
              <a:t>Four questions, in order</a:t>
            </a:r>
          </a:p>
        </p:txBody>
      </p:sp>
      <p:sp>
        <p:nvSpPr>
          <p:cNvPr id="4" name="TextBox 3"/>
          <p:cNvSpPr txBox="1"/>
          <p:nvPr/>
        </p:nvSpPr>
        <p:spPr>
          <a:xfrm>
            <a:off x="502920" y="1450000"/>
            <a:ext cx="10800000" cy="400000"/>
          </a:xfrm>
          <a:prstGeom prst="rect">
            <a:avLst/>
          </a:prstGeom>
          <a:noFill/>
        </p:spPr>
        <p:txBody>
          <a:bodyPr wrap="square" lIns="0" tIns="0" rIns="0" bIns="0">
            <a:spAutoFit/>
          </a:bodyPr>
          <a:lstStyle/>
          <a:p>
            <a:pPr>
              <a:spcAft>
                <a:spcPts val="0"/>
              </a:spcAft>
            </a:pPr>
            <a:r>
              <a:rPr sz="1500" b="1">
                <a:solidFill>
                  <a:srgbClr val="1E2761"/>
                </a:solidFill>
                <a:latin typeface="Calibri"/>
              </a:rPr>
              <a:t>Every validation layer you will ever write is some arrangement of these four:</a:t>
            </a:r>
          </a:p>
        </p:txBody>
      </p:sp>
      <p:sp>
        <p:nvSpPr>
          <p:cNvPr id="5" name="Oval 4"/>
          <p:cNvSpPr/>
          <p:nvPr/>
        </p:nvSpPr>
        <p:spPr>
          <a:xfrm>
            <a:off x="700000" y="2010000"/>
            <a:ext cx="180000" cy="180000"/>
          </a:xfrm>
          <a:prstGeom prst="ellipse">
            <a:avLst/>
          </a:prstGeom>
          <a:solidFill>
            <a:srgbClr val="B0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0000" y="1950000"/>
            <a:ext cx="2900000" cy="700000"/>
          </a:xfrm>
          <a:prstGeom prst="rect">
            <a:avLst/>
          </a:prstGeom>
          <a:noFill/>
        </p:spPr>
        <p:txBody>
          <a:bodyPr wrap="square" lIns="0" tIns="0" rIns="0" bIns="0">
            <a:spAutoFit/>
          </a:bodyPr>
          <a:lstStyle/>
          <a:p>
            <a:pPr>
              <a:spcAft>
                <a:spcPts val="0"/>
              </a:spcAft>
            </a:pPr>
            <a:r>
              <a:rPr sz="1400" b="1">
                <a:solidFill>
                  <a:srgbClr val="1E2761"/>
                </a:solidFill>
                <a:latin typeface="Calibri"/>
              </a:rPr>
              <a:t>1. Did it arrive?</a:t>
            </a:r>
          </a:p>
        </p:txBody>
      </p:sp>
      <p:sp>
        <p:nvSpPr>
          <p:cNvPr id="7" name="TextBox 6"/>
          <p:cNvSpPr txBox="1"/>
          <p:nvPr/>
        </p:nvSpPr>
        <p:spPr>
          <a:xfrm>
            <a:off x="3650000" y="1950000"/>
            <a:ext cx="7650000" cy="700000"/>
          </a:xfrm>
          <a:prstGeom prst="rect">
            <a:avLst/>
          </a:prstGeom>
          <a:noFill/>
        </p:spPr>
        <p:txBody>
          <a:bodyPr wrap="square" lIns="0" tIns="0" rIns="0" bIns="0">
            <a:spAutoFit/>
          </a:bodyPr>
          <a:lstStyle/>
          <a:p>
            <a:pPr>
              <a:lnSpc>
                <a:spcPct val="110000"/>
              </a:lnSpc>
              <a:spcAft>
                <a:spcPts val="0"/>
              </a:spcAft>
            </a:pPr>
            <a:r>
              <a:rPr sz="1400" b="0">
                <a:solidFill>
                  <a:srgbClr val="44506B"/>
                </a:solidFill>
                <a:latin typeface="Calibri"/>
              </a:rPr>
              <a:t>Freshness. Is there data for today at all? The most common real failure, and the one people forget to check.</a:t>
            </a:r>
          </a:p>
        </p:txBody>
      </p:sp>
      <p:sp>
        <p:nvSpPr>
          <p:cNvPr id="8" name="Oval 7"/>
          <p:cNvSpPr/>
          <p:nvPr/>
        </p:nvSpPr>
        <p:spPr>
          <a:xfrm>
            <a:off x="700000" y="2790000"/>
            <a:ext cx="180000" cy="180000"/>
          </a:xfrm>
          <a:prstGeom prst="ellipse">
            <a:avLst/>
          </a:prstGeom>
          <a:solidFill>
            <a:srgbClr val="C17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0000" y="2730000"/>
            <a:ext cx="2900000" cy="700000"/>
          </a:xfrm>
          <a:prstGeom prst="rect">
            <a:avLst/>
          </a:prstGeom>
          <a:noFill/>
        </p:spPr>
        <p:txBody>
          <a:bodyPr wrap="square" lIns="0" tIns="0" rIns="0" bIns="0">
            <a:spAutoFit/>
          </a:bodyPr>
          <a:lstStyle/>
          <a:p>
            <a:pPr>
              <a:spcAft>
                <a:spcPts val="0"/>
              </a:spcAft>
            </a:pPr>
            <a:r>
              <a:rPr sz="1400" b="1">
                <a:solidFill>
                  <a:srgbClr val="1E2761"/>
                </a:solidFill>
                <a:latin typeface="Calibri"/>
              </a:rPr>
              <a:t>2. Is it the right shape?</a:t>
            </a:r>
          </a:p>
        </p:txBody>
      </p:sp>
      <p:sp>
        <p:nvSpPr>
          <p:cNvPr id="10" name="TextBox 9"/>
          <p:cNvSpPr txBox="1"/>
          <p:nvPr/>
        </p:nvSpPr>
        <p:spPr>
          <a:xfrm>
            <a:off x="3650000" y="2730000"/>
            <a:ext cx="7650000" cy="700000"/>
          </a:xfrm>
          <a:prstGeom prst="rect">
            <a:avLst/>
          </a:prstGeom>
          <a:noFill/>
        </p:spPr>
        <p:txBody>
          <a:bodyPr wrap="square" lIns="0" tIns="0" rIns="0" bIns="0">
            <a:spAutoFit/>
          </a:bodyPr>
          <a:lstStyle/>
          <a:p>
            <a:pPr>
              <a:lnSpc>
                <a:spcPct val="110000"/>
              </a:lnSpc>
              <a:spcAft>
                <a:spcPts val="0"/>
              </a:spcAft>
            </a:pPr>
            <a:r>
              <a:rPr sz="1400" b="0">
                <a:solidFill>
                  <a:srgbClr val="44506B"/>
                </a:solidFill>
                <a:latin typeface="Calibri"/>
              </a:rPr>
              <a:t>Schema. Expected columns, expected types, nothing silently added or renamed.</a:t>
            </a:r>
          </a:p>
        </p:txBody>
      </p:sp>
      <p:sp>
        <p:nvSpPr>
          <p:cNvPr id="11" name="Oval 10"/>
          <p:cNvSpPr/>
          <p:nvPr/>
        </p:nvSpPr>
        <p:spPr>
          <a:xfrm>
            <a:off x="700000" y="3570000"/>
            <a:ext cx="180000" cy="180000"/>
          </a:xfrm>
          <a:prstGeom prst="ellipse">
            <a:avLst/>
          </a:prstGeom>
          <a:solidFill>
            <a:srgbClr val="1E7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0000" y="3510000"/>
            <a:ext cx="2900000" cy="700000"/>
          </a:xfrm>
          <a:prstGeom prst="rect">
            <a:avLst/>
          </a:prstGeom>
          <a:noFill/>
        </p:spPr>
        <p:txBody>
          <a:bodyPr wrap="square" lIns="0" tIns="0" rIns="0" bIns="0">
            <a:spAutoFit/>
          </a:bodyPr>
          <a:lstStyle/>
          <a:p>
            <a:pPr>
              <a:spcAft>
                <a:spcPts val="0"/>
              </a:spcAft>
            </a:pPr>
            <a:r>
              <a:rPr sz="1400" b="1">
                <a:solidFill>
                  <a:srgbClr val="1E2761"/>
                </a:solidFill>
                <a:latin typeface="Calibri"/>
              </a:rPr>
              <a:t>3. Are the values plausible?</a:t>
            </a:r>
          </a:p>
        </p:txBody>
      </p:sp>
      <p:sp>
        <p:nvSpPr>
          <p:cNvPr id="13" name="TextBox 12"/>
          <p:cNvSpPr txBox="1"/>
          <p:nvPr/>
        </p:nvSpPr>
        <p:spPr>
          <a:xfrm>
            <a:off x="3650000" y="3510000"/>
            <a:ext cx="7650000" cy="700000"/>
          </a:xfrm>
          <a:prstGeom prst="rect">
            <a:avLst/>
          </a:prstGeom>
          <a:noFill/>
        </p:spPr>
        <p:txBody>
          <a:bodyPr wrap="square" lIns="0" tIns="0" rIns="0" bIns="0">
            <a:spAutoFit/>
          </a:bodyPr>
          <a:lstStyle/>
          <a:p>
            <a:pPr>
              <a:lnSpc>
                <a:spcPct val="110000"/>
              </a:lnSpc>
              <a:spcAft>
                <a:spcPts val="0"/>
              </a:spcAft>
            </a:pPr>
            <a:r>
              <a:rPr sz="1400" b="0">
                <a:solidFill>
                  <a:srgbClr val="44506B"/>
                </a:solidFill>
                <a:latin typeface="Calibri"/>
              </a:rPr>
              <a:t>Ranges, physical limits, units. Is this temperature actually in Celsius?</a:t>
            </a:r>
          </a:p>
        </p:txBody>
      </p:sp>
      <p:sp>
        <p:nvSpPr>
          <p:cNvPr id="14" name="Oval 13"/>
          <p:cNvSpPr/>
          <p:nvPr/>
        </p:nvSpPr>
        <p:spPr>
          <a:xfrm>
            <a:off x="700000" y="4350000"/>
            <a:ext cx="180000" cy="18000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0000" y="4290000"/>
            <a:ext cx="2900000" cy="700000"/>
          </a:xfrm>
          <a:prstGeom prst="rect">
            <a:avLst/>
          </a:prstGeom>
          <a:noFill/>
        </p:spPr>
        <p:txBody>
          <a:bodyPr wrap="square" lIns="0" tIns="0" rIns="0" bIns="0">
            <a:spAutoFit/>
          </a:bodyPr>
          <a:lstStyle/>
          <a:p>
            <a:pPr>
              <a:spcAft>
                <a:spcPts val="0"/>
              </a:spcAft>
            </a:pPr>
            <a:r>
              <a:rPr sz="1400" b="1">
                <a:solidFill>
                  <a:srgbClr val="1E2761"/>
                </a:solidFill>
                <a:latin typeface="Calibri"/>
              </a:rPr>
              <a:t>4. Is it complete and unique?</a:t>
            </a:r>
          </a:p>
        </p:txBody>
      </p:sp>
      <p:sp>
        <p:nvSpPr>
          <p:cNvPr id="16" name="TextBox 15"/>
          <p:cNvSpPr txBox="1"/>
          <p:nvPr/>
        </p:nvSpPr>
        <p:spPr>
          <a:xfrm>
            <a:off x="3650000" y="4290000"/>
            <a:ext cx="7650000" cy="700000"/>
          </a:xfrm>
          <a:prstGeom prst="rect">
            <a:avLst/>
          </a:prstGeom>
          <a:noFill/>
        </p:spPr>
        <p:txBody>
          <a:bodyPr wrap="square" lIns="0" tIns="0" rIns="0" bIns="0">
            <a:spAutoFit/>
          </a:bodyPr>
          <a:lstStyle/>
          <a:p>
            <a:pPr>
              <a:lnSpc>
                <a:spcPct val="110000"/>
              </a:lnSpc>
              <a:spcAft>
                <a:spcPts val="0"/>
              </a:spcAft>
            </a:pPr>
            <a:r>
              <a:rPr sz="1400" b="0">
                <a:solidFill>
                  <a:srgbClr val="44506B"/>
                </a:solidFill>
                <a:latin typeface="Calibri"/>
              </a:rPr>
              <a:t>Missing hours, duplicated rows, gaps at boundaries — midnight, month-end, DST.</a:t>
            </a:r>
          </a:p>
        </p:txBody>
      </p:sp>
      <p:sp>
        <p:nvSpPr>
          <p:cNvPr id="19" name="TextBox 18"/>
          <p:cNvSpPr txBox="1"/>
          <p:nvPr/>
        </p:nvSpPr>
        <p:spPr>
          <a:xfrm>
            <a:off x="502920" y="6510528"/>
            <a:ext cx="4572000" cy="274320"/>
          </a:xfrm>
          <a:prstGeom prst="rect">
            <a:avLst/>
          </a:prstGeom>
          <a:noFill/>
        </p:spPr>
        <p:txBody>
          <a:bodyPr wrap="square" lIns="0" tIns="0" rIns="0" bIns="0">
            <a:spAutoFit/>
          </a:bodyPr>
          <a:lstStyle/>
          <a:p>
            <a:pPr>
              <a:spcAft>
                <a:spcPts val="0"/>
              </a:spcAft>
            </a:pPr>
            <a:r>
              <a:rPr sz="900" b="0">
                <a:solidFill>
                  <a:srgbClr val="9AA6C4"/>
                </a:solidFill>
                <a:latin typeface="Calibri"/>
              </a:rPr>
              <a:t>Data Engineering och Agila metoder · Week 4</a:t>
            </a:r>
          </a:p>
        </p:txBody>
      </p:sp>
      <p:sp>
        <p:nvSpPr>
          <p:cNvPr id="20" name="TextBox 19"/>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spcAft>
                <a:spcPts val="0"/>
              </a:spcAft>
            </a:pPr>
            <a:r>
              <a:rPr sz="1200" b="1">
                <a:solidFill>
                  <a:srgbClr val="F2994A"/>
                </a:solidFill>
                <a:latin typeface="Calibri"/>
              </a:rPr>
              <a:t>DATA QUALITY</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spcAft>
                <a:spcPts val="0"/>
              </a:spcAft>
            </a:pPr>
            <a:r>
              <a:rPr sz="2600" b="1">
                <a:solidFill>
                  <a:srgbClr val="1E2761"/>
                </a:solidFill>
                <a:latin typeface="Calibri"/>
              </a:rPr>
              <a:t>A bug one of you found on Monday</a:t>
            </a:r>
          </a:p>
        </p:txBody>
      </p:sp>
      <p:sp>
        <p:nvSpPr>
          <p:cNvPr id="4" name="Rounded Rectangle 3"/>
          <p:cNvSpPr/>
          <p:nvPr/>
        </p:nvSpPr>
        <p:spPr>
          <a:xfrm>
            <a:off x="502920" y="1400000"/>
            <a:ext cx="10800000" cy="100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00000" y="1550000"/>
            <a:ext cx="10400000" cy="350000"/>
          </a:xfrm>
          <a:prstGeom prst="rect">
            <a:avLst/>
          </a:prstGeom>
          <a:noFill/>
        </p:spPr>
        <p:txBody>
          <a:bodyPr wrap="square" lIns="0" tIns="0" rIns="0" bIns="0">
            <a:spAutoFit/>
          </a:bodyPr>
          <a:lstStyle/>
          <a:p>
            <a:pPr>
              <a:spcAft>
                <a:spcPts val="0"/>
              </a:spcAft>
            </a:pPr>
            <a:r>
              <a:rPr sz="1600" b="1">
                <a:solidFill>
                  <a:srgbClr val="1E2761"/>
                </a:solidFill>
                <a:latin typeface="Calibri"/>
              </a:rPr>
              <a:t>Station 98230 has no recent wind data.</a:t>
            </a:r>
          </a:p>
        </p:txBody>
      </p:sp>
      <p:sp>
        <p:nvSpPr>
          <p:cNvPr id="6" name="TextBox 5"/>
          <p:cNvSpPr txBox="1"/>
          <p:nvPr/>
        </p:nvSpPr>
        <p:spPr>
          <a:xfrm>
            <a:off x="700000" y="1920000"/>
            <a:ext cx="10400000" cy="420000"/>
          </a:xfrm>
          <a:prstGeom prst="rect">
            <a:avLst/>
          </a:prstGeom>
          <a:noFill/>
        </p:spPr>
        <p:txBody>
          <a:bodyPr wrap="square" lIns="0" tIns="0" rIns="0" bIns="0">
            <a:spAutoFit/>
          </a:bodyPr>
          <a:lstStyle/>
          <a:p>
            <a:pPr>
              <a:lnSpc>
                <a:spcPct val="110000"/>
              </a:lnSpc>
              <a:spcAft>
                <a:spcPts val="0"/>
              </a:spcAft>
            </a:pPr>
            <a:r>
              <a:rPr sz="1400" b="0">
                <a:solidFill>
                  <a:srgbClr val="44506B"/>
                </a:solidFill>
                <a:latin typeface="Calibri"/>
              </a:rPr>
              <a:t>The station the starter repo marks as verified. Same station, same period — one URL works and one does not:</a:t>
            </a:r>
          </a:p>
        </p:txBody>
      </p:sp>
      <p:sp>
        <p:nvSpPr>
          <p:cNvPr id="7" name="Rounded Rectangle 6"/>
          <p:cNvSpPr/>
          <p:nvPr/>
        </p:nvSpPr>
        <p:spPr>
          <a:xfrm>
            <a:off x="502920" y="2520000"/>
            <a:ext cx="10800000" cy="100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00000" y="2670000"/>
            <a:ext cx="10400000" cy="350000"/>
          </a:xfrm>
          <a:prstGeom prst="rect">
            <a:avLst/>
          </a:prstGeom>
          <a:noFill/>
        </p:spPr>
        <p:txBody>
          <a:bodyPr wrap="square" lIns="0" tIns="0" rIns="0" bIns="0">
            <a:spAutoFit/>
          </a:bodyPr>
          <a:lstStyle/>
          <a:p>
            <a:pPr>
              <a:spcAft>
                <a:spcPts val="0"/>
              </a:spcAft>
            </a:pPr>
            <a:r>
              <a:rPr sz="1600" b="1">
                <a:solidFill>
                  <a:srgbClr val="1E2761"/>
                </a:solidFill>
                <a:latin typeface="Calibri"/>
              </a:rPr>
              <a:t>.../parameter/1/station/98230/period/latest-months/data.json</a:t>
            </a:r>
          </a:p>
        </p:txBody>
      </p:sp>
      <p:sp>
        <p:nvSpPr>
          <p:cNvPr id="9" name="TextBox 8"/>
          <p:cNvSpPr txBox="1"/>
          <p:nvPr/>
        </p:nvSpPr>
        <p:spPr>
          <a:xfrm>
            <a:off x="700000" y="3040000"/>
            <a:ext cx="10400000" cy="420000"/>
          </a:xfrm>
          <a:prstGeom prst="rect">
            <a:avLst/>
          </a:prstGeom>
          <a:noFill/>
        </p:spPr>
        <p:txBody>
          <a:bodyPr wrap="square" lIns="0" tIns="0" rIns="0" bIns="0">
            <a:spAutoFit/>
          </a:bodyPr>
          <a:lstStyle/>
          <a:p>
            <a:pPr>
              <a:lnSpc>
                <a:spcPct val="110000"/>
              </a:lnSpc>
              <a:spcAft>
                <a:spcPts val="0"/>
              </a:spcAft>
            </a:pPr>
            <a:r>
              <a:rPr sz="1400" b="0">
                <a:solidFill>
                  <a:srgbClr val="44506B"/>
                </a:solidFill>
                <a:latin typeface="Calibri"/>
              </a:rPr>
              <a:t>Temperature. Returns observations.</a:t>
            </a:r>
          </a:p>
        </p:txBody>
      </p:sp>
      <p:sp>
        <p:nvSpPr>
          <p:cNvPr id="10" name="Rounded Rectangle 9"/>
          <p:cNvSpPr/>
          <p:nvPr/>
        </p:nvSpPr>
        <p:spPr>
          <a:xfrm>
            <a:off x="502920" y="3640000"/>
            <a:ext cx="10800000" cy="100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00000" y="3790000"/>
            <a:ext cx="10400000" cy="350000"/>
          </a:xfrm>
          <a:prstGeom prst="rect">
            <a:avLst/>
          </a:prstGeom>
          <a:noFill/>
        </p:spPr>
        <p:txBody>
          <a:bodyPr wrap="square" lIns="0" tIns="0" rIns="0" bIns="0">
            <a:spAutoFit/>
          </a:bodyPr>
          <a:lstStyle/>
          <a:p>
            <a:pPr>
              <a:spcAft>
                <a:spcPts val="0"/>
              </a:spcAft>
            </a:pPr>
            <a:r>
              <a:rPr sz="1600" b="1">
                <a:solidFill>
                  <a:srgbClr val="1E2761"/>
                </a:solidFill>
                <a:latin typeface="Calibri"/>
              </a:rPr>
              <a:t>.../parameter/4/station/98230/period/latest-months/data.json</a:t>
            </a:r>
          </a:p>
        </p:txBody>
      </p:sp>
      <p:sp>
        <p:nvSpPr>
          <p:cNvPr id="12" name="TextBox 11"/>
          <p:cNvSpPr txBox="1"/>
          <p:nvPr/>
        </p:nvSpPr>
        <p:spPr>
          <a:xfrm>
            <a:off x="700000" y="4160000"/>
            <a:ext cx="10400000" cy="420000"/>
          </a:xfrm>
          <a:prstGeom prst="rect">
            <a:avLst/>
          </a:prstGeom>
          <a:noFill/>
        </p:spPr>
        <p:txBody>
          <a:bodyPr wrap="square" lIns="0" tIns="0" rIns="0" bIns="0">
            <a:spAutoFit/>
          </a:bodyPr>
          <a:lstStyle/>
          <a:p>
            <a:pPr>
              <a:lnSpc>
                <a:spcPct val="110000"/>
              </a:lnSpc>
              <a:spcAft>
                <a:spcPts val="0"/>
              </a:spcAft>
            </a:pPr>
            <a:r>
              <a:rPr sz="1400" b="0">
                <a:solidFill>
                  <a:srgbClr val="44506B"/>
                </a:solidFill>
                <a:latin typeface="Calibri"/>
              </a:rPr>
              <a:t>Wind. Returns 404.</a:t>
            </a:r>
          </a:p>
        </p:txBody>
      </p:sp>
      <p:sp>
        <p:nvSpPr>
          <p:cNvPr id="13" name="Rounded Rectangle 12"/>
          <p:cNvSpPr/>
          <p:nvPr/>
        </p:nvSpPr>
        <p:spPr>
          <a:xfrm>
            <a:off x="502920" y="4760000"/>
            <a:ext cx="10800000" cy="100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00000" y="4910000"/>
            <a:ext cx="10400000" cy="350000"/>
          </a:xfrm>
          <a:prstGeom prst="rect">
            <a:avLst/>
          </a:prstGeom>
          <a:noFill/>
        </p:spPr>
        <p:txBody>
          <a:bodyPr wrap="square" lIns="0" tIns="0" rIns="0" bIns="0">
            <a:spAutoFit/>
          </a:bodyPr>
          <a:lstStyle/>
          <a:p>
            <a:pPr>
              <a:spcAft>
                <a:spcPts val="0"/>
              </a:spcAft>
            </a:pPr>
            <a:r>
              <a:rPr sz="1600" b="1">
                <a:solidFill>
                  <a:srgbClr val="1E2761"/>
                </a:solidFill>
                <a:latin typeface="Calibri"/>
              </a:rPr>
              <a:t>Nothing failed.</a:t>
            </a:r>
          </a:p>
        </p:txBody>
      </p:sp>
      <p:sp>
        <p:nvSpPr>
          <p:cNvPr id="15" name="TextBox 14"/>
          <p:cNvSpPr txBox="1"/>
          <p:nvPr/>
        </p:nvSpPr>
        <p:spPr>
          <a:xfrm>
            <a:off x="700000" y="5280000"/>
            <a:ext cx="10400000" cy="420000"/>
          </a:xfrm>
          <a:prstGeom prst="rect">
            <a:avLst/>
          </a:prstGeom>
          <a:noFill/>
        </p:spPr>
        <p:txBody>
          <a:bodyPr wrap="square" lIns="0" tIns="0" rIns="0" bIns="0">
            <a:spAutoFit/>
          </a:bodyPr>
          <a:lstStyle/>
          <a:p>
            <a:pPr>
              <a:lnSpc>
                <a:spcPct val="110000"/>
              </a:lnSpc>
              <a:spcAft>
                <a:spcPts val="0"/>
              </a:spcAft>
            </a:pPr>
            <a:r>
              <a:rPr sz="1400" b="0">
                <a:solidFill>
                  <a:srgbClr val="44506B"/>
                </a:solidFill>
                <a:latin typeface="Calibri"/>
              </a:rPr>
              <a:t>The fetcher warned on stderr and carried on. The CSV came out with all seven columns, the right row count and the right date range — and an empty wind column.</a:t>
            </a:r>
          </a:p>
        </p:txBody>
      </p:sp>
      <p:sp>
        <p:nvSpPr>
          <p:cNvPr id="16" name="TextBox 15"/>
          <p:cNvSpPr txBox="1"/>
          <p:nvPr/>
        </p:nvSpPr>
        <p:spPr>
          <a:xfrm>
            <a:off x="502920" y="6510528"/>
            <a:ext cx="4572000" cy="274320"/>
          </a:xfrm>
          <a:prstGeom prst="rect">
            <a:avLst/>
          </a:prstGeom>
          <a:noFill/>
        </p:spPr>
        <p:txBody>
          <a:bodyPr wrap="square" lIns="0" tIns="0" rIns="0" bIns="0">
            <a:spAutoFit/>
          </a:bodyPr>
          <a:lstStyle/>
          <a:p>
            <a:pPr>
              <a:spcAft>
                <a:spcPts val="0"/>
              </a:spcAft>
            </a:pPr>
            <a:r>
              <a:rPr sz="900" b="0">
                <a:solidFill>
                  <a:srgbClr val="9AA6C4"/>
                </a:solidFill>
                <a:latin typeface="Calibri"/>
              </a:rPr>
              <a:t>Data Engineering och Agila metoder · Week 4</a:t>
            </a:r>
          </a:p>
        </p:txBody>
      </p:sp>
      <p:sp>
        <p:nvSpPr>
          <p:cNvPr id="17" name="TextBox 16"/>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spcAft>
                <a:spcPts val="0"/>
              </a:spcAft>
            </a:pPr>
            <a:r>
              <a:rPr sz="1200" b="1">
                <a:solidFill>
                  <a:srgbClr val="F2994A"/>
                </a:solidFill>
                <a:latin typeface="Calibri"/>
              </a:rPr>
              <a:t>DATA QUALITY</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spcAft>
                <a:spcPts val="0"/>
              </a:spcAft>
            </a:pPr>
            <a:r>
              <a:rPr sz="2600" b="1">
                <a:solidFill>
                  <a:srgbClr val="1E2761"/>
                </a:solidFill>
                <a:latin typeface="Calibri"/>
              </a:rPr>
              <a:t>Why that one was hard to see</a:t>
            </a:r>
          </a:p>
        </p:txBody>
      </p:sp>
      <p:sp>
        <p:nvSpPr>
          <p:cNvPr id="4" name="TextBox 3"/>
          <p:cNvSpPr txBox="1"/>
          <p:nvPr/>
        </p:nvSpPr>
        <p:spPr>
          <a:xfrm>
            <a:off x="502920" y="1500000"/>
            <a:ext cx="10800000" cy="4200000"/>
          </a:xfrm>
          <a:prstGeom prst="rect">
            <a:avLst/>
          </a:prstGeom>
          <a:noFill/>
        </p:spPr>
        <p:txBody>
          <a:bodyPr wrap="square" lIns="0" tIns="0" rIns="0" bIns="0">
            <a:spAutoFit/>
          </a:bodyPr>
          <a:lstStyle/>
          <a:p>
            <a:pPr>
              <a:lnSpc>
                <a:spcPct val="115000"/>
              </a:lnSpc>
              <a:spcAft>
                <a:spcPts val="1000"/>
              </a:spcAft>
            </a:pPr>
            <a:r>
              <a:rPr sz="1500" b="1">
                <a:solidFill>
                  <a:srgbClr val="44506B"/>
                </a:solidFill>
                <a:latin typeface="Calibri"/>
              </a:rPr>
              <a:t>•  The tool checked the wrong thing.</a:t>
            </a:r>
            <a:r>
              <a:rPr sz="1500">
                <a:solidFill>
                  <a:srgbClr val="44506B"/>
                </a:solidFill>
                <a:latin typeface="Calibri"/>
              </a:rPr>
              <a:t>  --find-station asks SMHI which stations have parameter 1, temperature. A station can have temperature and no wind and still come back as active.</a:t>
            </a:r>
          </a:p>
          <a:p>
            <a:pPr>
              <a:lnSpc>
                <a:spcPct val="115000"/>
              </a:lnSpc>
              <a:spcAft>
                <a:spcPts val="1000"/>
              </a:spcAft>
            </a:pPr>
            <a:r>
              <a:rPr sz="1500" b="1">
                <a:solidFill>
                  <a:srgbClr val="44506B"/>
                </a:solidFill>
                <a:latin typeface="Calibri"/>
              </a:rPr>
              <a:t>•  The failure went to stderr.</a:t>
            </a:r>
            <a:r>
              <a:rPr sz="1500">
                <a:solidFill>
                  <a:srgbClr val="44506B"/>
                </a:solidFill>
                <a:latin typeface="Calibri"/>
              </a:rPr>
              <a:t>  Not to an exception, not to an exit code. Warnings scroll past.</a:t>
            </a:r>
          </a:p>
          <a:p>
            <a:pPr>
              <a:lnSpc>
                <a:spcPct val="115000"/>
              </a:lnSpc>
              <a:spcAft>
                <a:spcPts val="1000"/>
              </a:spcAft>
            </a:pPr>
            <a:r>
              <a:rPr sz="1500" b="1">
                <a:solidFill>
                  <a:srgbClr val="44506B"/>
                </a:solidFill>
                <a:latin typeface="Calibri"/>
              </a:rPr>
              <a:t>•  The shape was still right.</a:t>
            </a:r>
            <a:r>
              <a:rPr sz="1500">
                <a:solidFill>
                  <a:srgbClr val="44506B"/>
                </a:solidFill>
                <a:latin typeface="Calibri"/>
              </a:rPr>
              <a:t>  The last line of the fetcher reindexes to the expected columns, so a column that was never fetched gets created anyway, full of nulls.</a:t>
            </a:r>
          </a:p>
          <a:p>
            <a:pPr>
              <a:lnSpc>
                <a:spcPct val="115000"/>
              </a:lnSpc>
              <a:spcAft>
                <a:spcPts val="1000"/>
              </a:spcAft>
            </a:pPr>
            <a:r>
              <a:rPr sz="1500" b="1">
                <a:solidFill>
                  <a:srgbClr val="44506B"/>
                </a:solidFill>
                <a:latin typeface="Calibri"/>
              </a:rPr>
              <a:t>•  And the hole is only in recent months.</a:t>
            </a:r>
            <a:r>
              <a:rPr sz="1500">
                <a:solidFill>
                  <a:srgbClr val="44506B"/>
                </a:solidFill>
                <a:latin typeface="Calibri"/>
              </a:rPr>
              <a:t>  Whole-file that is about 12% missing, which reads as ordinary gaps. Month by month it is a solid empty block over exactly the period you predict on.</a:t>
            </a:r>
          </a:p>
        </p:txBody>
      </p:sp>
      <p:sp>
        <p:nvSpPr>
          <p:cNvPr id="5" name="TextBox 4"/>
          <p:cNvSpPr txBox="1"/>
          <p:nvPr/>
        </p:nvSpPr>
        <p:spPr>
          <a:xfrm>
            <a:off x="502920" y="5900000"/>
            <a:ext cx="10800000" cy="200055"/>
          </a:xfrm>
          <a:prstGeom prst="rect">
            <a:avLst/>
          </a:prstGeom>
          <a:noFill/>
        </p:spPr>
        <p:txBody>
          <a:bodyPr wrap="square" lIns="0" tIns="0" rIns="0" bIns="0">
            <a:spAutoFit/>
          </a:bodyPr>
          <a:lstStyle/>
          <a:p>
            <a:pPr>
              <a:spcAft>
                <a:spcPts val="0"/>
              </a:spcAft>
            </a:pPr>
            <a:r>
              <a:rPr lang="sv-SE" sz="1300" b="1" dirty="0">
                <a:solidFill>
                  <a:srgbClr val="1E2761"/>
                </a:solidFill>
                <a:latin typeface="Calibri"/>
              </a:rPr>
              <a:t>Data </a:t>
            </a:r>
            <a:r>
              <a:rPr sz="1300" b="1" dirty="0">
                <a:solidFill>
                  <a:srgbClr val="1E2761"/>
                </a:solidFill>
                <a:latin typeface="Calibri"/>
              </a:rPr>
              <a:t>bugs are rarely </a:t>
            </a:r>
            <a:r>
              <a:rPr lang="sv-SE" sz="1300" b="1" dirty="0">
                <a:solidFill>
                  <a:srgbClr val="1E2761"/>
                </a:solidFill>
                <a:latin typeface="Calibri"/>
              </a:rPr>
              <a:t>just </a:t>
            </a:r>
            <a:r>
              <a:rPr sz="1300" b="1" dirty="0">
                <a:solidFill>
                  <a:srgbClr val="1E2761"/>
                </a:solidFill>
                <a:latin typeface="Calibri"/>
              </a:rPr>
              <a:t>one mistake.</a:t>
            </a:r>
          </a:p>
        </p:txBody>
      </p:sp>
      <p:sp>
        <p:nvSpPr>
          <p:cNvPr id="6" name="TextBox 5"/>
          <p:cNvSpPr txBox="1"/>
          <p:nvPr/>
        </p:nvSpPr>
        <p:spPr>
          <a:xfrm>
            <a:off x="502920" y="6510528"/>
            <a:ext cx="4572000" cy="274320"/>
          </a:xfrm>
          <a:prstGeom prst="rect">
            <a:avLst/>
          </a:prstGeom>
          <a:noFill/>
        </p:spPr>
        <p:txBody>
          <a:bodyPr wrap="square" lIns="0" tIns="0" rIns="0" bIns="0">
            <a:spAutoFit/>
          </a:bodyPr>
          <a:lstStyle/>
          <a:p>
            <a:pPr>
              <a:spcAft>
                <a:spcPts val="0"/>
              </a:spcAft>
            </a:pPr>
            <a:r>
              <a:rPr sz="900" b="0">
                <a:solidFill>
                  <a:srgbClr val="9AA6C4"/>
                </a:solidFill>
                <a:latin typeface="Calibri"/>
              </a:rPr>
              <a:t>Data Engineering och Agila metoder · Week 4</a:t>
            </a:r>
          </a:p>
        </p:txBody>
      </p:sp>
      <p:sp>
        <p:nvSpPr>
          <p:cNvPr id="7" name="TextBox 6"/>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spcAft>
                <a:spcPts val="0"/>
              </a:spcAft>
            </a:pPr>
            <a:r>
              <a:rPr sz="1200" b="1">
                <a:solidFill>
                  <a:srgbClr val="F2994A"/>
                </a:solidFill>
                <a:latin typeface="Calibri"/>
              </a:rPr>
              <a:t>DATA QUALITY</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spcAft>
                <a:spcPts val="0"/>
              </a:spcAft>
            </a:pPr>
            <a:r>
              <a:rPr sz="2600" b="1">
                <a:solidFill>
                  <a:srgbClr val="1E2761"/>
                </a:solidFill>
                <a:latin typeface="Calibri"/>
              </a:rPr>
              <a:t>Plausibility is where it gets hard</a:t>
            </a:r>
          </a:p>
        </p:txBody>
      </p:sp>
      <p:sp>
        <p:nvSpPr>
          <p:cNvPr id="4" name="TextBox 3"/>
          <p:cNvSpPr txBox="1"/>
          <p:nvPr/>
        </p:nvSpPr>
        <p:spPr>
          <a:xfrm>
            <a:off x="502920" y="1500000"/>
            <a:ext cx="10800000" cy="2227341"/>
          </a:xfrm>
          <a:prstGeom prst="rect">
            <a:avLst/>
          </a:prstGeom>
          <a:noFill/>
        </p:spPr>
        <p:txBody>
          <a:bodyPr wrap="square" lIns="0" tIns="0" rIns="0" bIns="0">
            <a:spAutoFit/>
          </a:bodyPr>
          <a:lstStyle/>
          <a:p>
            <a:pPr>
              <a:lnSpc>
                <a:spcPct val="115000"/>
              </a:lnSpc>
              <a:spcAft>
                <a:spcPts val="1000"/>
              </a:spcAft>
            </a:pPr>
            <a:r>
              <a:rPr sz="1500" b="1" dirty="0">
                <a:solidFill>
                  <a:srgbClr val="44506B"/>
                </a:solidFill>
                <a:latin typeface="Calibri"/>
              </a:rPr>
              <a:t>•  A rule that is obviously right is usually wrong somewhere.</a:t>
            </a:r>
            <a:r>
              <a:rPr sz="1500" dirty="0">
                <a:solidFill>
                  <a:srgbClr val="44506B"/>
                </a:solidFill>
                <a:latin typeface="Calibri"/>
              </a:rPr>
              <a:t>  price &gt;= 0 looks safe. Nordic spot prices go negative when there is a lot of wind and little demand.</a:t>
            </a:r>
          </a:p>
          <a:p>
            <a:pPr>
              <a:lnSpc>
                <a:spcPct val="115000"/>
              </a:lnSpc>
              <a:spcAft>
                <a:spcPts val="1000"/>
              </a:spcAft>
            </a:pPr>
            <a:r>
              <a:rPr sz="1500" b="1" dirty="0">
                <a:solidFill>
                  <a:srgbClr val="44506B"/>
                </a:solidFill>
                <a:latin typeface="Calibri"/>
              </a:rPr>
              <a:t>•  Anomalies and errors look identical from inside the data.</a:t>
            </a:r>
            <a:r>
              <a:rPr sz="1500" dirty="0">
                <a:solidFill>
                  <a:srgbClr val="44506B"/>
                </a:solidFill>
                <a:latin typeface="Calibri"/>
              </a:rPr>
              <a:t>  The difference lives in domain knowledge, not in statistics. A 40°C reading is </a:t>
            </a:r>
            <a:r>
              <a:rPr lang="sv-SE" sz="1500" dirty="0" err="1">
                <a:solidFill>
                  <a:srgbClr val="44506B"/>
                </a:solidFill>
                <a:latin typeface="Calibri"/>
              </a:rPr>
              <a:t>likely</a:t>
            </a:r>
            <a:r>
              <a:rPr lang="sv-SE" sz="1500" dirty="0">
                <a:solidFill>
                  <a:srgbClr val="44506B"/>
                </a:solidFill>
                <a:latin typeface="Calibri"/>
              </a:rPr>
              <a:t> </a:t>
            </a:r>
            <a:r>
              <a:rPr sz="1500" dirty="0">
                <a:solidFill>
                  <a:srgbClr val="44506B"/>
                </a:solidFill>
                <a:latin typeface="Calibri"/>
              </a:rPr>
              <a:t>an error in Kiruna </a:t>
            </a:r>
            <a:r>
              <a:rPr lang="sv-SE" sz="1500" dirty="0" err="1">
                <a:solidFill>
                  <a:srgbClr val="44506B"/>
                </a:solidFill>
                <a:latin typeface="Calibri"/>
              </a:rPr>
              <a:t>but</a:t>
            </a:r>
            <a:r>
              <a:rPr sz="1500" dirty="0">
                <a:solidFill>
                  <a:srgbClr val="44506B"/>
                </a:solidFill>
                <a:latin typeface="Calibri"/>
              </a:rPr>
              <a:t> a </a:t>
            </a:r>
            <a:r>
              <a:rPr lang="sv-SE" sz="1500" dirty="0">
                <a:solidFill>
                  <a:srgbClr val="44506B"/>
                </a:solidFill>
                <a:latin typeface="Calibri"/>
              </a:rPr>
              <a:t>normal </a:t>
            </a:r>
            <a:r>
              <a:rPr sz="1500" dirty="0">
                <a:solidFill>
                  <a:srgbClr val="44506B"/>
                </a:solidFill>
                <a:latin typeface="Calibri"/>
              </a:rPr>
              <a:t>Tuesday in Seville.</a:t>
            </a:r>
          </a:p>
          <a:p>
            <a:pPr>
              <a:lnSpc>
                <a:spcPct val="115000"/>
              </a:lnSpc>
              <a:spcAft>
                <a:spcPts val="1000"/>
              </a:spcAft>
            </a:pPr>
            <a:r>
              <a:rPr sz="1500" b="1" dirty="0">
                <a:solidFill>
                  <a:srgbClr val="44506B"/>
                </a:solidFill>
                <a:latin typeface="Calibri"/>
              </a:rPr>
              <a:t>•  So the useful check is rarely a hard rule.</a:t>
            </a:r>
            <a:r>
              <a:rPr sz="1500" dirty="0">
                <a:solidFill>
                  <a:srgbClr val="44506B"/>
                </a:solidFill>
                <a:latin typeface="Calibri"/>
              </a:rPr>
              <a:t>  "Reject if outside range" becomes "flag it, count it, and look at how often it </a:t>
            </a:r>
            <a:r>
              <a:rPr lang="sv-SE" sz="1500" dirty="0" err="1">
                <a:solidFill>
                  <a:srgbClr val="44506B"/>
                </a:solidFill>
                <a:latin typeface="Calibri"/>
              </a:rPr>
              <a:t>happens</a:t>
            </a:r>
            <a:r>
              <a:rPr sz="1500" dirty="0">
                <a:solidFill>
                  <a:srgbClr val="44506B"/>
                </a:solidFill>
                <a:latin typeface="Calibri"/>
              </a:rPr>
              <a:t>".</a:t>
            </a:r>
          </a:p>
          <a:p>
            <a:pPr>
              <a:lnSpc>
                <a:spcPct val="115000"/>
              </a:lnSpc>
              <a:spcAft>
                <a:spcPts val="1000"/>
              </a:spcAft>
            </a:pPr>
            <a:r>
              <a:rPr sz="1500" b="1" dirty="0">
                <a:solidFill>
                  <a:srgbClr val="44506B"/>
                </a:solidFill>
                <a:latin typeface="Calibri"/>
              </a:rPr>
              <a:t>•  Write down the reasoning, not just the threshold.</a:t>
            </a:r>
            <a:r>
              <a:rPr sz="1500" dirty="0">
                <a:solidFill>
                  <a:srgbClr val="44506B"/>
                </a:solidFill>
                <a:latin typeface="Calibri"/>
              </a:rPr>
              <a:t>  The number will be wrong eventually. The reasoning tells the next person how to change</a:t>
            </a:r>
            <a:r>
              <a:rPr lang="sv-SE" sz="1500" dirty="0">
                <a:solidFill>
                  <a:srgbClr val="44506B"/>
                </a:solidFill>
                <a:latin typeface="Calibri"/>
              </a:rPr>
              <a:t> it.</a:t>
            </a:r>
            <a:endParaRPr sz="1500" dirty="0">
              <a:solidFill>
                <a:srgbClr val="44506B"/>
              </a:solidFill>
              <a:latin typeface="Calibri"/>
            </a:endParaRPr>
          </a:p>
        </p:txBody>
      </p:sp>
      <p:sp>
        <p:nvSpPr>
          <p:cNvPr id="5" name="TextBox 4"/>
          <p:cNvSpPr txBox="1"/>
          <p:nvPr/>
        </p:nvSpPr>
        <p:spPr>
          <a:xfrm>
            <a:off x="502920" y="6510528"/>
            <a:ext cx="4572000" cy="274320"/>
          </a:xfrm>
          <a:prstGeom prst="rect">
            <a:avLst/>
          </a:prstGeom>
          <a:noFill/>
        </p:spPr>
        <p:txBody>
          <a:bodyPr wrap="square" lIns="0" tIns="0" rIns="0" bIns="0">
            <a:spAutoFit/>
          </a:bodyPr>
          <a:lstStyle/>
          <a:p>
            <a:pPr>
              <a:spcAft>
                <a:spcPts val="0"/>
              </a:spcAft>
            </a:pPr>
            <a:r>
              <a:rPr sz="900" b="0">
                <a:solidFill>
                  <a:srgbClr val="9AA6C4"/>
                </a:solidFill>
                <a:latin typeface="Calibri"/>
              </a:rPr>
              <a:t>Data Engineering och Agila metoder · Week 4</a:t>
            </a:r>
          </a:p>
        </p:txBody>
      </p:sp>
      <p:sp>
        <p:nvSpPr>
          <p:cNvPr id="6" name="TextBox 5"/>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spcAft>
                <a:spcPts val="0"/>
              </a:spcAft>
            </a:pPr>
            <a:r>
              <a:rPr sz="1200" b="1">
                <a:solidFill>
                  <a:srgbClr val="F2994A"/>
                </a:solidFill>
                <a:latin typeface="Calibri"/>
              </a:rPr>
              <a:t>DATA QUALITY</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spcAft>
                <a:spcPts val="0"/>
              </a:spcAft>
            </a:pPr>
            <a:r>
              <a:rPr sz="2600" b="1">
                <a:solidFill>
                  <a:srgbClr val="1E2761"/>
                </a:solidFill>
                <a:latin typeface="Calibri"/>
              </a:rPr>
              <a:t>Where does the check go?</a:t>
            </a:r>
          </a:p>
        </p:txBody>
      </p:sp>
      <p:sp>
        <p:nvSpPr>
          <p:cNvPr id="4" name="Rounded Rectangle 3"/>
          <p:cNvSpPr/>
          <p:nvPr/>
        </p:nvSpPr>
        <p:spPr>
          <a:xfrm>
            <a:off x="502920" y="1500000"/>
            <a:ext cx="5250000" cy="390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00000" y="1700000"/>
            <a:ext cx="4850000" cy="500000"/>
          </a:xfrm>
          <a:prstGeom prst="rect">
            <a:avLst/>
          </a:prstGeom>
          <a:noFill/>
        </p:spPr>
        <p:txBody>
          <a:bodyPr wrap="square" lIns="0" tIns="0" rIns="0" bIns="0">
            <a:spAutoFit/>
          </a:bodyPr>
          <a:lstStyle/>
          <a:p>
            <a:pPr>
              <a:spcAft>
                <a:spcPts val="0"/>
              </a:spcAft>
            </a:pPr>
            <a:r>
              <a:rPr sz="2200" b="1">
                <a:solidFill>
                  <a:srgbClr val="1E2761"/>
                </a:solidFill>
                <a:latin typeface="Calibri"/>
              </a:rPr>
              <a:t>Fail loud, at the boundary</a:t>
            </a:r>
          </a:p>
        </p:txBody>
      </p:sp>
      <p:sp>
        <p:nvSpPr>
          <p:cNvPr id="6" name="TextBox 5"/>
          <p:cNvSpPr txBox="1"/>
          <p:nvPr/>
        </p:nvSpPr>
        <p:spPr>
          <a:xfrm>
            <a:off x="700000" y="2300000"/>
            <a:ext cx="4850000" cy="1367618"/>
          </a:xfrm>
          <a:prstGeom prst="rect">
            <a:avLst/>
          </a:prstGeom>
          <a:noFill/>
        </p:spPr>
        <p:txBody>
          <a:bodyPr wrap="square" lIns="0" tIns="0" rIns="0" bIns="0">
            <a:spAutoFit/>
          </a:bodyPr>
          <a:lstStyle/>
          <a:p>
            <a:pPr>
              <a:lnSpc>
                <a:spcPct val="115000"/>
              </a:lnSpc>
              <a:spcAft>
                <a:spcPts val="900"/>
              </a:spcAft>
            </a:pPr>
            <a:r>
              <a:rPr sz="1300" b="1" dirty="0">
                <a:solidFill>
                  <a:srgbClr val="44506B"/>
                </a:solidFill>
                <a:latin typeface="Calibri"/>
              </a:rPr>
              <a:t>•  Reject bad input at ingestion.</a:t>
            </a:r>
            <a:r>
              <a:rPr sz="1300" dirty="0">
                <a:solidFill>
                  <a:srgbClr val="44506B"/>
                </a:solidFill>
                <a:latin typeface="Calibri"/>
              </a:rPr>
              <a:t>  Nothing bad ever enters the system.</a:t>
            </a:r>
          </a:p>
          <a:p>
            <a:pPr>
              <a:lnSpc>
                <a:spcPct val="115000"/>
              </a:lnSpc>
              <a:spcAft>
                <a:spcPts val="900"/>
              </a:spcAft>
            </a:pPr>
            <a:r>
              <a:rPr sz="1300" b="1" dirty="0">
                <a:solidFill>
                  <a:srgbClr val="44506B"/>
                </a:solidFill>
                <a:latin typeface="Calibri"/>
              </a:rPr>
              <a:t>•  But raw is append-only and untouched.</a:t>
            </a:r>
            <a:r>
              <a:rPr sz="1300" dirty="0">
                <a:solidFill>
                  <a:srgbClr val="44506B"/>
                </a:solidFill>
                <a:latin typeface="Calibri"/>
              </a:rPr>
              <a:t>  You want the record of what the source actually sent.</a:t>
            </a:r>
          </a:p>
          <a:p>
            <a:pPr>
              <a:lnSpc>
                <a:spcPct val="115000"/>
              </a:lnSpc>
              <a:spcAft>
                <a:spcPts val="900"/>
              </a:spcAft>
            </a:pPr>
            <a:r>
              <a:rPr sz="1300" b="1" dirty="0">
                <a:solidFill>
                  <a:srgbClr val="44506B"/>
                </a:solidFill>
                <a:latin typeface="Calibri"/>
              </a:rPr>
              <a:t>•  Rejecting at ingest destroys evidence.</a:t>
            </a:r>
            <a:r>
              <a:rPr sz="1300" dirty="0">
                <a:solidFill>
                  <a:srgbClr val="44506B"/>
                </a:solidFill>
                <a:latin typeface="Calibri"/>
              </a:rPr>
              <a:t>  You can never re-examine what went wrong.</a:t>
            </a:r>
          </a:p>
        </p:txBody>
      </p:sp>
      <p:sp>
        <p:nvSpPr>
          <p:cNvPr id="7" name="Rounded Rectangle 6"/>
          <p:cNvSpPr/>
          <p:nvPr/>
        </p:nvSpPr>
        <p:spPr>
          <a:xfrm>
            <a:off x="6100000" y="1500000"/>
            <a:ext cx="5250000" cy="390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300000" y="1700000"/>
            <a:ext cx="4850000" cy="500000"/>
          </a:xfrm>
          <a:prstGeom prst="rect">
            <a:avLst/>
          </a:prstGeom>
          <a:noFill/>
        </p:spPr>
        <p:txBody>
          <a:bodyPr wrap="square" lIns="0" tIns="0" rIns="0" bIns="0">
            <a:spAutoFit/>
          </a:bodyPr>
          <a:lstStyle/>
          <a:p>
            <a:pPr>
              <a:spcAft>
                <a:spcPts val="0"/>
              </a:spcAft>
            </a:pPr>
            <a:r>
              <a:rPr sz="2200" b="1">
                <a:solidFill>
                  <a:srgbClr val="1E2761"/>
                </a:solidFill>
                <a:latin typeface="Calibri"/>
              </a:rPr>
              <a:t>Validate on the way out of raw</a:t>
            </a:r>
          </a:p>
        </p:txBody>
      </p:sp>
      <p:sp>
        <p:nvSpPr>
          <p:cNvPr id="9" name="TextBox 8"/>
          <p:cNvSpPr txBox="1"/>
          <p:nvPr/>
        </p:nvSpPr>
        <p:spPr>
          <a:xfrm>
            <a:off x="6300000" y="2300000"/>
            <a:ext cx="4850000" cy="1367618"/>
          </a:xfrm>
          <a:prstGeom prst="rect">
            <a:avLst/>
          </a:prstGeom>
          <a:noFill/>
        </p:spPr>
        <p:txBody>
          <a:bodyPr wrap="square" lIns="0" tIns="0" rIns="0" bIns="0">
            <a:spAutoFit/>
          </a:bodyPr>
          <a:lstStyle/>
          <a:p>
            <a:pPr>
              <a:lnSpc>
                <a:spcPct val="115000"/>
              </a:lnSpc>
              <a:spcAft>
                <a:spcPts val="900"/>
              </a:spcAft>
            </a:pPr>
            <a:r>
              <a:rPr sz="1300" b="1" dirty="0">
                <a:solidFill>
                  <a:srgbClr val="44506B"/>
                </a:solidFill>
                <a:latin typeface="Calibri"/>
              </a:rPr>
              <a:t>•  </a:t>
            </a:r>
            <a:r>
              <a:rPr lang="sv-SE" sz="1300" b="1" dirty="0">
                <a:solidFill>
                  <a:srgbClr val="44506B"/>
                </a:solidFill>
                <a:latin typeface="Calibri"/>
              </a:rPr>
              <a:t>Read</a:t>
            </a:r>
            <a:r>
              <a:rPr sz="1300" b="1" dirty="0">
                <a:solidFill>
                  <a:srgbClr val="44506B"/>
                </a:solidFill>
                <a:latin typeface="Calibri"/>
              </a:rPr>
              <a:t> everything. Check when you promote</a:t>
            </a:r>
            <a:r>
              <a:rPr lang="sv-SE" sz="1300" b="1" dirty="0">
                <a:solidFill>
                  <a:srgbClr val="44506B"/>
                </a:solidFill>
                <a:latin typeface="Calibri"/>
              </a:rPr>
              <a:t> to </a:t>
            </a:r>
            <a:r>
              <a:rPr lang="sv-SE" sz="1300" b="1" dirty="0" err="1">
                <a:solidFill>
                  <a:srgbClr val="44506B"/>
                </a:solidFill>
                <a:latin typeface="Calibri"/>
              </a:rPr>
              <a:t>clean</a:t>
            </a:r>
            <a:r>
              <a:rPr lang="sv-SE" sz="1300" b="1" dirty="0">
                <a:solidFill>
                  <a:srgbClr val="44506B"/>
                </a:solidFill>
                <a:latin typeface="Calibri"/>
              </a:rPr>
              <a:t>/silver</a:t>
            </a:r>
            <a:r>
              <a:rPr sz="1300" b="1" dirty="0">
                <a:solidFill>
                  <a:srgbClr val="44506B"/>
                </a:solidFill>
                <a:latin typeface="Calibri"/>
              </a:rPr>
              <a:t>.</a:t>
            </a:r>
            <a:r>
              <a:rPr sz="1300" dirty="0">
                <a:solidFill>
                  <a:srgbClr val="44506B"/>
                </a:solidFill>
                <a:latin typeface="Calibri"/>
              </a:rPr>
              <a:t> </a:t>
            </a:r>
          </a:p>
          <a:p>
            <a:pPr>
              <a:lnSpc>
                <a:spcPct val="115000"/>
              </a:lnSpc>
              <a:spcAft>
                <a:spcPts val="900"/>
              </a:spcAft>
            </a:pPr>
            <a:r>
              <a:rPr sz="1300" b="1" dirty="0">
                <a:solidFill>
                  <a:srgbClr val="44506B"/>
                </a:solidFill>
                <a:latin typeface="Calibri"/>
              </a:rPr>
              <a:t>•  Failures are visible and re-runnable.</a:t>
            </a:r>
            <a:r>
              <a:rPr sz="1300" dirty="0">
                <a:solidFill>
                  <a:srgbClr val="44506B"/>
                </a:solidFill>
                <a:latin typeface="Calibri"/>
              </a:rPr>
              <a:t>  The raw data is still there when you fix the rule.</a:t>
            </a:r>
          </a:p>
          <a:p>
            <a:pPr>
              <a:lnSpc>
                <a:spcPct val="115000"/>
              </a:lnSpc>
              <a:spcAft>
                <a:spcPts val="900"/>
              </a:spcAft>
            </a:pPr>
            <a:r>
              <a:rPr sz="1300" b="1" dirty="0">
                <a:solidFill>
                  <a:srgbClr val="44506B"/>
                </a:solidFill>
                <a:latin typeface="Calibri"/>
              </a:rPr>
              <a:t>•  Duplicates in raw are not a bug.</a:t>
            </a:r>
            <a:r>
              <a:rPr sz="1300" dirty="0">
                <a:solidFill>
                  <a:srgbClr val="44506B"/>
                </a:solidFill>
                <a:latin typeface="Calibri"/>
              </a:rPr>
              <a:t>  Ask a source twice, get two rows. Your staging view picks the newest.</a:t>
            </a:r>
          </a:p>
        </p:txBody>
      </p:sp>
      <p:sp>
        <p:nvSpPr>
          <p:cNvPr id="10" name="Rounded Rectangle 9"/>
          <p:cNvSpPr/>
          <p:nvPr/>
        </p:nvSpPr>
        <p:spPr>
          <a:xfrm>
            <a:off x="4200000" y="5620000"/>
            <a:ext cx="3800000" cy="400000"/>
          </a:xfrm>
          <a:prstGeom prst="roundRect">
            <a:avLst>
              <a:gd name="adj" fmla="val 50000"/>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Calibri"/>
              </a:rPr>
              <a:t>Land raw · validate on promotion</a:t>
            </a:r>
          </a:p>
        </p:txBody>
      </p:sp>
      <p:sp>
        <p:nvSpPr>
          <p:cNvPr id="11" name="TextBox 10"/>
          <p:cNvSpPr txBox="1"/>
          <p:nvPr/>
        </p:nvSpPr>
        <p:spPr>
          <a:xfrm>
            <a:off x="502920" y="6510528"/>
            <a:ext cx="4572000" cy="274320"/>
          </a:xfrm>
          <a:prstGeom prst="rect">
            <a:avLst/>
          </a:prstGeom>
          <a:noFill/>
        </p:spPr>
        <p:txBody>
          <a:bodyPr wrap="square" lIns="0" tIns="0" rIns="0" bIns="0">
            <a:spAutoFit/>
          </a:bodyPr>
          <a:lstStyle/>
          <a:p>
            <a:pPr>
              <a:spcAft>
                <a:spcPts val="0"/>
              </a:spcAft>
            </a:pPr>
            <a:r>
              <a:rPr sz="900" b="0">
                <a:solidFill>
                  <a:srgbClr val="9AA6C4"/>
                </a:solidFill>
                <a:latin typeface="Calibri"/>
              </a:rPr>
              <a:t>Data Engineering och Agila metoder · Week 4</a:t>
            </a:r>
          </a:p>
        </p:txBody>
      </p:sp>
      <p:sp>
        <p:nvSpPr>
          <p:cNvPr id="12" name="TextBox 11"/>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spcAft>
                <a:spcPts val="0"/>
              </a:spcAft>
            </a:pPr>
            <a:r>
              <a:rPr sz="1200" b="1">
                <a:solidFill>
                  <a:srgbClr val="F2994A"/>
                </a:solidFill>
                <a:latin typeface="Calibri"/>
              </a:rPr>
              <a:t>DATA QUALITY</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spcAft>
                <a:spcPts val="0"/>
              </a:spcAft>
            </a:pPr>
            <a:r>
              <a:rPr sz="2600" b="1">
                <a:solidFill>
                  <a:srgbClr val="1E2761"/>
                </a:solidFill>
                <a:latin typeface="Calibri"/>
              </a:rPr>
              <a:t>Tools you should be able to name</a:t>
            </a:r>
          </a:p>
        </p:txBody>
      </p:sp>
      <p:sp>
        <p:nvSpPr>
          <p:cNvPr id="4" name="TextBox 3"/>
          <p:cNvSpPr txBox="1"/>
          <p:nvPr/>
        </p:nvSpPr>
        <p:spPr>
          <a:xfrm>
            <a:off x="652920" y="1500000"/>
            <a:ext cx="2350000" cy="350000"/>
          </a:xfrm>
          <a:prstGeom prst="rect">
            <a:avLst/>
          </a:prstGeom>
          <a:noFill/>
        </p:spPr>
        <p:txBody>
          <a:bodyPr wrap="square" lIns="0" tIns="0" rIns="0" bIns="0">
            <a:spAutoFit/>
          </a:bodyPr>
          <a:lstStyle/>
          <a:p>
            <a:pPr>
              <a:spcAft>
                <a:spcPts val="0"/>
              </a:spcAft>
            </a:pPr>
            <a:r>
              <a:rPr sz="1300" b="1">
                <a:solidFill>
                  <a:srgbClr val="1E2761"/>
                </a:solidFill>
                <a:latin typeface="Calibri"/>
              </a:rPr>
              <a:t>Tool</a:t>
            </a:r>
          </a:p>
        </p:txBody>
      </p:sp>
      <p:sp>
        <p:nvSpPr>
          <p:cNvPr id="5" name="TextBox 4"/>
          <p:cNvSpPr txBox="1"/>
          <p:nvPr/>
        </p:nvSpPr>
        <p:spPr>
          <a:xfrm>
            <a:off x="3152920" y="1500000"/>
            <a:ext cx="3750000" cy="350000"/>
          </a:xfrm>
          <a:prstGeom prst="rect">
            <a:avLst/>
          </a:prstGeom>
          <a:noFill/>
        </p:spPr>
        <p:txBody>
          <a:bodyPr wrap="square" lIns="0" tIns="0" rIns="0" bIns="0">
            <a:spAutoFit/>
          </a:bodyPr>
          <a:lstStyle/>
          <a:p>
            <a:pPr>
              <a:spcAft>
                <a:spcPts val="0"/>
              </a:spcAft>
            </a:pPr>
            <a:r>
              <a:rPr sz="1300" b="1">
                <a:solidFill>
                  <a:srgbClr val="1E2761"/>
                </a:solidFill>
                <a:latin typeface="Calibri"/>
              </a:rPr>
              <a:t>What it is</a:t>
            </a:r>
          </a:p>
        </p:txBody>
      </p:sp>
      <p:sp>
        <p:nvSpPr>
          <p:cNvPr id="6" name="TextBox 5"/>
          <p:cNvSpPr txBox="1"/>
          <p:nvPr/>
        </p:nvSpPr>
        <p:spPr>
          <a:xfrm>
            <a:off x="7052920" y="1500000"/>
            <a:ext cx="4250000" cy="350000"/>
          </a:xfrm>
          <a:prstGeom prst="rect">
            <a:avLst/>
          </a:prstGeom>
          <a:noFill/>
        </p:spPr>
        <p:txBody>
          <a:bodyPr wrap="square" lIns="0" tIns="0" rIns="0" bIns="0">
            <a:spAutoFit/>
          </a:bodyPr>
          <a:lstStyle/>
          <a:p>
            <a:pPr>
              <a:spcAft>
                <a:spcPts val="0"/>
              </a:spcAft>
            </a:pPr>
            <a:r>
              <a:rPr sz="1300" b="1">
                <a:solidFill>
                  <a:srgbClr val="1E2761"/>
                </a:solidFill>
                <a:latin typeface="Calibri"/>
              </a:rPr>
              <a:t>For you</a:t>
            </a:r>
          </a:p>
        </p:txBody>
      </p:sp>
      <p:sp>
        <p:nvSpPr>
          <p:cNvPr id="7" name="Rounded Rectangle 6"/>
          <p:cNvSpPr/>
          <p:nvPr/>
        </p:nvSpPr>
        <p:spPr>
          <a:xfrm>
            <a:off x="502920" y="1950000"/>
            <a:ext cx="10800000" cy="85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52920" y="2100000"/>
            <a:ext cx="2250000" cy="550000"/>
          </a:xfrm>
          <a:prstGeom prst="rect">
            <a:avLst/>
          </a:prstGeom>
          <a:noFill/>
        </p:spPr>
        <p:txBody>
          <a:bodyPr wrap="square" lIns="0" tIns="0" rIns="0" bIns="0">
            <a:spAutoFit/>
          </a:bodyPr>
          <a:lstStyle/>
          <a:p>
            <a:pPr>
              <a:spcAft>
                <a:spcPts val="0"/>
              </a:spcAft>
            </a:pPr>
            <a:r>
              <a:rPr sz="1300" b="1">
                <a:solidFill>
                  <a:srgbClr val="1E2761"/>
                </a:solidFill>
                <a:latin typeface="Calibri"/>
              </a:rPr>
              <a:t>assert / raise</a:t>
            </a:r>
          </a:p>
        </p:txBody>
      </p:sp>
      <p:sp>
        <p:nvSpPr>
          <p:cNvPr id="9" name="TextBox 8"/>
          <p:cNvSpPr txBox="1"/>
          <p:nvPr/>
        </p:nvSpPr>
        <p:spPr>
          <a:xfrm>
            <a:off x="3152920" y="2100000"/>
            <a:ext cx="3650000" cy="550000"/>
          </a:xfrm>
          <a:prstGeom prst="rect">
            <a:avLst/>
          </a:prstGeom>
          <a:noFill/>
        </p:spPr>
        <p:txBody>
          <a:bodyPr wrap="square" lIns="0" tIns="0" rIns="0" bIns="0">
            <a:spAutoFit/>
          </a:bodyPr>
          <a:lstStyle/>
          <a:p>
            <a:pPr>
              <a:spcAft>
                <a:spcPts val="0"/>
              </a:spcAft>
            </a:pPr>
            <a:r>
              <a:rPr sz="1300" b="0">
                <a:solidFill>
                  <a:srgbClr val="44506B"/>
                </a:solidFill>
                <a:latin typeface="Calibri"/>
              </a:rPr>
              <a:t>Plain Python in your pipeline.</a:t>
            </a:r>
          </a:p>
        </p:txBody>
      </p:sp>
      <p:sp>
        <p:nvSpPr>
          <p:cNvPr id="10" name="TextBox 9"/>
          <p:cNvSpPr txBox="1"/>
          <p:nvPr/>
        </p:nvSpPr>
        <p:spPr>
          <a:xfrm>
            <a:off x="7052920" y="2100000"/>
            <a:ext cx="4150000" cy="550000"/>
          </a:xfrm>
          <a:prstGeom prst="rect">
            <a:avLst/>
          </a:prstGeom>
          <a:noFill/>
        </p:spPr>
        <p:txBody>
          <a:bodyPr wrap="square" lIns="0" tIns="0" rIns="0" bIns="0">
            <a:spAutoFit/>
          </a:bodyPr>
          <a:lstStyle/>
          <a:p>
            <a:pPr>
              <a:spcAft>
                <a:spcPts val="0"/>
              </a:spcAft>
            </a:pPr>
            <a:r>
              <a:rPr sz="1300" b="0">
                <a:solidFill>
                  <a:srgbClr val="44506B"/>
                </a:solidFill>
                <a:latin typeface="Calibri"/>
              </a:rPr>
              <a:t>Start here. Most teams need nothing else this course.</a:t>
            </a:r>
          </a:p>
        </p:txBody>
      </p:sp>
      <p:sp>
        <p:nvSpPr>
          <p:cNvPr id="11" name="Rounded Rectangle 10"/>
          <p:cNvSpPr/>
          <p:nvPr/>
        </p:nvSpPr>
        <p:spPr>
          <a:xfrm>
            <a:off x="502920" y="2900000"/>
            <a:ext cx="10800000" cy="85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52920" y="3050000"/>
            <a:ext cx="2250000" cy="550000"/>
          </a:xfrm>
          <a:prstGeom prst="rect">
            <a:avLst/>
          </a:prstGeom>
          <a:noFill/>
        </p:spPr>
        <p:txBody>
          <a:bodyPr wrap="square" lIns="0" tIns="0" rIns="0" bIns="0">
            <a:spAutoFit/>
          </a:bodyPr>
          <a:lstStyle/>
          <a:p>
            <a:pPr>
              <a:spcAft>
                <a:spcPts val="0"/>
              </a:spcAft>
            </a:pPr>
            <a:r>
              <a:rPr sz="1300" b="1">
                <a:solidFill>
                  <a:srgbClr val="1E2761"/>
                </a:solidFill>
                <a:latin typeface="Calibri"/>
              </a:rPr>
              <a:t>pytest</a:t>
            </a:r>
          </a:p>
        </p:txBody>
      </p:sp>
      <p:sp>
        <p:nvSpPr>
          <p:cNvPr id="13" name="TextBox 12"/>
          <p:cNvSpPr txBox="1"/>
          <p:nvPr/>
        </p:nvSpPr>
        <p:spPr>
          <a:xfrm>
            <a:off x="3152920" y="3050000"/>
            <a:ext cx="3650000" cy="550000"/>
          </a:xfrm>
          <a:prstGeom prst="rect">
            <a:avLst/>
          </a:prstGeom>
          <a:noFill/>
        </p:spPr>
        <p:txBody>
          <a:bodyPr wrap="square" lIns="0" tIns="0" rIns="0" bIns="0">
            <a:spAutoFit/>
          </a:bodyPr>
          <a:lstStyle/>
          <a:p>
            <a:pPr>
              <a:spcAft>
                <a:spcPts val="0"/>
              </a:spcAft>
            </a:pPr>
            <a:r>
              <a:rPr sz="1300" b="0">
                <a:solidFill>
                  <a:srgbClr val="44506B"/>
                </a:solidFill>
                <a:latin typeface="Calibri"/>
              </a:rPr>
              <a:t>You already have it.</a:t>
            </a:r>
          </a:p>
        </p:txBody>
      </p:sp>
      <p:sp>
        <p:nvSpPr>
          <p:cNvPr id="14" name="TextBox 13"/>
          <p:cNvSpPr txBox="1"/>
          <p:nvPr/>
        </p:nvSpPr>
        <p:spPr>
          <a:xfrm>
            <a:off x="7052920" y="3050000"/>
            <a:ext cx="4150000" cy="550000"/>
          </a:xfrm>
          <a:prstGeom prst="rect">
            <a:avLst/>
          </a:prstGeom>
          <a:noFill/>
        </p:spPr>
        <p:txBody>
          <a:bodyPr wrap="square" lIns="0" tIns="0" rIns="0" bIns="0">
            <a:spAutoFit/>
          </a:bodyPr>
          <a:lstStyle/>
          <a:p>
            <a:pPr>
              <a:spcAft>
                <a:spcPts val="0"/>
              </a:spcAft>
            </a:pPr>
            <a:r>
              <a:rPr sz="1300" b="0">
                <a:solidFill>
                  <a:srgbClr val="44506B"/>
                </a:solidFill>
                <a:latin typeface="Calibri"/>
              </a:rPr>
              <a:t>Test the validation logic itself, on small hand-built cases.</a:t>
            </a:r>
          </a:p>
        </p:txBody>
      </p:sp>
      <p:sp>
        <p:nvSpPr>
          <p:cNvPr id="15" name="Rounded Rectangle 14"/>
          <p:cNvSpPr/>
          <p:nvPr/>
        </p:nvSpPr>
        <p:spPr>
          <a:xfrm>
            <a:off x="502920" y="3850000"/>
            <a:ext cx="10800000" cy="85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52920" y="4000000"/>
            <a:ext cx="2250000" cy="550000"/>
          </a:xfrm>
          <a:prstGeom prst="rect">
            <a:avLst/>
          </a:prstGeom>
          <a:noFill/>
        </p:spPr>
        <p:txBody>
          <a:bodyPr wrap="square" lIns="0" tIns="0" rIns="0" bIns="0">
            <a:spAutoFit/>
          </a:bodyPr>
          <a:lstStyle/>
          <a:p>
            <a:pPr>
              <a:spcAft>
                <a:spcPts val="0"/>
              </a:spcAft>
            </a:pPr>
            <a:r>
              <a:rPr sz="1300" b="1">
                <a:solidFill>
                  <a:srgbClr val="1E2761"/>
                </a:solidFill>
                <a:latin typeface="Calibri"/>
              </a:rPr>
              <a:t>Pandera / Great Expectations</a:t>
            </a:r>
          </a:p>
        </p:txBody>
      </p:sp>
      <p:sp>
        <p:nvSpPr>
          <p:cNvPr id="17" name="TextBox 16"/>
          <p:cNvSpPr txBox="1"/>
          <p:nvPr/>
        </p:nvSpPr>
        <p:spPr>
          <a:xfrm>
            <a:off x="3152920" y="4000000"/>
            <a:ext cx="3650000" cy="550000"/>
          </a:xfrm>
          <a:prstGeom prst="rect">
            <a:avLst/>
          </a:prstGeom>
          <a:noFill/>
        </p:spPr>
        <p:txBody>
          <a:bodyPr wrap="square" lIns="0" tIns="0" rIns="0" bIns="0">
            <a:spAutoFit/>
          </a:bodyPr>
          <a:lstStyle/>
          <a:p>
            <a:pPr>
              <a:spcAft>
                <a:spcPts val="0"/>
              </a:spcAft>
            </a:pPr>
            <a:r>
              <a:rPr sz="1300" b="0">
                <a:solidFill>
                  <a:srgbClr val="44506B"/>
                </a:solidFill>
                <a:latin typeface="Calibri"/>
              </a:rPr>
              <a:t>Declarative schema and expectation frameworks.</a:t>
            </a:r>
          </a:p>
        </p:txBody>
      </p:sp>
      <p:sp>
        <p:nvSpPr>
          <p:cNvPr id="18" name="TextBox 17"/>
          <p:cNvSpPr txBox="1"/>
          <p:nvPr/>
        </p:nvSpPr>
        <p:spPr>
          <a:xfrm>
            <a:off x="7052920" y="4000000"/>
            <a:ext cx="4150000" cy="550000"/>
          </a:xfrm>
          <a:prstGeom prst="rect">
            <a:avLst/>
          </a:prstGeom>
          <a:noFill/>
        </p:spPr>
        <p:txBody>
          <a:bodyPr wrap="square" lIns="0" tIns="0" rIns="0" bIns="0">
            <a:spAutoFit/>
          </a:bodyPr>
          <a:lstStyle/>
          <a:p>
            <a:pPr>
              <a:spcAft>
                <a:spcPts val="0"/>
              </a:spcAft>
            </a:pPr>
            <a:r>
              <a:rPr sz="1300" b="0">
                <a:solidFill>
                  <a:srgbClr val="44506B"/>
                </a:solidFill>
                <a:latin typeface="Calibri"/>
              </a:rPr>
              <a:t>Worth knowing they exist. More setup than they save at your size.</a:t>
            </a:r>
          </a:p>
        </p:txBody>
      </p:sp>
      <p:sp>
        <p:nvSpPr>
          <p:cNvPr id="19" name="Rounded Rectangle 18"/>
          <p:cNvSpPr/>
          <p:nvPr/>
        </p:nvSpPr>
        <p:spPr>
          <a:xfrm>
            <a:off x="502920" y="4800000"/>
            <a:ext cx="10800000" cy="85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52920" y="4950000"/>
            <a:ext cx="2250000" cy="550000"/>
          </a:xfrm>
          <a:prstGeom prst="rect">
            <a:avLst/>
          </a:prstGeom>
          <a:noFill/>
        </p:spPr>
        <p:txBody>
          <a:bodyPr wrap="square" lIns="0" tIns="0" rIns="0" bIns="0">
            <a:spAutoFit/>
          </a:bodyPr>
          <a:lstStyle/>
          <a:p>
            <a:pPr>
              <a:spcAft>
                <a:spcPts val="0"/>
              </a:spcAft>
            </a:pPr>
            <a:r>
              <a:rPr sz="1300" b="1">
                <a:solidFill>
                  <a:srgbClr val="1E2761"/>
                </a:solidFill>
                <a:latin typeface="Calibri"/>
              </a:rPr>
              <a:t>dbt tests</a:t>
            </a:r>
          </a:p>
        </p:txBody>
      </p:sp>
      <p:sp>
        <p:nvSpPr>
          <p:cNvPr id="21" name="TextBox 20"/>
          <p:cNvSpPr txBox="1"/>
          <p:nvPr/>
        </p:nvSpPr>
        <p:spPr>
          <a:xfrm>
            <a:off x="3152920" y="4950000"/>
            <a:ext cx="3650000" cy="550000"/>
          </a:xfrm>
          <a:prstGeom prst="rect">
            <a:avLst/>
          </a:prstGeom>
          <a:noFill/>
        </p:spPr>
        <p:txBody>
          <a:bodyPr wrap="square" lIns="0" tIns="0" rIns="0" bIns="0">
            <a:spAutoFit/>
          </a:bodyPr>
          <a:lstStyle/>
          <a:p>
            <a:pPr>
              <a:spcAft>
                <a:spcPts val="0"/>
              </a:spcAft>
            </a:pPr>
            <a:r>
              <a:rPr sz="1300" b="0">
                <a:solidFill>
                  <a:srgbClr val="44506B"/>
                </a:solidFill>
                <a:latin typeface="Calibri"/>
              </a:rPr>
              <a:t>Assertions attached to SQL models.</a:t>
            </a:r>
          </a:p>
        </p:txBody>
      </p:sp>
      <p:sp>
        <p:nvSpPr>
          <p:cNvPr id="22" name="TextBox 21"/>
          <p:cNvSpPr txBox="1"/>
          <p:nvPr/>
        </p:nvSpPr>
        <p:spPr>
          <a:xfrm>
            <a:off x="7052920" y="4950000"/>
            <a:ext cx="4150000" cy="200055"/>
          </a:xfrm>
          <a:prstGeom prst="rect">
            <a:avLst/>
          </a:prstGeom>
          <a:noFill/>
        </p:spPr>
        <p:txBody>
          <a:bodyPr wrap="square" lIns="0" tIns="0" rIns="0" bIns="0">
            <a:spAutoFit/>
          </a:bodyPr>
          <a:lstStyle/>
          <a:p>
            <a:pPr>
              <a:spcAft>
                <a:spcPts val="0"/>
              </a:spcAft>
            </a:pPr>
            <a:r>
              <a:rPr lang="sv-SE" sz="1300" dirty="0" err="1">
                <a:solidFill>
                  <a:srgbClr val="44506B"/>
                </a:solidFill>
                <a:latin typeface="Calibri"/>
              </a:rPr>
              <a:t>More</a:t>
            </a:r>
            <a:r>
              <a:rPr lang="sv-SE" sz="1300" dirty="0">
                <a:solidFill>
                  <a:srgbClr val="44506B"/>
                </a:solidFill>
                <a:latin typeface="Calibri"/>
              </a:rPr>
              <a:t> in w</a:t>
            </a:r>
            <a:r>
              <a:rPr sz="1300" b="0" dirty="0">
                <a:solidFill>
                  <a:srgbClr val="44506B"/>
                </a:solidFill>
                <a:latin typeface="Calibri"/>
              </a:rPr>
              <a:t>eek 8.</a:t>
            </a:r>
          </a:p>
        </p:txBody>
      </p:sp>
      <p:sp>
        <p:nvSpPr>
          <p:cNvPr id="23" name="TextBox 22"/>
          <p:cNvSpPr txBox="1"/>
          <p:nvPr/>
        </p:nvSpPr>
        <p:spPr>
          <a:xfrm>
            <a:off x="502920" y="5870000"/>
            <a:ext cx="10800000" cy="500000"/>
          </a:xfrm>
          <a:prstGeom prst="rect">
            <a:avLst/>
          </a:prstGeom>
          <a:noFill/>
        </p:spPr>
        <p:txBody>
          <a:bodyPr wrap="square" lIns="0" tIns="0" rIns="0" bIns="0">
            <a:spAutoFit/>
          </a:bodyPr>
          <a:lstStyle/>
          <a:p>
            <a:pPr>
              <a:spcAft>
                <a:spcPts val="0"/>
              </a:spcAft>
            </a:pPr>
            <a:r>
              <a:rPr sz="1300" b="1">
                <a:solidFill>
                  <a:srgbClr val="1E2761"/>
                </a:solidFill>
                <a:latin typeface="Calibri"/>
              </a:rPr>
              <a:t>A rule you wrote and understand beats a framework you configured and don't.</a:t>
            </a:r>
          </a:p>
        </p:txBody>
      </p:sp>
      <p:sp>
        <p:nvSpPr>
          <p:cNvPr id="24" name="TextBox 23"/>
          <p:cNvSpPr txBox="1"/>
          <p:nvPr/>
        </p:nvSpPr>
        <p:spPr>
          <a:xfrm>
            <a:off x="502920" y="6510528"/>
            <a:ext cx="4572000" cy="274320"/>
          </a:xfrm>
          <a:prstGeom prst="rect">
            <a:avLst/>
          </a:prstGeom>
          <a:noFill/>
        </p:spPr>
        <p:txBody>
          <a:bodyPr wrap="square" lIns="0" tIns="0" rIns="0" bIns="0">
            <a:spAutoFit/>
          </a:bodyPr>
          <a:lstStyle/>
          <a:p>
            <a:pPr>
              <a:spcAft>
                <a:spcPts val="0"/>
              </a:spcAft>
            </a:pPr>
            <a:r>
              <a:rPr sz="900" b="0">
                <a:solidFill>
                  <a:srgbClr val="9AA6C4"/>
                </a:solidFill>
                <a:latin typeface="Calibri"/>
              </a:rPr>
              <a:t>Data Engineering och Agila metoder · Week 4</a:t>
            </a:r>
          </a:p>
        </p:txBody>
      </p:sp>
      <p:sp>
        <p:nvSpPr>
          <p:cNvPr id="25" name="TextBox 24"/>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640080" y="3200000"/>
            <a:ext cx="10000000" cy="1000000"/>
          </a:xfrm>
          <a:prstGeom prst="rect">
            <a:avLst/>
          </a:prstGeom>
          <a:noFill/>
        </p:spPr>
        <p:txBody>
          <a:bodyPr wrap="square" lIns="0" tIns="0" rIns="0" bIns="0">
            <a:spAutoFit/>
          </a:bodyPr>
          <a:lstStyle/>
          <a:p>
            <a:pPr>
              <a:spcAft>
                <a:spcPts val="0"/>
              </a:spcAft>
            </a:pPr>
            <a:r>
              <a:rPr sz="3400" b="1">
                <a:solidFill>
                  <a:srgbClr val="FFFFFF"/>
                </a:solidFill>
                <a:latin typeface="Calibri"/>
              </a:rPr>
              <a:t>Part 2 — GitHub Actions</a:t>
            </a:r>
          </a:p>
        </p:txBody>
      </p:sp>
      <p:sp>
        <p:nvSpPr>
          <p:cNvPr id="3" name="TextBox 2"/>
          <p:cNvSpPr txBox="1"/>
          <p:nvPr/>
        </p:nvSpPr>
        <p:spPr>
          <a:xfrm>
            <a:off x="640080" y="4250000"/>
            <a:ext cx="9500000" cy="900000"/>
          </a:xfrm>
          <a:prstGeom prst="rect">
            <a:avLst/>
          </a:prstGeom>
          <a:noFill/>
        </p:spPr>
        <p:txBody>
          <a:bodyPr wrap="square" lIns="0" tIns="0" rIns="0" bIns="0">
            <a:spAutoFit/>
          </a:bodyPr>
          <a:lstStyle/>
          <a:p>
            <a:pPr>
              <a:spcAft>
                <a:spcPts val="0"/>
              </a:spcAft>
            </a:pPr>
            <a:r>
              <a:rPr sz="1500" b="0">
                <a:solidFill>
                  <a:srgbClr val="CADCFC"/>
                </a:solidFill>
                <a:latin typeface="Calibri"/>
              </a:rPr>
              <a:t>What it is, what a runner actually does, and a workflow built one line at a time.</a:t>
            </a:r>
          </a:p>
        </p:txBody>
      </p:sp>
      <p:sp>
        <p:nvSpPr>
          <p:cNvPr id="4" name="TextBox 3"/>
          <p:cNvSpPr txBox="1"/>
          <p:nvPr/>
        </p:nvSpPr>
        <p:spPr>
          <a:xfrm>
            <a:off x="502920" y="6510528"/>
            <a:ext cx="4572000" cy="274320"/>
          </a:xfrm>
          <a:prstGeom prst="rect">
            <a:avLst/>
          </a:prstGeom>
          <a:noFill/>
        </p:spPr>
        <p:txBody>
          <a:bodyPr wrap="square" lIns="0" tIns="0" rIns="0" bIns="0">
            <a:spAutoFit/>
          </a:bodyPr>
          <a:lstStyle/>
          <a:p>
            <a:pPr>
              <a:spcAft>
                <a:spcPts val="0"/>
              </a:spcAft>
            </a:pPr>
            <a:r>
              <a:rPr sz="900" b="0">
                <a:solidFill>
                  <a:srgbClr val="9AA6C4"/>
                </a:solidFill>
                <a:latin typeface="Calibri"/>
              </a:rPr>
              <a:t>Data Engineering och Agila metoder · Week 4</a:t>
            </a:r>
          </a:p>
        </p:txBody>
      </p:sp>
      <p:sp>
        <p:nvSpPr>
          <p:cNvPr id="5" name="TextBox 4"/>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spcAft>
                <a:spcPts val="0"/>
              </a:spcAft>
            </a:pPr>
            <a:r>
              <a:rPr sz="1200" b="1">
                <a:solidFill>
                  <a:srgbClr val="F2994A"/>
                </a:solidFill>
                <a:latin typeface="Calibri"/>
              </a:rPr>
              <a:t>GITHUB ACTIONS</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spcAft>
                <a:spcPts val="0"/>
              </a:spcAft>
            </a:pPr>
            <a:r>
              <a:rPr sz="2600" b="1">
                <a:solidFill>
                  <a:srgbClr val="1E2761"/>
                </a:solidFill>
                <a:latin typeface="Calibri"/>
              </a:rPr>
              <a:t>The mental model</a:t>
            </a:r>
          </a:p>
        </p:txBody>
      </p:sp>
      <p:sp>
        <p:nvSpPr>
          <p:cNvPr id="4" name="TextBox 3"/>
          <p:cNvSpPr txBox="1"/>
          <p:nvPr/>
        </p:nvSpPr>
        <p:spPr>
          <a:xfrm>
            <a:off x="502920" y="1500000"/>
            <a:ext cx="10800000" cy="4200000"/>
          </a:xfrm>
          <a:prstGeom prst="rect">
            <a:avLst/>
          </a:prstGeom>
          <a:noFill/>
        </p:spPr>
        <p:txBody>
          <a:bodyPr wrap="square" lIns="0" tIns="0" rIns="0" bIns="0">
            <a:spAutoFit/>
          </a:bodyPr>
          <a:lstStyle/>
          <a:p>
            <a:pPr>
              <a:lnSpc>
                <a:spcPct val="115000"/>
              </a:lnSpc>
              <a:spcAft>
                <a:spcPts val="1000"/>
              </a:spcAft>
            </a:pPr>
            <a:r>
              <a:rPr sz="1500" b="1">
                <a:solidFill>
                  <a:srgbClr val="44506B"/>
                </a:solidFill>
                <a:latin typeface="Calibri"/>
              </a:rPr>
              <a:t>•  A workflow is a YAML file in .github/workflows/.</a:t>
            </a:r>
            <a:r>
              <a:rPr sz="1500">
                <a:solidFill>
                  <a:srgbClr val="44506B"/>
                </a:solidFill>
                <a:latin typeface="Calibri"/>
              </a:rPr>
              <a:t>  Commit it and GitHub starts watching for the trigger you named.</a:t>
            </a:r>
          </a:p>
          <a:p>
            <a:pPr>
              <a:lnSpc>
                <a:spcPct val="115000"/>
              </a:lnSpc>
              <a:spcAft>
                <a:spcPts val="1000"/>
              </a:spcAft>
            </a:pPr>
            <a:r>
              <a:rPr sz="1500" b="1">
                <a:solidFill>
                  <a:srgbClr val="44506B"/>
                </a:solidFill>
                <a:latin typeface="Calibri"/>
              </a:rPr>
              <a:t>•  When it triggers, GitHub gives you a computer.</a:t>
            </a:r>
            <a:r>
              <a:rPr sz="1500">
                <a:solidFill>
                  <a:srgbClr val="44506B"/>
                </a:solidFill>
                <a:latin typeface="Calibri"/>
              </a:rPr>
              <a:t>  A fresh virtual machine — ubuntu-latest is the usual one. Yours alone, for this run.</a:t>
            </a:r>
          </a:p>
          <a:p>
            <a:pPr>
              <a:lnSpc>
                <a:spcPct val="115000"/>
              </a:lnSpc>
              <a:spcAft>
                <a:spcPts val="1000"/>
              </a:spcAft>
            </a:pPr>
            <a:r>
              <a:rPr sz="1500" b="1">
                <a:solidFill>
                  <a:srgbClr val="44506B"/>
                </a:solidFill>
                <a:latin typeface="Calibri"/>
              </a:rPr>
              <a:t>•  It runs your steps, in order, on that machine.</a:t>
            </a:r>
            <a:r>
              <a:rPr sz="1500">
                <a:solidFill>
                  <a:srgbClr val="44506B"/>
                </a:solidFill>
                <a:latin typeface="Calibri"/>
              </a:rPr>
              <a:t>  A step is either a shell command (run:) or a prebuilt action someone else wrote (uses:).</a:t>
            </a:r>
          </a:p>
          <a:p>
            <a:pPr>
              <a:lnSpc>
                <a:spcPct val="115000"/>
              </a:lnSpc>
              <a:spcAft>
                <a:spcPts val="1000"/>
              </a:spcAft>
            </a:pPr>
            <a:r>
              <a:rPr sz="1500" b="1">
                <a:solidFill>
                  <a:srgbClr val="44506B"/>
                </a:solidFill>
                <a:latin typeface="Calibri"/>
              </a:rPr>
              <a:t>•  Then it destroys the machine.</a:t>
            </a:r>
            <a:r>
              <a:rPr sz="1500">
                <a:solidFill>
                  <a:srgbClr val="44506B"/>
                </a:solidFill>
                <a:latin typeface="Calibri"/>
              </a:rPr>
              <a:t>  Nothing survives. Not your files, not your installed packages, not anything you wrote to disk.</a:t>
            </a:r>
          </a:p>
          <a:p>
            <a:pPr>
              <a:lnSpc>
                <a:spcPct val="115000"/>
              </a:lnSpc>
              <a:spcAft>
                <a:spcPts val="1000"/>
              </a:spcAft>
            </a:pPr>
            <a:r>
              <a:rPr sz="1500" b="1">
                <a:solidFill>
                  <a:srgbClr val="44506B"/>
                </a:solidFill>
                <a:latin typeface="Calibri"/>
              </a:rPr>
              <a:t>•  So the machine starts empty. Every time.</a:t>
            </a:r>
            <a:r>
              <a:rPr sz="1500">
                <a:solidFill>
                  <a:srgbClr val="44506B"/>
                </a:solidFill>
                <a:latin typeface="Calibri"/>
              </a:rPr>
              <a:t>  Which explains every line of the file we are about to build.</a:t>
            </a:r>
          </a:p>
        </p:txBody>
      </p:sp>
      <p:sp>
        <p:nvSpPr>
          <p:cNvPr id="5" name="TextBox 4"/>
          <p:cNvSpPr txBox="1"/>
          <p:nvPr/>
        </p:nvSpPr>
        <p:spPr>
          <a:xfrm>
            <a:off x="502920" y="5900000"/>
            <a:ext cx="10800000" cy="400000"/>
          </a:xfrm>
          <a:prstGeom prst="rect">
            <a:avLst/>
          </a:prstGeom>
          <a:noFill/>
        </p:spPr>
        <p:txBody>
          <a:bodyPr wrap="square" lIns="0" tIns="0" rIns="0" bIns="0">
            <a:spAutoFit/>
          </a:bodyPr>
          <a:lstStyle/>
          <a:p>
            <a:pPr>
              <a:spcAft>
                <a:spcPts val="0"/>
              </a:spcAft>
            </a:pPr>
            <a:r>
              <a:rPr sz="1300" b="1">
                <a:solidFill>
                  <a:srgbClr val="1E2761"/>
                </a:solidFill>
                <a:latin typeface="Calibri"/>
              </a:rPr>
              <a:t>It is a robot that clones your repo onto a blank computer, runs your commands, and burns the computer.</a:t>
            </a:r>
          </a:p>
        </p:txBody>
      </p:sp>
      <p:sp>
        <p:nvSpPr>
          <p:cNvPr id="6" name="TextBox 5"/>
          <p:cNvSpPr txBox="1"/>
          <p:nvPr/>
        </p:nvSpPr>
        <p:spPr>
          <a:xfrm>
            <a:off x="502920" y="6510528"/>
            <a:ext cx="4572000" cy="274320"/>
          </a:xfrm>
          <a:prstGeom prst="rect">
            <a:avLst/>
          </a:prstGeom>
          <a:noFill/>
        </p:spPr>
        <p:txBody>
          <a:bodyPr wrap="square" lIns="0" tIns="0" rIns="0" bIns="0">
            <a:spAutoFit/>
          </a:bodyPr>
          <a:lstStyle/>
          <a:p>
            <a:pPr>
              <a:spcAft>
                <a:spcPts val="0"/>
              </a:spcAft>
            </a:pPr>
            <a:r>
              <a:rPr sz="900" b="0">
                <a:solidFill>
                  <a:srgbClr val="9AA6C4"/>
                </a:solidFill>
                <a:latin typeface="Calibri"/>
              </a:rPr>
              <a:t>Data Engineering och Agila metoder · Week 4</a:t>
            </a:r>
          </a:p>
        </p:txBody>
      </p:sp>
      <p:sp>
        <p:nvSpPr>
          <p:cNvPr id="7" name="TextBox 6"/>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spcAft>
                <a:spcPts val="0"/>
              </a:spcAft>
            </a:pPr>
            <a:r>
              <a:rPr sz="1200" b="1">
                <a:solidFill>
                  <a:srgbClr val="F2994A"/>
                </a:solidFill>
                <a:latin typeface="Calibri"/>
              </a:rPr>
              <a:t>GITHUB ACTIONS</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spcAft>
                <a:spcPts val="0"/>
              </a:spcAft>
            </a:pPr>
            <a:r>
              <a:rPr sz="2600" b="1">
                <a:solidFill>
                  <a:srgbClr val="1E2761"/>
                </a:solidFill>
                <a:latin typeface="Calibri"/>
              </a:rPr>
              <a:t>1. The smallest workflow that works</a:t>
            </a:r>
          </a:p>
        </p:txBody>
      </p:sp>
      <p:sp>
        <p:nvSpPr>
          <p:cNvPr id="4" name="Rounded Rectangle 3"/>
          <p:cNvSpPr/>
          <p:nvPr/>
        </p:nvSpPr>
        <p:spPr>
          <a:xfrm>
            <a:off x="502920" y="1450000"/>
            <a:ext cx="10800000" cy="342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00000" y="1580000"/>
            <a:ext cx="10400000" cy="350000"/>
          </a:xfrm>
          <a:prstGeom prst="rect">
            <a:avLst/>
          </a:prstGeom>
          <a:noFill/>
        </p:spPr>
        <p:txBody>
          <a:bodyPr wrap="square" lIns="0" tIns="0" rIns="0" bIns="0">
            <a:spAutoFit/>
          </a:bodyPr>
          <a:lstStyle/>
          <a:p>
            <a:pPr>
              <a:spcAft>
                <a:spcPts val="0"/>
              </a:spcAft>
            </a:pPr>
            <a:r>
              <a:rPr sz="1400" b="1">
                <a:solidFill>
                  <a:srgbClr val="1E2761"/>
                </a:solidFill>
                <a:latin typeface="Calibri"/>
              </a:rPr>
              <a:t>.github/workflows/hello.yml</a:t>
            </a:r>
          </a:p>
        </p:txBody>
      </p:sp>
      <p:sp>
        <p:nvSpPr>
          <p:cNvPr id="6" name="TextBox 5"/>
          <p:cNvSpPr txBox="1"/>
          <p:nvPr/>
        </p:nvSpPr>
        <p:spPr>
          <a:xfrm>
            <a:off x="700000" y="1930000"/>
            <a:ext cx="10400000" cy="2900000"/>
          </a:xfrm>
          <a:prstGeom prst="rect">
            <a:avLst/>
          </a:prstGeom>
          <a:noFill/>
        </p:spPr>
        <p:txBody>
          <a:bodyPr wrap="square" lIns="0" tIns="0" rIns="0" bIns="0">
            <a:spAutoFit/>
          </a:bodyPr>
          <a:lstStyle/>
          <a:p>
            <a:pPr>
              <a:spcAft>
                <a:spcPts val="200"/>
              </a:spcAft>
            </a:pPr>
            <a:r>
              <a:rPr sz="1400">
                <a:solidFill>
                  <a:srgbClr val="44506B"/>
                </a:solidFill>
                <a:latin typeface="Consolas"/>
              </a:rPr>
              <a:t>name: hello</a:t>
            </a:r>
          </a:p>
          <a:p>
            <a:pPr>
              <a:spcAft>
                <a:spcPts val="200"/>
              </a:spcAft>
            </a:pPr>
            <a:endParaRPr sz="1400">
              <a:solidFill>
                <a:srgbClr val="44506B"/>
              </a:solidFill>
              <a:latin typeface="Consolas"/>
            </a:endParaRPr>
          </a:p>
          <a:p>
            <a:pPr>
              <a:spcAft>
                <a:spcPts val="200"/>
              </a:spcAft>
            </a:pPr>
            <a:r>
              <a:rPr sz="1400">
                <a:solidFill>
                  <a:srgbClr val="44506B"/>
                </a:solidFill>
                <a:latin typeface="Consolas"/>
              </a:rPr>
              <a:t>on:</a:t>
            </a:r>
          </a:p>
          <a:p>
            <a:pPr>
              <a:spcAft>
                <a:spcPts val="200"/>
              </a:spcAft>
            </a:pPr>
            <a:r>
              <a:rPr sz="1400">
                <a:solidFill>
                  <a:srgbClr val="44506B"/>
                </a:solidFill>
                <a:latin typeface="Consolas"/>
              </a:rPr>
              <a:t>  workflow_dispatch:        # a Run button in the Actions tab</a:t>
            </a:r>
          </a:p>
          <a:p>
            <a:pPr>
              <a:spcAft>
                <a:spcPts val="200"/>
              </a:spcAft>
            </a:pPr>
            <a:endParaRPr sz="1400">
              <a:solidFill>
                <a:srgbClr val="44506B"/>
              </a:solidFill>
              <a:latin typeface="Consolas"/>
            </a:endParaRPr>
          </a:p>
          <a:p>
            <a:pPr>
              <a:spcAft>
                <a:spcPts val="200"/>
              </a:spcAft>
            </a:pPr>
            <a:r>
              <a:rPr sz="1400">
                <a:solidFill>
                  <a:srgbClr val="44506B"/>
                </a:solidFill>
                <a:latin typeface="Consolas"/>
              </a:rPr>
              <a:t>jobs:</a:t>
            </a:r>
          </a:p>
          <a:p>
            <a:pPr>
              <a:spcAft>
                <a:spcPts val="200"/>
              </a:spcAft>
            </a:pPr>
            <a:r>
              <a:rPr sz="1400">
                <a:solidFill>
                  <a:srgbClr val="44506B"/>
                </a:solidFill>
                <a:latin typeface="Consolas"/>
              </a:rPr>
              <a:t>  say-hi:</a:t>
            </a:r>
          </a:p>
          <a:p>
            <a:pPr>
              <a:spcAft>
                <a:spcPts val="200"/>
              </a:spcAft>
            </a:pPr>
            <a:r>
              <a:rPr sz="1400">
                <a:solidFill>
                  <a:srgbClr val="44506B"/>
                </a:solidFill>
                <a:latin typeface="Consolas"/>
              </a:rPr>
              <a:t>    runs-on: ubuntu-latest</a:t>
            </a:r>
          </a:p>
          <a:p>
            <a:pPr>
              <a:spcAft>
                <a:spcPts val="200"/>
              </a:spcAft>
            </a:pPr>
            <a:r>
              <a:rPr sz="1400">
                <a:solidFill>
                  <a:srgbClr val="44506B"/>
                </a:solidFill>
                <a:latin typeface="Consolas"/>
              </a:rPr>
              <a:t>    steps:</a:t>
            </a:r>
          </a:p>
          <a:p>
            <a:pPr>
              <a:spcAft>
                <a:spcPts val="200"/>
              </a:spcAft>
            </a:pPr>
            <a:r>
              <a:rPr sz="1400">
                <a:solidFill>
                  <a:srgbClr val="44506B"/>
                </a:solidFill>
                <a:latin typeface="Consolas"/>
              </a:rPr>
              <a:t>      - run: echo "hello from a machine that did not exist a moment ago"</a:t>
            </a:r>
          </a:p>
        </p:txBody>
      </p:sp>
      <p:sp>
        <p:nvSpPr>
          <p:cNvPr id="7" name="TextBox 6"/>
          <p:cNvSpPr txBox="1"/>
          <p:nvPr/>
        </p:nvSpPr>
        <p:spPr>
          <a:xfrm>
            <a:off x="502920" y="5130000"/>
            <a:ext cx="10800000" cy="600000"/>
          </a:xfrm>
          <a:prstGeom prst="rect">
            <a:avLst/>
          </a:prstGeom>
          <a:noFill/>
        </p:spPr>
        <p:txBody>
          <a:bodyPr wrap="square" lIns="0" tIns="0" rIns="0" bIns="0">
            <a:spAutoFit/>
          </a:bodyPr>
          <a:lstStyle/>
          <a:p>
            <a:pPr>
              <a:spcAft>
                <a:spcPts val="0"/>
              </a:spcAft>
            </a:pPr>
            <a:r>
              <a:rPr sz="1300" b="1">
                <a:solidFill>
                  <a:srgbClr val="1E2761"/>
                </a:solidFill>
                <a:latin typeface="Calibri"/>
              </a:rPr>
              <a:t>That is a complete, working workflow. Commit it, open the Actions tab, press Run.</a:t>
            </a:r>
          </a:p>
        </p:txBody>
      </p:sp>
      <p:sp>
        <p:nvSpPr>
          <p:cNvPr id="8" name="TextBox 7"/>
          <p:cNvSpPr txBox="1"/>
          <p:nvPr/>
        </p:nvSpPr>
        <p:spPr>
          <a:xfrm>
            <a:off x="502920" y="6510528"/>
            <a:ext cx="4572000" cy="274320"/>
          </a:xfrm>
          <a:prstGeom prst="rect">
            <a:avLst/>
          </a:prstGeom>
          <a:noFill/>
        </p:spPr>
        <p:txBody>
          <a:bodyPr wrap="square" lIns="0" tIns="0" rIns="0" bIns="0">
            <a:spAutoFit/>
          </a:bodyPr>
          <a:lstStyle/>
          <a:p>
            <a:pPr>
              <a:spcAft>
                <a:spcPts val="0"/>
              </a:spcAft>
            </a:pPr>
            <a:r>
              <a:rPr sz="900" b="0">
                <a:solidFill>
                  <a:srgbClr val="9AA6C4"/>
                </a:solidFill>
                <a:latin typeface="Calibri"/>
              </a:rPr>
              <a:t>Data Engineering och Agila metoder · Week 4</a:t>
            </a:r>
          </a:p>
        </p:txBody>
      </p:sp>
      <p:sp>
        <p:nvSpPr>
          <p:cNvPr id="9" name="TextBox 8"/>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spcAft>
                <a:spcPts val="0"/>
              </a:spcAft>
            </a:pPr>
            <a:r>
              <a:rPr sz="1200" b="1">
                <a:solidFill>
                  <a:srgbClr val="F2994A"/>
                </a:solidFill>
                <a:latin typeface="Calibri"/>
              </a:rPr>
              <a:t>GITHUB ACTIONS</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spcAft>
                <a:spcPts val="0"/>
              </a:spcAft>
            </a:pPr>
            <a:r>
              <a:rPr sz="2600" b="1">
                <a:solidFill>
                  <a:srgbClr val="1E2761"/>
                </a:solidFill>
                <a:latin typeface="Calibri"/>
              </a:rPr>
              <a:t>2. The machine is empty, so fetch what you need</a:t>
            </a:r>
          </a:p>
        </p:txBody>
      </p:sp>
      <p:sp>
        <p:nvSpPr>
          <p:cNvPr id="4" name="Rounded Rectangle 3"/>
          <p:cNvSpPr/>
          <p:nvPr/>
        </p:nvSpPr>
        <p:spPr>
          <a:xfrm>
            <a:off x="502920" y="1450000"/>
            <a:ext cx="10800000" cy="162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00000" y="1580000"/>
            <a:ext cx="10400000" cy="350000"/>
          </a:xfrm>
          <a:prstGeom prst="rect">
            <a:avLst/>
          </a:prstGeom>
          <a:noFill/>
        </p:spPr>
        <p:txBody>
          <a:bodyPr wrap="square" lIns="0" tIns="0" rIns="0" bIns="0">
            <a:spAutoFit/>
          </a:bodyPr>
          <a:lstStyle/>
          <a:p>
            <a:pPr>
              <a:spcAft>
                <a:spcPts val="0"/>
              </a:spcAft>
            </a:pPr>
            <a:r>
              <a:rPr sz="1400" b="1">
                <a:solidFill>
                  <a:srgbClr val="1E2761"/>
                </a:solidFill>
                <a:latin typeface="Calibri"/>
              </a:rPr>
              <a:t>Your own repository is not there by default</a:t>
            </a:r>
          </a:p>
        </p:txBody>
      </p:sp>
      <p:sp>
        <p:nvSpPr>
          <p:cNvPr id="6" name="TextBox 5"/>
          <p:cNvSpPr txBox="1"/>
          <p:nvPr/>
        </p:nvSpPr>
        <p:spPr>
          <a:xfrm>
            <a:off x="700000" y="1930000"/>
            <a:ext cx="10400000" cy="1100000"/>
          </a:xfrm>
          <a:prstGeom prst="rect">
            <a:avLst/>
          </a:prstGeom>
          <a:noFill/>
        </p:spPr>
        <p:txBody>
          <a:bodyPr wrap="square" lIns="0" tIns="0" rIns="0" bIns="0">
            <a:spAutoFit/>
          </a:bodyPr>
          <a:lstStyle/>
          <a:p>
            <a:pPr>
              <a:spcAft>
                <a:spcPts val="200"/>
              </a:spcAft>
            </a:pPr>
            <a:r>
              <a:rPr sz="1400">
                <a:solidFill>
                  <a:srgbClr val="44506B"/>
                </a:solidFill>
                <a:latin typeface="Consolas"/>
              </a:rPr>
              <a:t>    steps:</a:t>
            </a:r>
          </a:p>
          <a:p>
            <a:pPr>
              <a:spcAft>
                <a:spcPts val="200"/>
              </a:spcAft>
            </a:pPr>
            <a:r>
              <a:rPr sz="1400">
                <a:solidFill>
                  <a:srgbClr val="44506B"/>
                </a:solidFill>
                <a:latin typeface="Consolas"/>
              </a:rPr>
              <a:t>      - uses: actions/checkout@v4          # now your repo exists</a:t>
            </a:r>
          </a:p>
          <a:p>
            <a:pPr>
              <a:spcAft>
                <a:spcPts val="200"/>
              </a:spcAft>
            </a:pPr>
            <a:r>
              <a:rPr sz="1400">
                <a:solidFill>
                  <a:srgbClr val="44506B"/>
                </a:solidFill>
                <a:latin typeface="Consolas"/>
              </a:rPr>
              <a:t>      - uses: astral-sh/setup-uv@v7        # nor is uv, or your packages</a:t>
            </a:r>
          </a:p>
          <a:p>
            <a:pPr>
              <a:spcAft>
                <a:spcPts val="200"/>
              </a:spcAft>
            </a:pPr>
            <a:r>
              <a:rPr sz="1400">
                <a:solidFill>
                  <a:srgbClr val="44506B"/>
                </a:solidFill>
                <a:latin typeface="Consolas"/>
              </a:rPr>
              <a:t>      - run: uv run python daily_ingest.py</a:t>
            </a:r>
          </a:p>
        </p:txBody>
      </p:sp>
      <p:sp>
        <p:nvSpPr>
          <p:cNvPr id="7" name="TextBox 6"/>
          <p:cNvSpPr txBox="1"/>
          <p:nvPr/>
        </p:nvSpPr>
        <p:spPr>
          <a:xfrm>
            <a:off x="502920" y="3330000"/>
            <a:ext cx="10800000" cy="600000"/>
          </a:xfrm>
          <a:prstGeom prst="rect">
            <a:avLst/>
          </a:prstGeom>
          <a:noFill/>
        </p:spPr>
        <p:txBody>
          <a:bodyPr wrap="square" lIns="0" tIns="0" rIns="0" bIns="0">
            <a:spAutoFit/>
          </a:bodyPr>
          <a:lstStyle/>
          <a:p>
            <a:pPr>
              <a:spcAft>
                <a:spcPts val="0"/>
              </a:spcAft>
            </a:pPr>
            <a:r>
              <a:rPr sz="1300" b="1">
                <a:solidFill>
                  <a:srgbClr val="1E2761"/>
                </a:solidFill>
                <a:latin typeface="Calibri"/>
              </a:rPr>
              <a:t>uv run reads pyproject.toml and installs what it says — same command as on your laptop. Your Dockerfile still uses pip; that builds a container image, a different job.</a:t>
            </a:r>
          </a:p>
        </p:txBody>
      </p:sp>
      <p:sp>
        <p:nvSpPr>
          <p:cNvPr id="8" name="TextBox 7"/>
          <p:cNvSpPr txBox="1"/>
          <p:nvPr/>
        </p:nvSpPr>
        <p:spPr>
          <a:xfrm>
            <a:off x="502920" y="6510528"/>
            <a:ext cx="4572000" cy="274320"/>
          </a:xfrm>
          <a:prstGeom prst="rect">
            <a:avLst/>
          </a:prstGeom>
          <a:noFill/>
        </p:spPr>
        <p:txBody>
          <a:bodyPr wrap="square" lIns="0" tIns="0" rIns="0" bIns="0">
            <a:spAutoFit/>
          </a:bodyPr>
          <a:lstStyle/>
          <a:p>
            <a:pPr>
              <a:spcAft>
                <a:spcPts val="0"/>
              </a:spcAft>
            </a:pPr>
            <a:r>
              <a:rPr sz="900" b="0">
                <a:solidFill>
                  <a:srgbClr val="9AA6C4"/>
                </a:solidFill>
                <a:latin typeface="Calibri"/>
              </a:rPr>
              <a:t>Data Engineering och Agila metoder · Week 4</a:t>
            </a:r>
          </a:p>
        </p:txBody>
      </p:sp>
      <p:sp>
        <p:nvSpPr>
          <p:cNvPr id="9" name="TextBox 8"/>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spcAft>
                <a:spcPts val="0"/>
              </a:spcAft>
            </a:pPr>
            <a:r>
              <a:rPr sz="1200" b="1">
                <a:solidFill>
                  <a:srgbClr val="F2994A"/>
                </a:solidFill>
                <a:latin typeface="Calibri"/>
              </a:rPr>
              <a:t>GITHUB ACTIONS</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spcAft>
                <a:spcPts val="0"/>
              </a:spcAft>
            </a:pPr>
            <a:r>
              <a:rPr sz="2600" b="1">
                <a:solidFill>
                  <a:srgbClr val="1E2761"/>
                </a:solidFill>
                <a:latin typeface="Calibri"/>
              </a:rPr>
              <a:t>3. Secrets are injected, never committed</a:t>
            </a:r>
          </a:p>
        </p:txBody>
      </p:sp>
      <p:sp>
        <p:nvSpPr>
          <p:cNvPr id="4" name="Rounded Rectangle 3"/>
          <p:cNvSpPr/>
          <p:nvPr/>
        </p:nvSpPr>
        <p:spPr>
          <a:xfrm>
            <a:off x="502920" y="1450000"/>
            <a:ext cx="10800000" cy="132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00000" y="1580000"/>
            <a:ext cx="10400000" cy="350000"/>
          </a:xfrm>
          <a:prstGeom prst="rect">
            <a:avLst/>
          </a:prstGeom>
          <a:noFill/>
        </p:spPr>
        <p:txBody>
          <a:bodyPr wrap="square" lIns="0" tIns="0" rIns="0" bIns="0">
            <a:spAutoFit/>
          </a:bodyPr>
          <a:lstStyle/>
          <a:p>
            <a:pPr>
              <a:spcAft>
                <a:spcPts val="0"/>
              </a:spcAft>
            </a:pPr>
            <a:r>
              <a:rPr sz="1400" b="1">
                <a:solidFill>
                  <a:srgbClr val="1E2761"/>
                </a:solidFill>
                <a:latin typeface="Calibri"/>
              </a:rPr>
              <a:t>Settings → Secrets and variables → Actions → New repository secret</a:t>
            </a:r>
          </a:p>
        </p:txBody>
      </p:sp>
      <p:sp>
        <p:nvSpPr>
          <p:cNvPr id="6" name="TextBox 5"/>
          <p:cNvSpPr txBox="1"/>
          <p:nvPr/>
        </p:nvSpPr>
        <p:spPr>
          <a:xfrm>
            <a:off x="700000" y="1930000"/>
            <a:ext cx="10400000" cy="800000"/>
          </a:xfrm>
          <a:prstGeom prst="rect">
            <a:avLst/>
          </a:prstGeom>
          <a:noFill/>
        </p:spPr>
        <p:txBody>
          <a:bodyPr wrap="square" lIns="0" tIns="0" rIns="0" bIns="0">
            <a:spAutoFit/>
          </a:bodyPr>
          <a:lstStyle/>
          <a:p>
            <a:pPr>
              <a:spcAft>
                <a:spcPts val="200"/>
              </a:spcAft>
            </a:pPr>
            <a:r>
              <a:rPr sz="1400">
                <a:solidFill>
                  <a:srgbClr val="44506B"/>
                </a:solidFill>
                <a:latin typeface="Consolas"/>
              </a:rPr>
              <a:t>      - run: uv run python daily_ingest.py</a:t>
            </a:r>
          </a:p>
          <a:p>
            <a:pPr>
              <a:spcAft>
                <a:spcPts val="200"/>
              </a:spcAft>
            </a:pPr>
            <a:r>
              <a:rPr sz="1400">
                <a:solidFill>
                  <a:srgbClr val="44506B"/>
                </a:solidFill>
                <a:latin typeface="Consolas"/>
              </a:rPr>
              <a:t>        env:</a:t>
            </a:r>
          </a:p>
          <a:p>
            <a:pPr>
              <a:spcAft>
                <a:spcPts val="200"/>
              </a:spcAft>
            </a:pPr>
            <a:r>
              <a:rPr sz="1400">
                <a:solidFill>
                  <a:srgbClr val="44506B"/>
                </a:solidFill>
                <a:latin typeface="Consolas"/>
              </a:rPr>
              <a:t>          DATABASE_URL: ${{ secrets.DATABASE_URL }}</a:t>
            </a:r>
          </a:p>
        </p:txBody>
      </p:sp>
      <p:sp>
        <p:nvSpPr>
          <p:cNvPr id="7" name="TextBox 6"/>
          <p:cNvSpPr txBox="1"/>
          <p:nvPr/>
        </p:nvSpPr>
        <p:spPr>
          <a:xfrm>
            <a:off x="502920" y="3030000"/>
            <a:ext cx="10800000" cy="600000"/>
          </a:xfrm>
          <a:prstGeom prst="rect">
            <a:avLst/>
          </a:prstGeom>
          <a:noFill/>
        </p:spPr>
        <p:txBody>
          <a:bodyPr wrap="square" lIns="0" tIns="0" rIns="0" bIns="0">
            <a:spAutoFit/>
          </a:bodyPr>
          <a:lstStyle/>
          <a:p>
            <a:pPr>
              <a:spcAft>
                <a:spcPts val="0"/>
              </a:spcAft>
            </a:pPr>
            <a:r>
              <a:rPr sz="1300" b="1">
                <a:solidFill>
                  <a:srgbClr val="1E2761"/>
                </a:solidFill>
                <a:latin typeface="Calibri"/>
              </a:rPr>
              <a:t>The moment you schedule anything, .env stops working — it is on your laptop, not on the runner.</a:t>
            </a:r>
          </a:p>
        </p:txBody>
      </p:sp>
      <p:sp>
        <p:nvSpPr>
          <p:cNvPr id="8" name="TextBox 7"/>
          <p:cNvSpPr txBox="1"/>
          <p:nvPr/>
        </p:nvSpPr>
        <p:spPr>
          <a:xfrm>
            <a:off x="502920" y="6510528"/>
            <a:ext cx="4572000" cy="274320"/>
          </a:xfrm>
          <a:prstGeom prst="rect">
            <a:avLst/>
          </a:prstGeom>
          <a:noFill/>
        </p:spPr>
        <p:txBody>
          <a:bodyPr wrap="square" lIns="0" tIns="0" rIns="0" bIns="0">
            <a:spAutoFit/>
          </a:bodyPr>
          <a:lstStyle/>
          <a:p>
            <a:pPr>
              <a:spcAft>
                <a:spcPts val="0"/>
              </a:spcAft>
            </a:pPr>
            <a:r>
              <a:rPr sz="900" b="0">
                <a:solidFill>
                  <a:srgbClr val="9AA6C4"/>
                </a:solidFill>
                <a:latin typeface="Calibri"/>
              </a:rPr>
              <a:t>Data Engineering och Agila metoder · Week 4</a:t>
            </a:r>
          </a:p>
        </p:txBody>
      </p:sp>
      <p:sp>
        <p:nvSpPr>
          <p:cNvPr id="9" name="TextBox 8"/>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spcAft>
                <a:spcPts val="0"/>
              </a:spcAft>
            </a:pPr>
            <a:r>
              <a:rPr sz="1200" b="1">
                <a:solidFill>
                  <a:srgbClr val="F2994A"/>
                </a:solidFill>
                <a:latin typeface="Calibri"/>
              </a:rPr>
              <a:t>GITHUB ACTIONS</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spcAft>
                <a:spcPts val="0"/>
              </a:spcAft>
            </a:pPr>
            <a:r>
              <a:rPr sz="2600" b="1">
                <a:solidFill>
                  <a:srgbClr val="1E2761"/>
                </a:solidFill>
                <a:latin typeface="Calibri"/>
              </a:rPr>
              <a:t>4. Now make it run by itself</a:t>
            </a:r>
          </a:p>
        </p:txBody>
      </p:sp>
      <p:sp>
        <p:nvSpPr>
          <p:cNvPr id="4" name="Rounded Rectangle 3"/>
          <p:cNvSpPr/>
          <p:nvPr/>
        </p:nvSpPr>
        <p:spPr>
          <a:xfrm>
            <a:off x="502920" y="1450000"/>
            <a:ext cx="10800000" cy="282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00000" y="1580000"/>
            <a:ext cx="10400000" cy="350000"/>
          </a:xfrm>
          <a:prstGeom prst="rect">
            <a:avLst/>
          </a:prstGeom>
          <a:noFill/>
        </p:spPr>
        <p:txBody>
          <a:bodyPr wrap="square" lIns="0" tIns="0" rIns="0" bIns="0">
            <a:spAutoFit/>
          </a:bodyPr>
          <a:lstStyle/>
          <a:p>
            <a:pPr>
              <a:spcAft>
                <a:spcPts val="0"/>
              </a:spcAft>
            </a:pPr>
            <a:r>
              <a:rPr sz="1400" b="1">
                <a:solidFill>
                  <a:srgbClr val="1E2761"/>
                </a:solidFill>
                <a:latin typeface="Calibri"/>
              </a:rPr>
              <a:t>cron is five fields: minute, hour, day-of-month, month, day-of-week</a:t>
            </a:r>
          </a:p>
        </p:txBody>
      </p:sp>
      <p:sp>
        <p:nvSpPr>
          <p:cNvPr id="6" name="TextBox 5"/>
          <p:cNvSpPr txBox="1"/>
          <p:nvPr/>
        </p:nvSpPr>
        <p:spPr>
          <a:xfrm>
            <a:off x="700000" y="1930000"/>
            <a:ext cx="10400000" cy="2300000"/>
          </a:xfrm>
          <a:prstGeom prst="rect">
            <a:avLst/>
          </a:prstGeom>
          <a:noFill/>
        </p:spPr>
        <p:txBody>
          <a:bodyPr wrap="square" lIns="0" tIns="0" rIns="0" bIns="0">
            <a:spAutoFit/>
          </a:bodyPr>
          <a:lstStyle/>
          <a:p>
            <a:pPr>
              <a:spcAft>
                <a:spcPts val="200"/>
              </a:spcAft>
            </a:pPr>
            <a:r>
              <a:rPr sz="1400">
                <a:solidFill>
                  <a:srgbClr val="44506B"/>
                </a:solidFill>
                <a:latin typeface="Consolas"/>
              </a:rPr>
              <a:t>on:</a:t>
            </a:r>
          </a:p>
          <a:p>
            <a:pPr>
              <a:spcAft>
                <a:spcPts val="200"/>
              </a:spcAft>
            </a:pPr>
            <a:r>
              <a:rPr sz="1400">
                <a:solidFill>
                  <a:srgbClr val="44506B"/>
                </a:solidFill>
                <a:latin typeface="Consolas"/>
              </a:rPr>
              <a:t>  schedule:</a:t>
            </a:r>
          </a:p>
          <a:p>
            <a:pPr>
              <a:spcAft>
                <a:spcPts val="200"/>
              </a:spcAft>
            </a:pPr>
            <a:r>
              <a:rPr sz="1400">
                <a:solidFill>
                  <a:srgbClr val="44506B"/>
                </a:solidFill>
                <a:latin typeface="Consolas"/>
              </a:rPr>
              <a:t>    - cron: "30 12 * * *"    # 12:30 UTC, every day</a:t>
            </a:r>
          </a:p>
          <a:p>
            <a:pPr>
              <a:spcAft>
                <a:spcPts val="200"/>
              </a:spcAft>
            </a:pPr>
            <a:r>
              <a:rPr sz="1400">
                <a:solidFill>
                  <a:srgbClr val="44506B"/>
                </a:solidFill>
                <a:latin typeface="Consolas"/>
              </a:rPr>
              <a:t>  workflow_dispatch:          # keep this. always.</a:t>
            </a:r>
          </a:p>
          <a:p>
            <a:pPr>
              <a:spcAft>
                <a:spcPts val="200"/>
              </a:spcAft>
            </a:pPr>
            <a:endParaRPr sz="1400">
              <a:solidFill>
                <a:srgbClr val="44506B"/>
              </a:solidFill>
              <a:latin typeface="Consolas"/>
            </a:endParaRPr>
          </a:p>
          <a:p>
            <a:pPr>
              <a:spcAft>
                <a:spcPts val="200"/>
              </a:spcAft>
            </a:pPr>
            <a:r>
              <a:rPr sz="1400">
                <a:solidFill>
                  <a:srgbClr val="44506B"/>
                </a:solidFill>
                <a:latin typeface="Consolas"/>
              </a:rPr>
              <a:t># GitHub Actions cron is ALWAYS UTC.</a:t>
            </a:r>
          </a:p>
          <a:p>
            <a:pPr>
              <a:spcAft>
                <a:spcPts val="200"/>
              </a:spcAft>
            </a:pPr>
            <a:r>
              <a:rPr sz="1400">
                <a:solidFill>
                  <a:srgbClr val="44506B"/>
                </a:solidFill>
                <a:latin typeface="Consolas"/>
              </a:rPr>
              <a:t># Sweden is UTC+1 in winter and UTC+2 in summer,</a:t>
            </a:r>
          </a:p>
          <a:p>
            <a:pPr>
              <a:spcAft>
                <a:spcPts val="200"/>
              </a:spcAft>
            </a:pPr>
            <a:r>
              <a:rPr sz="1400">
                <a:solidFill>
                  <a:srgbClr val="44506B"/>
                </a:solidFill>
                <a:latin typeface="Consolas"/>
              </a:rPr>
              <a:t># so your 13:30 job becomes a 14:30 job in October.</a:t>
            </a:r>
          </a:p>
        </p:txBody>
      </p:sp>
      <p:sp>
        <p:nvSpPr>
          <p:cNvPr id="7" name="TextBox 6"/>
          <p:cNvSpPr txBox="1"/>
          <p:nvPr/>
        </p:nvSpPr>
        <p:spPr>
          <a:xfrm>
            <a:off x="502920" y="4530000"/>
            <a:ext cx="10800000" cy="600000"/>
          </a:xfrm>
          <a:prstGeom prst="rect">
            <a:avLst/>
          </a:prstGeom>
          <a:noFill/>
        </p:spPr>
        <p:txBody>
          <a:bodyPr wrap="square" lIns="0" tIns="0" rIns="0" bIns="0">
            <a:spAutoFit/>
          </a:bodyPr>
          <a:lstStyle/>
          <a:p>
            <a:pPr>
              <a:spcAft>
                <a:spcPts val="0"/>
              </a:spcAft>
            </a:pPr>
            <a:r>
              <a:rPr sz="1300" b="1">
                <a:solidFill>
                  <a:srgbClr val="1E2761"/>
                </a:solidFill>
                <a:latin typeface="Calibri"/>
              </a:rPr>
              <a:t>Without workflow_dispatch you cannot test it, re-run a failure, or backfill by hand.</a:t>
            </a:r>
          </a:p>
        </p:txBody>
      </p:sp>
      <p:sp>
        <p:nvSpPr>
          <p:cNvPr id="8" name="TextBox 7"/>
          <p:cNvSpPr txBox="1"/>
          <p:nvPr/>
        </p:nvSpPr>
        <p:spPr>
          <a:xfrm>
            <a:off x="502920" y="6510528"/>
            <a:ext cx="4572000" cy="274320"/>
          </a:xfrm>
          <a:prstGeom prst="rect">
            <a:avLst/>
          </a:prstGeom>
          <a:noFill/>
        </p:spPr>
        <p:txBody>
          <a:bodyPr wrap="square" lIns="0" tIns="0" rIns="0" bIns="0">
            <a:spAutoFit/>
          </a:bodyPr>
          <a:lstStyle/>
          <a:p>
            <a:pPr>
              <a:spcAft>
                <a:spcPts val="0"/>
              </a:spcAft>
            </a:pPr>
            <a:r>
              <a:rPr sz="900" b="0">
                <a:solidFill>
                  <a:srgbClr val="9AA6C4"/>
                </a:solidFill>
                <a:latin typeface="Calibri"/>
              </a:rPr>
              <a:t>Data Engineering och Agila metoder · Week 4</a:t>
            </a:r>
          </a:p>
        </p:txBody>
      </p:sp>
      <p:sp>
        <p:nvSpPr>
          <p:cNvPr id="9" name="TextBox 8"/>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spcAft>
                <a:spcPts val="0"/>
              </a:spcAft>
            </a:pPr>
            <a:r>
              <a:rPr sz="1200" b="1">
                <a:solidFill>
                  <a:srgbClr val="F2994A"/>
                </a:solidFill>
                <a:latin typeface="Calibri"/>
              </a:rPr>
              <a:t>GITHUB ACTIONS</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spcAft>
                <a:spcPts val="0"/>
              </a:spcAft>
            </a:pPr>
            <a:r>
              <a:rPr sz="2600" b="1">
                <a:solidFill>
                  <a:srgbClr val="1E2761"/>
                </a:solidFill>
                <a:latin typeface="Calibri"/>
              </a:rPr>
              <a:t>5. All of it, together</a:t>
            </a:r>
          </a:p>
        </p:txBody>
      </p:sp>
      <p:sp>
        <p:nvSpPr>
          <p:cNvPr id="4" name="Rounded Rectangle 3"/>
          <p:cNvSpPr/>
          <p:nvPr/>
        </p:nvSpPr>
        <p:spPr>
          <a:xfrm>
            <a:off x="502920" y="1450000"/>
            <a:ext cx="10800000" cy="4088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00000" y="1580000"/>
            <a:ext cx="10400000" cy="350000"/>
          </a:xfrm>
          <a:prstGeom prst="rect">
            <a:avLst/>
          </a:prstGeom>
          <a:noFill/>
        </p:spPr>
        <p:txBody>
          <a:bodyPr wrap="square" lIns="0" tIns="0" rIns="0" bIns="0">
            <a:spAutoFit/>
          </a:bodyPr>
          <a:lstStyle/>
          <a:p>
            <a:pPr>
              <a:spcAft>
                <a:spcPts val="0"/>
              </a:spcAft>
            </a:pPr>
            <a:r>
              <a:rPr sz="1400" b="1">
                <a:solidFill>
                  <a:srgbClr val="1E2761"/>
                </a:solidFill>
                <a:latin typeface="Calibri"/>
              </a:rPr>
              <a:t>.github/workflows/ingest.yml</a:t>
            </a:r>
          </a:p>
        </p:txBody>
      </p:sp>
      <p:sp>
        <p:nvSpPr>
          <p:cNvPr id="6" name="TextBox 5"/>
          <p:cNvSpPr txBox="1"/>
          <p:nvPr/>
        </p:nvSpPr>
        <p:spPr>
          <a:xfrm>
            <a:off x="700000" y="1930000"/>
            <a:ext cx="10400000" cy="3568000"/>
          </a:xfrm>
          <a:prstGeom prst="rect">
            <a:avLst/>
          </a:prstGeom>
          <a:noFill/>
        </p:spPr>
        <p:txBody>
          <a:bodyPr wrap="square" lIns="0" tIns="0" rIns="0" bIns="0">
            <a:spAutoFit/>
          </a:bodyPr>
          <a:lstStyle/>
          <a:p>
            <a:pPr>
              <a:spcAft>
                <a:spcPts val="200"/>
              </a:spcAft>
            </a:pPr>
            <a:r>
              <a:rPr sz="1300">
                <a:solidFill>
                  <a:srgbClr val="44506B"/>
                </a:solidFill>
                <a:latin typeface="Consolas"/>
              </a:rPr>
              <a:t>name: daily ingest</a:t>
            </a:r>
          </a:p>
          <a:p>
            <a:pPr>
              <a:spcAft>
                <a:spcPts val="200"/>
              </a:spcAft>
            </a:pPr>
            <a:r>
              <a:rPr sz="1300">
                <a:solidFill>
                  <a:srgbClr val="44506B"/>
                </a:solidFill>
                <a:latin typeface="Consolas"/>
              </a:rPr>
              <a:t>on:</a:t>
            </a:r>
          </a:p>
          <a:p>
            <a:pPr>
              <a:spcAft>
                <a:spcPts val="200"/>
              </a:spcAft>
            </a:pPr>
            <a:r>
              <a:rPr sz="1300">
                <a:solidFill>
                  <a:srgbClr val="44506B"/>
                </a:solidFill>
                <a:latin typeface="Consolas"/>
              </a:rPr>
              <a:t>  schedule:</a:t>
            </a:r>
          </a:p>
          <a:p>
            <a:pPr>
              <a:spcAft>
                <a:spcPts val="200"/>
              </a:spcAft>
            </a:pPr>
            <a:r>
              <a:rPr sz="1300">
                <a:solidFill>
                  <a:srgbClr val="44506B"/>
                </a:solidFill>
                <a:latin typeface="Consolas"/>
              </a:rPr>
              <a:t>    - cron: "30 12 * * *"</a:t>
            </a:r>
          </a:p>
          <a:p>
            <a:pPr>
              <a:spcAft>
                <a:spcPts val="200"/>
              </a:spcAft>
            </a:pPr>
            <a:r>
              <a:rPr sz="1300">
                <a:solidFill>
                  <a:srgbClr val="44506B"/>
                </a:solidFill>
                <a:latin typeface="Consolas"/>
              </a:rPr>
              <a:t>  workflow_dispatch:</a:t>
            </a:r>
          </a:p>
          <a:p>
            <a:pPr>
              <a:spcAft>
                <a:spcPts val="200"/>
              </a:spcAft>
            </a:pPr>
            <a:r>
              <a:rPr sz="1300">
                <a:solidFill>
                  <a:srgbClr val="44506B"/>
                </a:solidFill>
                <a:latin typeface="Consolas"/>
              </a:rPr>
              <a:t>jobs:</a:t>
            </a:r>
          </a:p>
          <a:p>
            <a:pPr>
              <a:spcAft>
                <a:spcPts val="200"/>
              </a:spcAft>
            </a:pPr>
            <a:r>
              <a:rPr sz="1300">
                <a:solidFill>
                  <a:srgbClr val="44506B"/>
                </a:solidFill>
                <a:latin typeface="Consolas"/>
              </a:rPr>
              <a:t>  ingest:</a:t>
            </a:r>
          </a:p>
          <a:p>
            <a:pPr>
              <a:spcAft>
                <a:spcPts val="200"/>
              </a:spcAft>
            </a:pPr>
            <a:r>
              <a:rPr sz="1300">
                <a:solidFill>
                  <a:srgbClr val="44506B"/>
                </a:solidFill>
                <a:latin typeface="Consolas"/>
              </a:rPr>
              <a:t>    runs-on: ubuntu-latest</a:t>
            </a:r>
          </a:p>
          <a:p>
            <a:pPr>
              <a:spcAft>
                <a:spcPts val="200"/>
              </a:spcAft>
            </a:pPr>
            <a:r>
              <a:rPr sz="1300">
                <a:solidFill>
                  <a:srgbClr val="44506B"/>
                </a:solidFill>
                <a:latin typeface="Consolas"/>
              </a:rPr>
              <a:t>    steps:</a:t>
            </a:r>
          </a:p>
          <a:p>
            <a:pPr>
              <a:spcAft>
                <a:spcPts val="200"/>
              </a:spcAft>
            </a:pPr>
            <a:r>
              <a:rPr sz="1300">
                <a:solidFill>
                  <a:srgbClr val="44506B"/>
                </a:solidFill>
                <a:latin typeface="Consolas"/>
              </a:rPr>
              <a:t>      - uses: actions/checkout@v4</a:t>
            </a:r>
          </a:p>
          <a:p>
            <a:pPr>
              <a:spcAft>
                <a:spcPts val="200"/>
              </a:spcAft>
            </a:pPr>
            <a:r>
              <a:rPr sz="1300">
                <a:solidFill>
                  <a:srgbClr val="44506B"/>
                </a:solidFill>
                <a:latin typeface="Consolas"/>
              </a:rPr>
              <a:t>      - uses: astral-sh/setup-uv@v7</a:t>
            </a:r>
          </a:p>
          <a:p>
            <a:pPr>
              <a:spcAft>
                <a:spcPts val="200"/>
              </a:spcAft>
            </a:pPr>
            <a:r>
              <a:rPr sz="1300">
                <a:solidFill>
                  <a:srgbClr val="44506B"/>
                </a:solidFill>
                <a:latin typeface="Consolas"/>
              </a:rPr>
              <a:t>      - run: uv run python daily_ingest.py --days 7</a:t>
            </a:r>
          </a:p>
          <a:p>
            <a:pPr>
              <a:spcAft>
                <a:spcPts val="200"/>
              </a:spcAft>
            </a:pPr>
            <a:r>
              <a:rPr sz="1300">
                <a:solidFill>
                  <a:srgbClr val="44506B"/>
                </a:solidFill>
                <a:latin typeface="Consolas"/>
              </a:rPr>
              <a:t>        env:</a:t>
            </a:r>
          </a:p>
          <a:p>
            <a:pPr>
              <a:spcAft>
                <a:spcPts val="200"/>
              </a:spcAft>
            </a:pPr>
            <a:r>
              <a:rPr sz="1300">
                <a:solidFill>
                  <a:srgbClr val="44506B"/>
                </a:solidFill>
                <a:latin typeface="Consolas"/>
              </a:rPr>
              <a:t>          DATABASE_URL: ${{ secrets.DATABASE_URL }}</a:t>
            </a:r>
          </a:p>
        </p:txBody>
      </p:sp>
      <p:sp>
        <p:nvSpPr>
          <p:cNvPr id="8" name="TextBox 7"/>
          <p:cNvSpPr txBox="1"/>
          <p:nvPr/>
        </p:nvSpPr>
        <p:spPr>
          <a:xfrm>
            <a:off x="502920" y="6510528"/>
            <a:ext cx="4572000" cy="274320"/>
          </a:xfrm>
          <a:prstGeom prst="rect">
            <a:avLst/>
          </a:prstGeom>
          <a:noFill/>
        </p:spPr>
        <p:txBody>
          <a:bodyPr wrap="square" lIns="0" tIns="0" rIns="0" bIns="0">
            <a:spAutoFit/>
          </a:bodyPr>
          <a:lstStyle/>
          <a:p>
            <a:pPr>
              <a:spcAft>
                <a:spcPts val="0"/>
              </a:spcAft>
            </a:pPr>
            <a:r>
              <a:rPr sz="900" b="0">
                <a:solidFill>
                  <a:srgbClr val="9AA6C4"/>
                </a:solidFill>
                <a:latin typeface="Calibri"/>
              </a:rPr>
              <a:t>Data Engineering och Agila metoder · Week 4</a:t>
            </a:r>
          </a:p>
        </p:txBody>
      </p:sp>
      <p:sp>
        <p:nvSpPr>
          <p:cNvPr id="9" name="TextBox 8"/>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spcAft>
                <a:spcPts val="0"/>
              </a:spcAft>
            </a:pPr>
            <a:r>
              <a:rPr sz="1200" b="1">
                <a:solidFill>
                  <a:srgbClr val="F2994A"/>
                </a:solidFill>
                <a:latin typeface="Calibri"/>
              </a:rPr>
              <a:t>GITHUB ACTIONS</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spcAft>
                <a:spcPts val="0"/>
              </a:spcAft>
            </a:pPr>
            <a:r>
              <a:rPr sz="2600" b="1">
                <a:solidFill>
                  <a:srgbClr val="1E2761"/>
                </a:solidFill>
                <a:latin typeface="Calibri"/>
              </a:rPr>
              <a:t>What goes wrong when nobody is watching</a:t>
            </a:r>
          </a:p>
        </p:txBody>
      </p:sp>
      <p:sp>
        <p:nvSpPr>
          <p:cNvPr id="4" name="Oval 3"/>
          <p:cNvSpPr/>
          <p:nvPr/>
        </p:nvSpPr>
        <p:spPr>
          <a:xfrm>
            <a:off x="700000" y="1510000"/>
            <a:ext cx="180000" cy="180000"/>
          </a:xfrm>
          <a:prstGeom prst="ellipse">
            <a:avLst/>
          </a:prstGeom>
          <a:solidFill>
            <a:srgbClr val="B0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0000" y="1450000"/>
            <a:ext cx="2900000" cy="700000"/>
          </a:xfrm>
          <a:prstGeom prst="rect">
            <a:avLst/>
          </a:prstGeom>
          <a:noFill/>
        </p:spPr>
        <p:txBody>
          <a:bodyPr wrap="square" lIns="0" tIns="0" rIns="0" bIns="0">
            <a:spAutoFit/>
          </a:bodyPr>
          <a:lstStyle/>
          <a:p>
            <a:pPr>
              <a:spcAft>
                <a:spcPts val="0"/>
              </a:spcAft>
            </a:pPr>
            <a:r>
              <a:rPr sz="1400" b="1">
                <a:solidFill>
                  <a:srgbClr val="1E2761"/>
                </a:solidFill>
                <a:latin typeface="Calibri"/>
              </a:rPr>
              <a:t>It fails, nobody notices</a:t>
            </a:r>
          </a:p>
        </p:txBody>
      </p:sp>
      <p:sp>
        <p:nvSpPr>
          <p:cNvPr id="6" name="TextBox 5"/>
          <p:cNvSpPr txBox="1"/>
          <p:nvPr/>
        </p:nvSpPr>
        <p:spPr>
          <a:xfrm>
            <a:off x="3650000" y="1450000"/>
            <a:ext cx="7650000" cy="700000"/>
          </a:xfrm>
          <a:prstGeom prst="rect">
            <a:avLst/>
          </a:prstGeom>
          <a:noFill/>
        </p:spPr>
        <p:txBody>
          <a:bodyPr wrap="square" lIns="0" tIns="0" rIns="0" bIns="0">
            <a:spAutoFit/>
          </a:bodyPr>
          <a:lstStyle/>
          <a:p>
            <a:pPr>
              <a:lnSpc>
                <a:spcPct val="110000"/>
              </a:lnSpc>
              <a:spcAft>
                <a:spcPts val="0"/>
              </a:spcAft>
            </a:pPr>
            <a:r>
              <a:rPr sz="1400" b="0">
                <a:solidFill>
                  <a:srgbClr val="44506B"/>
                </a:solidFill>
                <a:latin typeface="Calibri"/>
              </a:rPr>
              <a:t>A red X on a page you don't visit is not an alert. The number-one cause of dead student pipelines.</a:t>
            </a:r>
          </a:p>
        </p:txBody>
      </p:sp>
      <p:sp>
        <p:nvSpPr>
          <p:cNvPr id="7" name="Oval 6"/>
          <p:cNvSpPr/>
          <p:nvPr/>
        </p:nvSpPr>
        <p:spPr>
          <a:xfrm>
            <a:off x="700000" y="2290000"/>
            <a:ext cx="180000" cy="180000"/>
          </a:xfrm>
          <a:prstGeom prst="ellipse">
            <a:avLst/>
          </a:prstGeom>
          <a:solidFill>
            <a:srgbClr val="B0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0000" y="2230000"/>
            <a:ext cx="2900000" cy="700000"/>
          </a:xfrm>
          <a:prstGeom prst="rect">
            <a:avLst/>
          </a:prstGeom>
          <a:noFill/>
        </p:spPr>
        <p:txBody>
          <a:bodyPr wrap="square" lIns="0" tIns="0" rIns="0" bIns="0">
            <a:spAutoFit/>
          </a:bodyPr>
          <a:lstStyle/>
          <a:p>
            <a:pPr>
              <a:spcAft>
                <a:spcPts val="0"/>
              </a:spcAft>
            </a:pPr>
            <a:r>
              <a:rPr sz="1400" b="1">
                <a:solidFill>
                  <a:srgbClr val="1E2761"/>
                </a:solidFill>
                <a:latin typeface="Calibri"/>
              </a:rPr>
              <a:t>GitHub disables the schedule</a:t>
            </a:r>
          </a:p>
        </p:txBody>
      </p:sp>
      <p:sp>
        <p:nvSpPr>
          <p:cNvPr id="9" name="TextBox 8"/>
          <p:cNvSpPr txBox="1"/>
          <p:nvPr/>
        </p:nvSpPr>
        <p:spPr>
          <a:xfrm>
            <a:off x="3650000" y="2230000"/>
            <a:ext cx="7650000" cy="700000"/>
          </a:xfrm>
          <a:prstGeom prst="rect">
            <a:avLst/>
          </a:prstGeom>
          <a:noFill/>
        </p:spPr>
        <p:txBody>
          <a:bodyPr wrap="square" lIns="0" tIns="0" rIns="0" bIns="0">
            <a:spAutoFit/>
          </a:bodyPr>
          <a:lstStyle/>
          <a:p>
            <a:pPr>
              <a:lnSpc>
                <a:spcPct val="110000"/>
              </a:lnSpc>
              <a:spcAft>
                <a:spcPts val="0"/>
              </a:spcAft>
            </a:pPr>
            <a:r>
              <a:rPr sz="1400" b="0">
                <a:solidFill>
                  <a:srgbClr val="44506B"/>
                </a:solidFill>
                <a:latin typeface="Calibri"/>
              </a:rPr>
              <a:t>After about 60 days of repository inactivity. Over a summer, your pipeline quietly stops.</a:t>
            </a:r>
          </a:p>
        </p:txBody>
      </p:sp>
      <p:sp>
        <p:nvSpPr>
          <p:cNvPr id="10" name="Oval 9"/>
          <p:cNvSpPr/>
          <p:nvPr/>
        </p:nvSpPr>
        <p:spPr>
          <a:xfrm>
            <a:off x="700000" y="3070000"/>
            <a:ext cx="180000" cy="180000"/>
          </a:xfrm>
          <a:prstGeom prst="ellipse">
            <a:avLst/>
          </a:prstGeom>
          <a:solidFill>
            <a:srgbClr val="C17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0000" y="3010000"/>
            <a:ext cx="2900000" cy="700000"/>
          </a:xfrm>
          <a:prstGeom prst="rect">
            <a:avLst/>
          </a:prstGeom>
          <a:noFill/>
        </p:spPr>
        <p:txBody>
          <a:bodyPr wrap="square" lIns="0" tIns="0" rIns="0" bIns="0">
            <a:spAutoFit/>
          </a:bodyPr>
          <a:lstStyle/>
          <a:p>
            <a:pPr>
              <a:spcAft>
                <a:spcPts val="0"/>
              </a:spcAft>
            </a:pPr>
            <a:r>
              <a:rPr sz="1400" b="1">
                <a:solidFill>
                  <a:srgbClr val="1E2761"/>
                </a:solidFill>
                <a:latin typeface="Calibri"/>
              </a:rPr>
              <a:t>Scheduled runs are not punctual</a:t>
            </a:r>
          </a:p>
        </p:txBody>
      </p:sp>
      <p:sp>
        <p:nvSpPr>
          <p:cNvPr id="12" name="TextBox 11"/>
          <p:cNvSpPr txBox="1"/>
          <p:nvPr/>
        </p:nvSpPr>
        <p:spPr>
          <a:xfrm>
            <a:off x="3650000" y="3010000"/>
            <a:ext cx="7650000" cy="700000"/>
          </a:xfrm>
          <a:prstGeom prst="rect">
            <a:avLst/>
          </a:prstGeom>
          <a:noFill/>
        </p:spPr>
        <p:txBody>
          <a:bodyPr wrap="square" lIns="0" tIns="0" rIns="0" bIns="0">
            <a:spAutoFit/>
          </a:bodyPr>
          <a:lstStyle/>
          <a:p>
            <a:pPr>
              <a:lnSpc>
                <a:spcPct val="110000"/>
              </a:lnSpc>
              <a:spcAft>
                <a:spcPts val="0"/>
              </a:spcAft>
            </a:pPr>
            <a:r>
              <a:rPr sz="1400" b="0">
                <a:solidFill>
                  <a:srgbClr val="44506B"/>
                </a:solidFill>
                <a:latin typeface="Calibri"/>
              </a:rPr>
              <a:t>Cron here is best-effort and is busiest on the hour. Never assume an exact minute.</a:t>
            </a:r>
          </a:p>
        </p:txBody>
      </p:sp>
      <p:sp>
        <p:nvSpPr>
          <p:cNvPr id="13" name="Oval 12"/>
          <p:cNvSpPr/>
          <p:nvPr/>
        </p:nvSpPr>
        <p:spPr>
          <a:xfrm>
            <a:off x="700000" y="3850000"/>
            <a:ext cx="180000" cy="180000"/>
          </a:xfrm>
          <a:prstGeom prst="ellipse">
            <a:avLst/>
          </a:prstGeom>
          <a:solidFill>
            <a:srgbClr val="C17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0000" y="3790000"/>
            <a:ext cx="2900000" cy="700000"/>
          </a:xfrm>
          <a:prstGeom prst="rect">
            <a:avLst/>
          </a:prstGeom>
          <a:noFill/>
        </p:spPr>
        <p:txBody>
          <a:bodyPr wrap="square" lIns="0" tIns="0" rIns="0" bIns="0">
            <a:spAutoFit/>
          </a:bodyPr>
          <a:lstStyle/>
          <a:p>
            <a:pPr>
              <a:spcAft>
                <a:spcPts val="0"/>
              </a:spcAft>
            </a:pPr>
            <a:r>
              <a:rPr sz="1400" b="1">
                <a:solidFill>
                  <a:srgbClr val="1E2761"/>
                </a:solidFill>
                <a:latin typeface="Calibri"/>
              </a:rPr>
              <a:t>It runs twice, or overlaps itself</a:t>
            </a:r>
          </a:p>
        </p:txBody>
      </p:sp>
      <p:sp>
        <p:nvSpPr>
          <p:cNvPr id="15" name="TextBox 14"/>
          <p:cNvSpPr txBox="1"/>
          <p:nvPr/>
        </p:nvSpPr>
        <p:spPr>
          <a:xfrm>
            <a:off x="3650000" y="3790000"/>
            <a:ext cx="7650000" cy="700000"/>
          </a:xfrm>
          <a:prstGeom prst="rect">
            <a:avLst/>
          </a:prstGeom>
          <a:noFill/>
        </p:spPr>
        <p:txBody>
          <a:bodyPr wrap="square" lIns="0" tIns="0" rIns="0" bIns="0">
            <a:spAutoFit/>
          </a:bodyPr>
          <a:lstStyle/>
          <a:p>
            <a:pPr>
              <a:lnSpc>
                <a:spcPct val="110000"/>
              </a:lnSpc>
              <a:spcAft>
                <a:spcPts val="0"/>
              </a:spcAft>
            </a:pPr>
            <a:r>
              <a:rPr sz="1400" b="0">
                <a:solidFill>
                  <a:srgbClr val="44506B"/>
                </a:solidFill>
                <a:latin typeface="Calibri"/>
              </a:rPr>
              <a:t>A slow run and the next trigger collide. Idempotent writes make that a non-event.</a:t>
            </a:r>
          </a:p>
        </p:txBody>
      </p:sp>
      <p:sp>
        <p:nvSpPr>
          <p:cNvPr id="16" name="Oval 15"/>
          <p:cNvSpPr/>
          <p:nvPr/>
        </p:nvSpPr>
        <p:spPr>
          <a:xfrm>
            <a:off x="700000" y="4630000"/>
            <a:ext cx="180000" cy="18000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0000" y="4570000"/>
            <a:ext cx="2900000" cy="700000"/>
          </a:xfrm>
          <a:prstGeom prst="rect">
            <a:avLst/>
          </a:prstGeom>
          <a:noFill/>
        </p:spPr>
        <p:txBody>
          <a:bodyPr wrap="square" lIns="0" tIns="0" rIns="0" bIns="0">
            <a:spAutoFit/>
          </a:bodyPr>
          <a:lstStyle/>
          <a:p>
            <a:pPr>
              <a:spcAft>
                <a:spcPts val="0"/>
              </a:spcAft>
            </a:pPr>
            <a:r>
              <a:rPr sz="1400" b="1">
                <a:solidFill>
                  <a:srgbClr val="1E2761"/>
                </a:solidFill>
                <a:latin typeface="Calibri"/>
              </a:rPr>
              <a:t>It runs fine and does nothing</a:t>
            </a:r>
          </a:p>
        </p:txBody>
      </p:sp>
      <p:sp>
        <p:nvSpPr>
          <p:cNvPr id="18" name="TextBox 17"/>
          <p:cNvSpPr txBox="1"/>
          <p:nvPr/>
        </p:nvSpPr>
        <p:spPr>
          <a:xfrm>
            <a:off x="3650000" y="4570000"/>
            <a:ext cx="7650000" cy="700000"/>
          </a:xfrm>
          <a:prstGeom prst="rect">
            <a:avLst/>
          </a:prstGeom>
          <a:noFill/>
        </p:spPr>
        <p:txBody>
          <a:bodyPr wrap="square" lIns="0" tIns="0" rIns="0" bIns="0">
            <a:spAutoFit/>
          </a:bodyPr>
          <a:lstStyle/>
          <a:p>
            <a:pPr>
              <a:lnSpc>
                <a:spcPct val="110000"/>
              </a:lnSpc>
              <a:spcAft>
                <a:spcPts val="0"/>
              </a:spcAft>
            </a:pPr>
            <a:r>
              <a:rPr sz="1400" b="0">
                <a:solidFill>
                  <a:srgbClr val="44506B"/>
                </a:solidFill>
                <a:latin typeface="Calibri"/>
              </a:rPr>
              <a:t>Exit code 0, zero rows written. The API returned an empty list and your loop had nothing to do.</a:t>
            </a:r>
          </a:p>
        </p:txBody>
      </p:sp>
      <p:sp>
        <p:nvSpPr>
          <p:cNvPr id="19" name="Rounded Rectangle 18"/>
          <p:cNvSpPr/>
          <p:nvPr/>
        </p:nvSpPr>
        <p:spPr>
          <a:xfrm>
            <a:off x="502920" y="5150000"/>
            <a:ext cx="10800000" cy="90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00000" y="5330000"/>
            <a:ext cx="10400000" cy="700000"/>
          </a:xfrm>
          <a:prstGeom prst="rect">
            <a:avLst/>
          </a:prstGeom>
          <a:noFill/>
        </p:spPr>
        <p:txBody>
          <a:bodyPr wrap="square" lIns="0" tIns="0" rIns="0" bIns="0">
            <a:spAutoFit/>
          </a:bodyPr>
          <a:lstStyle/>
          <a:p>
            <a:pPr>
              <a:lnSpc>
                <a:spcPct val="115000"/>
              </a:lnSpc>
              <a:spcAft>
                <a:spcPts val="0"/>
              </a:spcAft>
            </a:pPr>
            <a:r>
              <a:rPr sz="1400" b="0">
                <a:solidFill>
                  <a:srgbClr val="1E2761"/>
                </a:solidFill>
                <a:latin typeface="Calibri"/>
              </a:rPr>
              <a:t>The last one matters most: "the job succeeded" and "the data arrived" are different questions.</a:t>
            </a:r>
          </a:p>
        </p:txBody>
      </p:sp>
      <p:sp>
        <p:nvSpPr>
          <p:cNvPr id="21" name="TextBox 20"/>
          <p:cNvSpPr txBox="1"/>
          <p:nvPr/>
        </p:nvSpPr>
        <p:spPr>
          <a:xfrm>
            <a:off x="502920" y="6510528"/>
            <a:ext cx="4572000" cy="274320"/>
          </a:xfrm>
          <a:prstGeom prst="rect">
            <a:avLst/>
          </a:prstGeom>
          <a:noFill/>
        </p:spPr>
        <p:txBody>
          <a:bodyPr wrap="square" lIns="0" tIns="0" rIns="0" bIns="0">
            <a:spAutoFit/>
          </a:bodyPr>
          <a:lstStyle/>
          <a:p>
            <a:pPr>
              <a:spcAft>
                <a:spcPts val="0"/>
              </a:spcAft>
            </a:pPr>
            <a:r>
              <a:rPr sz="900" b="0">
                <a:solidFill>
                  <a:srgbClr val="9AA6C4"/>
                </a:solidFill>
                <a:latin typeface="Calibri"/>
              </a:rPr>
              <a:t>Data Engineering och Agila metoder · Week 4</a:t>
            </a:r>
          </a:p>
        </p:txBody>
      </p:sp>
      <p:sp>
        <p:nvSpPr>
          <p:cNvPr id="22" name="TextBox 21"/>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spcAft>
                <a:spcPts val="0"/>
              </a:spcAft>
            </a:pPr>
            <a:r>
              <a:rPr sz="1200" b="1">
                <a:solidFill>
                  <a:srgbClr val="F2994A"/>
                </a:solidFill>
                <a:latin typeface="Calibri"/>
              </a:rPr>
              <a:t>GITHUB ACTIONS</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spcAft>
                <a:spcPts val="0"/>
              </a:spcAft>
            </a:pPr>
            <a:r>
              <a:rPr sz="2600" b="1">
                <a:solidFill>
                  <a:srgbClr val="1E2761"/>
                </a:solidFill>
                <a:latin typeface="Calibri"/>
              </a:rPr>
              <a:t>What "safe to re-run" means</a:t>
            </a:r>
          </a:p>
        </p:txBody>
      </p:sp>
      <p:sp>
        <p:nvSpPr>
          <p:cNvPr id="4" name="TextBox 3"/>
          <p:cNvSpPr txBox="1"/>
          <p:nvPr/>
        </p:nvSpPr>
        <p:spPr>
          <a:xfrm>
            <a:off x="652920" y="1500000"/>
            <a:ext cx="1450000" cy="350000"/>
          </a:xfrm>
          <a:prstGeom prst="rect">
            <a:avLst/>
          </a:prstGeom>
          <a:noFill/>
        </p:spPr>
        <p:txBody>
          <a:bodyPr wrap="square" lIns="0" tIns="0" rIns="0" bIns="0">
            <a:spAutoFit/>
          </a:bodyPr>
          <a:lstStyle/>
          <a:p>
            <a:pPr>
              <a:spcAft>
                <a:spcPts val="0"/>
              </a:spcAft>
            </a:pPr>
            <a:r>
              <a:rPr sz="1300" b="1">
                <a:solidFill>
                  <a:srgbClr val="1E2761"/>
                </a:solidFill>
                <a:latin typeface="Calibri"/>
              </a:rPr>
              <a:t>Layer</a:t>
            </a:r>
          </a:p>
        </p:txBody>
      </p:sp>
      <p:sp>
        <p:nvSpPr>
          <p:cNvPr id="5" name="TextBox 4"/>
          <p:cNvSpPr txBox="1"/>
          <p:nvPr/>
        </p:nvSpPr>
        <p:spPr>
          <a:xfrm>
            <a:off x="2252920" y="1500000"/>
            <a:ext cx="4450000" cy="350000"/>
          </a:xfrm>
          <a:prstGeom prst="rect">
            <a:avLst/>
          </a:prstGeom>
          <a:noFill/>
        </p:spPr>
        <p:txBody>
          <a:bodyPr wrap="square" lIns="0" tIns="0" rIns="0" bIns="0">
            <a:spAutoFit/>
          </a:bodyPr>
          <a:lstStyle/>
          <a:p>
            <a:pPr>
              <a:spcAft>
                <a:spcPts val="0"/>
              </a:spcAft>
            </a:pPr>
            <a:r>
              <a:rPr sz="1300" b="1">
                <a:solidFill>
                  <a:srgbClr val="1E2761"/>
                </a:solidFill>
                <a:latin typeface="Calibri"/>
              </a:rPr>
              <a:t>What a second run does</a:t>
            </a:r>
          </a:p>
        </p:txBody>
      </p:sp>
      <p:sp>
        <p:nvSpPr>
          <p:cNvPr id="6" name="TextBox 5"/>
          <p:cNvSpPr txBox="1"/>
          <p:nvPr/>
        </p:nvSpPr>
        <p:spPr>
          <a:xfrm>
            <a:off x="6852920" y="1500000"/>
            <a:ext cx="4450000" cy="350000"/>
          </a:xfrm>
          <a:prstGeom prst="rect">
            <a:avLst/>
          </a:prstGeom>
          <a:noFill/>
        </p:spPr>
        <p:txBody>
          <a:bodyPr wrap="square" lIns="0" tIns="0" rIns="0" bIns="0">
            <a:spAutoFit/>
          </a:bodyPr>
          <a:lstStyle/>
          <a:p>
            <a:pPr>
              <a:spcAft>
                <a:spcPts val="0"/>
              </a:spcAft>
            </a:pPr>
            <a:r>
              <a:rPr sz="1300" b="1">
                <a:solidFill>
                  <a:srgbClr val="1E2761"/>
                </a:solidFill>
                <a:latin typeface="Calibri"/>
              </a:rPr>
              <a:t>Is that OK?</a:t>
            </a:r>
          </a:p>
        </p:txBody>
      </p:sp>
      <p:sp>
        <p:nvSpPr>
          <p:cNvPr id="7" name="Rounded Rectangle 6"/>
          <p:cNvSpPr/>
          <p:nvPr/>
        </p:nvSpPr>
        <p:spPr>
          <a:xfrm>
            <a:off x="502920" y="1950000"/>
            <a:ext cx="10800000" cy="105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52920" y="2100000"/>
            <a:ext cx="1350000" cy="750000"/>
          </a:xfrm>
          <a:prstGeom prst="rect">
            <a:avLst/>
          </a:prstGeom>
          <a:noFill/>
        </p:spPr>
        <p:txBody>
          <a:bodyPr wrap="square" lIns="0" tIns="0" rIns="0" bIns="0">
            <a:spAutoFit/>
          </a:bodyPr>
          <a:lstStyle/>
          <a:p>
            <a:pPr>
              <a:spcAft>
                <a:spcPts val="0"/>
              </a:spcAft>
            </a:pPr>
            <a:r>
              <a:rPr sz="1300" b="1">
                <a:solidFill>
                  <a:srgbClr val="1E2761"/>
                </a:solidFill>
                <a:latin typeface="Calibri"/>
              </a:rPr>
              <a:t>raw__</a:t>
            </a:r>
          </a:p>
        </p:txBody>
      </p:sp>
      <p:sp>
        <p:nvSpPr>
          <p:cNvPr id="9" name="TextBox 8"/>
          <p:cNvSpPr txBox="1"/>
          <p:nvPr/>
        </p:nvSpPr>
        <p:spPr>
          <a:xfrm>
            <a:off x="2252920" y="2100000"/>
            <a:ext cx="4350000" cy="750000"/>
          </a:xfrm>
          <a:prstGeom prst="rect">
            <a:avLst/>
          </a:prstGeom>
          <a:noFill/>
        </p:spPr>
        <p:txBody>
          <a:bodyPr wrap="square" lIns="0" tIns="0" rIns="0" bIns="0">
            <a:spAutoFit/>
          </a:bodyPr>
          <a:lstStyle/>
          <a:p>
            <a:pPr>
              <a:spcAft>
                <a:spcPts val="0"/>
              </a:spcAft>
            </a:pPr>
            <a:r>
              <a:rPr sz="1300" b="0">
                <a:solidFill>
                  <a:srgbClr val="44506B"/>
                </a:solidFill>
                <a:latin typeface="Calibri"/>
              </a:rPr>
              <a:t>Writes another row. No unique constraint on the natural key.</a:t>
            </a:r>
          </a:p>
        </p:txBody>
      </p:sp>
      <p:sp>
        <p:nvSpPr>
          <p:cNvPr id="10" name="TextBox 9"/>
          <p:cNvSpPr txBox="1"/>
          <p:nvPr/>
        </p:nvSpPr>
        <p:spPr>
          <a:xfrm>
            <a:off x="6852920" y="2100000"/>
            <a:ext cx="4350000" cy="750000"/>
          </a:xfrm>
          <a:prstGeom prst="rect">
            <a:avLst/>
          </a:prstGeom>
          <a:noFill/>
        </p:spPr>
        <p:txBody>
          <a:bodyPr wrap="square" lIns="0" tIns="0" rIns="0" bIns="0">
            <a:spAutoFit/>
          </a:bodyPr>
          <a:lstStyle/>
          <a:p>
            <a:pPr>
              <a:spcAft>
                <a:spcPts val="0"/>
              </a:spcAft>
            </a:pPr>
            <a:r>
              <a:rPr sz="1300" b="0">
                <a:solidFill>
                  <a:srgbClr val="44506B"/>
                </a:solidFill>
                <a:latin typeface="Calibri"/>
              </a:rPr>
              <a:t>Yes — intended. Bronze is an append-only log of what a source said, and when you asked.</a:t>
            </a:r>
          </a:p>
        </p:txBody>
      </p:sp>
      <p:sp>
        <p:nvSpPr>
          <p:cNvPr id="11" name="Rounded Rectangle 10"/>
          <p:cNvSpPr/>
          <p:nvPr/>
        </p:nvSpPr>
        <p:spPr>
          <a:xfrm>
            <a:off x="502920" y="3100000"/>
            <a:ext cx="10800000" cy="105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52920" y="3250000"/>
            <a:ext cx="1350000" cy="750000"/>
          </a:xfrm>
          <a:prstGeom prst="rect">
            <a:avLst/>
          </a:prstGeom>
          <a:noFill/>
        </p:spPr>
        <p:txBody>
          <a:bodyPr wrap="square" lIns="0" tIns="0" rIns="0" bIns="0">
            <a:spAutoFit/>
          </a:bodyPr>
          <a:lstStyle/>
          <a:p>
            <a:pPr>
              <a:spcAft>
                <a:spcPts val="0"/>
              </a:spcAft>
            </a:pPr>
            <a:r>
              <a:rPr sz="1300" b="1">
                <a:solidFill>
                  <a:srgbClr val="1E2761"/>
                </a:solidFill>
                <a:latin typeface="Calibri"/>
              </a:rPr>
              <a:t>stg__ view</a:t>
            </a:r>
          </a:p>
        </p:txBody>
      </p:sp>
      <p:sp>
        <p:nvSpPr>
          <p:cNvPr id="13" name="TextBox 12"/>
          <p:cNvSpPr txBox="1"/>
          <p:nvPr/>
        </p:nvSpPr>
        <p:spPr>
          <a:xfrm>
            <a:off x="2252920" y="3250000"/>
            <a:ext cx="4350000" cy="750000"/>
          </a:xfrm>
          <a:prstGeom prst="rect">
            <a:avLst/>
          </a:prstGeom>
          <a:noFill/>
        </p:spPr>
        <p:txBody>
          <a:bodyPr wrap="square" lIns="0" tIns="0" rIns="0" bIns="0">
            <a:spAutoFit/>
          </a:bodyPr>
          <a:lstStyle/>
          <a:p>
            <a:pPr>
              <a:spcAft>
                <a:spcPts val="0"/>
              </a:spcAft>
            </a:pPr>
            <a:r>
              <a:rPr sz="1300" b="0">
                <a:solidFill>
                  <a:srgbClr val="44506B"/>
                </a:solidFill>
                <a:latin typeface="Calibri"/>
              </a:rPr>
              <a:t>Nothing. DISTINCT ON picks the newest ingestion per key.</a:t>
            </a:r>
          </a:p>
        </p:txBody>
      </p:sp>
      <p:sp>
        <p:nvSpPr>
          <p:cNvPr id="14" name="TextBox 13"/>
          <p:cNvSpPr txBox="1"/>
          <p:nvPr/>
        </p:nvSpPr>
        <p:spPr>
          <a:xfrm>
            <a:off x="6852920" y="3250000"/>
            <a:ext cx="4350000" cy="750000"/>
          </a:xfrm>
          <a:prstGeom prst="rect">
            <a:avLst/>
          </a:prstGeom>
          <a:noFill/>
        </p:spPr>
        <p:txBody>
          <a:bodyPr wrap="square" lIns="0" tIns="0" rIns="0" bIns="0">
            <a:spAutoFit/>
          </a:bodyPr>
          <a:lstStyle/>
          <a:p>
            <a:pPr>
              <a:spcAft>
                <a:spcPts val="0"/>
              </a:spcAft>
            </a:pPr>
            <a:r>
              <a:rPr sz="1300" b="0">
                <a:solidFill>
                  <a:srgbClr val="44506B"/>
                </a:solidFill>
                <a:latin typeface="Calibri"/>
              </a:rPr>
              <a:t>This is where duplicates get resolved.</a:t>
            </a:r>
          </a:p>
        </p:txBody>
      </p:sp>
      <p:sp>
        <p:nvSpPr>
          <p:cNvPr id="15" name="Rounded Rectangle 14"/>
          <p:cNvSpPr/>
          <p:nvPr/>
        </p:nvSpPr>
        <p:spPr>
          <a:xfrm>
            <a:off x="502920" y="4250000"/>
            <a:ext cx="10800000" cy="105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52920" y="4400000"/>
            <a:ext cx="1350000" cy="750000"/>
          </a:xfrm>
          <a:prstGeom prst="rect">
            <a:avLst/>
          </a:prstGeom>
          <a:noFill/>
        </p:spPr>
        <p:txBody>
          <a:bodyPr wrap="square" lIns="0" tIns="0" rIns="0" bIns="0">
            <a:spAutoFit/>
          </a:bodyPr>
          <a:lstStyle/>
          <a:p>
            <a:pPr>
              <a:spcAft>
                <a:spcPts val="0"/>
              </a:spcAft>
            </a:pPr>
            <a:r>
              <a:rPr sz="1300" b="1">
                <a:solidFill>
                  <a:srgbClr val="1E2761"/>
                </a:solidFill>
                <a:latin typeface="Calibri"/>
              </a:rPr>
              <a:t>The test</a:t>
            </a:r>
          </a:p>
        </p:txBody>
      </p:sp>
      <p:sp>
        <p:nvSpPr>
          <p:cNvPr id="17" name="TextBox 16"/>
          <p:cNvSpPr txBox="1"/>
          <p:nvPr/>
        </p:nvSpPr>
        <p:spPr>
          <a:xfrm>
            <a:off x="2252920" y="4400000"/>
            <a:ext cx="4350000" cy="750000"/>
          </a:xfrm>
          <a:prstGeom prst="rect">
            <a:avLst/>
          </a:prstGeom>
          <a:noFill/>
        </p:spPr>
        <p:txBody>
          <a:bodyPr wrap="square" lIns="0" tIns="0" rIns="0" bIns="0">
            <a:spAutoFit/>
          </a:bodyPr>
          <a:lstStyle/>
          <a:p>
            <a:pPr>
              <a:spcAft>
                <a:spcPts val="0"/>
              </a:spcAft>
            </a:pPr>
            <a:r>
              <a:rPr sz="1300" b="0">
                <a:solidFill>
                  <a:srgbClr val="44506B"/>
                </a:solidFill>
                <a:latin typeface="Calibri"/>
              </a:rPr>
              <a:t>Run the job twice, then compare counts.</a:t>
            </a:r>
          </a:p>
        </p:txBody>
      </p:sp>
      <p:sp>
        <p:nvSpPr>
          <p:cNvPr id="18" name="TextBox 17"/>
          <p:cNvSpPr txBox="1"/>
          <p:nvPr/>
        </p:nvSpPr>
        <p:spPr>
          <a:xfrm>
            <a:off x="6852920" y="4400000"/>
            <a:ext cx="4350000" cy="750000"/>
          </a:xfrm>
          <a:prstGeom prst="rect">
            <a:avLst/>
          </a:prstGeom>
          <a:noFill/>
        </p:spPr>
        <p:txBody>
          <a:bodyPr wrap="square" lIns="0" tIns="0" rIns="0" bIns="0">
            <a:spAutoFit/>
          </a:bodyPr>
          <a:lstStyle/>
          <a:p>
            <a:pPr>
              <a:spcAft>
                <a:spcPts val="0"/>
              </a:spcAft>
            </a:pPr>
            <a:r>
              <a:rPr sz="1300" b="0">
                <a:solidFill>
                  <a:srgbClr val="44506B"/>
                </a:solidFill>
                <a:latin typeface="Calibri"/>
              </a:rPr>
              <a:t>raw must grow, stg must not. Counting raw rows alone tells you nothing.</a:t>
            </a:r>
          </a:p>
        </p:txBody>
      </p:sp>
      <p:sp>
        <p:nvSpPr>
          <p:cNvPr id="20" name="TextBox 19"/>
          <p:cNvSpPr txBox="1"/>
          <p:nvPr/>
        </p:nvSpPr>
        <p:spPr>
          <a:xfrm>
            <a:off x="502920" y="6510528"/>
            <a:ext cx="4572000" cy="274320"/>
          </a:xfrm>
          <a:prstGeom prst="rect">
            <a:avLst/>
          </a:prstGeom>
          <a:noFill/>
        </p:spPr>
        <p:txBody>
          <a:bodyPr wrap="square" lIns="0" tIns="0" rIns="0" bIns="0">
            <a:spAutoFit/>
          </a:bodyPr>
          <a:lstStyle/>
          <a:p>
            <a:pPr>
              <a:spcAft>
                <a:spcPts val="0"/>
              </a:spcAft>
            </a:pPr>
            <a:r>
              <a:rPr sz="900" b="0">
                <a:solidFill>
                  <a:srgbClr val="9AA6C4"/>
                </a:solidFill>
                <a:latin typeface="Calibri"/>
              </a:rPr>
              <a:t>Data Engineering och Agila metoder · Week 4</a:t>
            </a:r>
          </a:p>
        </p:txBody>
      </p:sp>
      <p:sp>
        <p:nvSpPr>
          <p:cNvPr id="21" name="TextBox 20"/>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spcAft>
                <a:spcPts val="0"/>
              </a:spcAft>
            </a:pPr>
            <a:r>
              <a:rPr sz="1200" b="1">
                <a:solidFill>
                  <a:srgbClr val="F2994A"/>
                </a:solidFill>
                <a:latin typeface="Calibri"/>
              </a:rPr>
              <a:t>GITHUB ACTIONS</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spcAft>
                <a:spcPts val="0"/>
              </a:spcAft>
            </a:pPr>
            <a:r>
              <a:rPr sz="2600" b="1">
                <a:solidFill>
                  <a:srgbClr val="1E2761"/>
                </a:solidFill>
                <a:latin typeface="Calibri"/>
              </a:rPr>
              <a:t>Making failure visible</a:t>
            </a:r>
          </a:p>
        </p:txBody>
      </p:sp>
      <p:sp>
        <p:nvSpPr>
          <p:cNvPr id="4" name="TextBox 3"/>
          <p:cNvSpPr txBox="1"/>
          <p:nvPr/>
        </p:nvSpPr>
        <p:spPr>
          <a:xfrm>
            <a:off x="502920" y="1500000"/>
            <a:ext cx="10800000" cy="4200000"/>
          </a:xfrm>
          <a:prstGeom prst="rect">
            <a:avLst/>
          </a:prstGeom>
          <a:noFill/>
        </p:spPr>
        <p:txBody>
          <a:bodyPr wrap="square" lIns="0" tIns="0" rIns="0" bIns="0">
            <a:spAutoFit/>
          </a:bodyPr>
          <a:lstStyle/>
          <a:p>
            <a:pPr>
              <a:lnSpc>
                <a:spcPct val="115000"/>
              </a:lnSpc>
              <a:spcAft>
                <a:spcPts val="1000"/>
              </a:spcAft>
            </a:pPr>
            <a:r>
              <a:rPr sz="1500" b="1">
                <a:solidFill>
                  <a:srgbClr val="44506B"/>
                </a:solidFill>
                <a:latin typeface="Calibri"/>
              </a:rPr>
              <a:t>•  Decide who finds out, and how.</a:t>
            </a:r>
            <a:r>
              <a:rPr sz="1500">
                <a:solidFill>
                  <a:srgbClr val="44506B"/>
                </a:solidFill>
                <a:latin typeface="Calibri"/>
              </a:rPr>
              <a:t>  GitHub emails you on a failed workflow by default. Confirm it actually reaches someone.</a:t>
            </a:r>
          </a:p>
          <a:p>
            <a:pPr>
              <a:lnSpc>
                <a:spcPct val="115000"/>
              </a:lnSpc>
              <a:spcAft>
                <a:spcPts val="1000"/>
              </a:spcAft>
            </a:pPr>
            <a:r>
              <a:rPr sz="1500" b="1">
                <a:solidFill>
                  <a:srgbClr val="44506B"/>
                </a:solidFill>
                <a:latin typeface="Calibri"/>
              </a:rPr>
              <a:t>•  Log the outcome, not the attempt.</a:t>
            </a:r>
            <a:r>
              <a:rPr sz="1500">
                <a:solidFill>
                  <a:srgbClr val="44506B"/>
                </a:solidFill>
                <a:latin typeface="Calibri"/>
              </a:rPr>
              <a:t>  "Wrote 96 rows for 2026-09-03" is useful. "Starting ingestion" is not.</a:t>
            </a:r>
          </a:p>
          <a:p>
            <a:pPr>
              <a:lnSpc>
                <a:spcPct val="115000"/>
              </a:lnSpc>
              <a:spcAft>
                <a:spcPts val="1000"/>
              </a:spcAft>
            </a:pPr>
            <a:r>
              <a:rPr sz="1500" b="1">
                <a:solidFill>
                  <a:srgbClr val="44506B"/>
                </a:solidFill>
                <a:latin typeface="Calibri"/>
              </a:rPr>
              <a:t>•  Write the run into a table.</a:t>
            </a:r>
            <a:r>
              <a:rPr sz="1500">
                <a:solidFill>
                  <a:srgbClr val="44506B"/>
                </a:solidFill>
                <a:latin typeface="Calibri"/>
              </a:rPr>
              <a:t>  One row per run: timestamp, rows written, checks fired. Now failure is queryable instead of archaeological.</a:t>
            </a:r>
          </a:p>
          <a:p>
            <a:pPr>
              <a:lnSpc>
                <a:spcPct val="115000"/>
              </a:lnSpc>
              <a:spcAft>
                <a:spcPts val="1000"/>
              </a:spcAft>
            </a:pPr>
            <a:r>
              <a:rPr sz="1500" b="1">
                <a:solidFill>
                  <a:srgbClr val="44506B"/>
                </a:solidFill>
                <a:latin typeface="Calibri"/>
              </a:rPr>
              <a:t>•  Record the passing runs too.</a:t>
            </a:r>
            <a:r>
              <a:rPr sz="1500">
                <a:solidFill>
                  <a:srgbClr val="44506B"/>
                </a:solidFill>
                <a:latin typeface="Calibri"/>
              </a:rPr>
              <a:t>  You cannot see a trend in a table that only contains disasters.</a:t>
            </a:r>
          </a:p>
        </p:txBody>
      </p:sp>
      <p:sp>
        <p:nvSpPr>
          <p:cNvPr id="6" name="TextBox 5"/>
          <p:cNvSpPr txBox="1"/>
          <p:nvPr/>
        </p:nvSpPr>
        <p:spPr>
          <a:xfrm>
            <a:off x="502920" y="6510528"/>
            <a:ext cx="4572000" cy="274320"/>
          </a:xfrm>
          <a:prstGeom prst="rect">
            <a:avLst/>
          </a:prstGeom>
          <a:noFill/>
        </p:spPr>
        <p:txBody>
          <a:bodyPr wrap="square" lIns="0" tIns="0" rIns="0" bIns="0">
            <a:spAutoFit/>
          </a:bodyPr>
          <a:lstStyle/>
          <a:p>
            <a:pPr>
              <a:spcAft>
                <a:spcPts val="0"/>
              </a:spcAft>
            </a:pPr>
            <a:r>
              <a:rPr sz="900" b="0">
                <a:solidFill>
                  <a:srgbClr val="9AA6C4"/>
                </a:solidFill>
                <a:latin typeface="Calibri"/>
              </a:rPr>
              <a:t>Data Engineering och Agila metoder · Week 4</a:t>
            </a:r>
          </a:p>
        </p:txBody>
      </p:sp>
      <p:sp>
        <p:nvSpPr>
          <p:cNvPr id="7" name="TextBox 6"/>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640080" y="3200000"/>
            <a:ext cx="10000000" cy="1000000"/>
          </a:xfrm>
          <a:prstGeom prst="rect">
            <a:avLst/>
          </a:prstGeom>
          <a:noFill/>
        </p:spPr>
        <p:txBody>
          <a:bodyPr wrap="square" lIns="0" tIns="0" rIns="0" bIns="0">
            <a:spAutoFit/>
          </a:bodyPr>
          <a:lstStyle/>
          <a:p>
            <a:pPr>
              <a:spcAft>
                <a:spcPts val="0"/>
              </a:spcAft>
            </a:pPr>
            <a:r>
              <a:rPr sz="3400" b="1">
                <a:solidFill>
                  <a:srgbClr val="FFFFFF"/>
                </a:solidFill>
                <a:latin typeface="Calibri"/>
              </a:rPr>
              <a:t>The rest of the morning</a:t>
            </a:r>
          </a:p>
        </p:txBody>
      </p:sp>
      <p:sp>
        <p:nvSpPr>
          <p:cNvPr id="3" name="TextBox 2"/>
          <p:cNvSpPr txBox="1"/>
          <p:nvPr/>
        </p:nvSpPr>
        <p:spPr>
          <a:xfrm>
            <a:off x="640080" y="4250000"/>
            <a:ext cx="9500000" cy="900000"/>
          </a:xfrm>
          <a:prstGeom prst="rect">
            <a:avLst/>
          </a:prstGeom>
          <a:noFill/>
        </p:spPr>
        <p:txBody>
          <a:bodyPr wrap="square" lIns="0" tIns="0" rIns="0" bIns="0">
            <a:spAutoFit/>
          </a:bodyPr>
          <a:lstStyle/>
          <a:p>
            <a:pPr>
              <a:spcAft>
                <a:spcPts val="0"/>
              </a:spcAft>
            </a:pPr>
            <a:r>
              <a:rPr sz="1500" b="0">
                <a:solidFill>
                  <a:srgbClr val="CADCFC"/>
                </a:solidFill>
                <a:latin typeface="Calibri"/>
              </a:rPr>
              <a:t>Not a separate exercise — the first hour of the sprint task, with the fiddly parts handed to you.</a:t>
            </a:r>
          </a:p>
        </p:txBody>
      </p:sp>
      <p:sp>
        <p:nvSpPr>
          <p:cNvPr id="4" name="TextBox 3"/>
          <p:cNvSpPr txBox="1"/>
          <p:nvPr/>
        </p:nvSpPr>
        <p:spPr>
          <a:xfrm>
            <a:off x="502920" y="6510528"/>
            <a:ext cx="4572000" cy="274320"/>
          </a:xfrm>
          <a:prstGeom prst="rect">
            <a:avLst/>
          </a:prstGeom>
          <a:noFill/>
        </p:spPr>
        <p:txBody>
          <a:bodyPr wrap="square" lIns="0" tIns="0" rIns="0" bIns="0">
            <a:spAutoFit/>
          </a:bodyPr>
          <a:lstStyle/>
          <a:p>
            <a:pPr>
              <a:spcAft>
                <a:spcPts val="0"/>
              </a:spcAft>
            </a:pPr>
            <a:r>
              <a:rPr sz="900" b="0">
                <a:solidFill>
                  <a:srgbClr val="9AA6C4"/>
                </a:solidFill>
                <a:latin typeface="Calibri"/>
              </a:rPr>
              <a:t>Data Engineering och Agila metoder · Week 4</a:t>
            </a:r>
          </a:p>
        </p:txBody>
      </p:sp>
      <p:sp>
        <p:nvSpPr>
          <p:cNvPr id="5" name="TextBox 4"/>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spcAft>
                <a:spcPts val="0"/>
              </a:spcAft>
            </a:pPr>
            <a:r>
              <a:rPr sz="1200" b="1">
                <a:solidFill>
                  <a:srgbClr val="F2994A"/>
                </a:solidFill>
                <a:latin typeface="Calibri"/>
              </a:rPr>
              <a:t>SPRINT WORK · NOT AN EXERCISE</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spcAft>
                <a:spcPts val="0"/>
              </a:spcAft>
            </a:pPr>
            <a:r>
              <a:rPr sz="2600" b="1">
                <a:solidFill>
                  <a:srgbClr val="1E2761"/>
                </a:solidFill>
                <a:latin typeface="Calibri"/>
              </a:rPr>
              <a:t>Get the ingestion running by itself</a:t>
            </a:r>
          </a:p>
        </p:txBody>
      </p:sp>
      <p:sp>
        <p:nvSpPr>
          <p:cNvPr id="6" name="Rounded Rectangle 5"/>
          <p:cNvSpPr/>
          <p:nvPr/>
        </p:nvSpPr>
        <p:spPr>
          <a:xfrm>
            <a:off x="502920" y="1900000"/>
            <a:ext cx="10800000" cy="295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00000" y="2080000"/>
            <a:ext cx="10400000" cy="1640898"/>
          </a:xfrm>
          <a:prstGeom prst="rect">
            <a:avLst/>
          </a:prstGeom>
          <a:noFill/>
        </p:spPr>
        <p:txBody>
          <a:bodyPr wrap="square" lIns="0" tIns="0" rIns="0" bIns="0">
            <a:spAutoFit/>
          </a:bodyPr>
          <a:lstStyle/>
          <a:p>
            <a:pPr>
              <a:lnSpc>
                <a:spcPct val="110000"/>
              </a:lnSpc>
              <a:spcAft>
                <a:spcPts val="900"/>
              </a:spcAft>
            </a:pPr>
            <a:r>
              <a:rPr sz="1400" b="1" dirty="0">
                <a:solidFill>
                  <a:srgbClr val="1E2761"/>
                </a:solidFill>
                <a:latin typeface="Calibri"/>
              </a:rPr>
              <a:t>1.  </a:t>
            </a:r>
            <a:r>
              <a:rPr lang="sv-SE" sz="1400" dirty="0">
                <a:solidFill>
                  <a:srgbClr val="44506B"/>
                </a:solidFill>
                <a:latin typeface="Calibri"/>
              </a:rPr>
              <a:t>Make </a:t>
            </a:r>
            <a:r>
              <a:rPr lang="sv-SE" sz="1400" dirty="0" err="1">
                <a:solidFill>
                  <a:srgbClr val="44506B"/>
                </a:solidFill>
                <a:latin typeface="Calibri"/>
              </a:rPr>
              <a:t>your</a:t>
            </a:r>
            <a:r>
              <a:rPr lang="sv-SE" sz="1400" dirty="0">
                <a:solidFill>
                  <a:srgbClr val="44506B"/>
                </a:solidFill>
                <a:latin typeface="Calibri"/>
              </a:rPr>
              <a:t> </a:t>
            </a:r>
            <a:r>
              <a:rPr sz="1400" dirty="0">
                <a:solidFill>
                  <a:srgbClr val="44506B"/>
                </a:solidFill>
                <a:latin typeface="Calibri"/>
              </a:rPr>
              <a:t>ingestion a function</a:t>
            </a:r>
            <a:r>
              <a:rPr lang="sv-SE" sz="1400" dirty="0">
                <a:solidFill>
                  <a:srgbClr val="44506B"/>
                </a:solidFill>
                <a:latin typeface="Calibri"/>
              </a:rPr>
              <a:t> </a:t>
            </a:r>
            <a:r>
              <a:rPr lang="sv-SE" sz="1400" dirty="0" err="1">
                <a:solidFill>
                  <a:srgbClr val="44506B"/>
                </a:solidFill>
                <a:latin typeface="Calibri"/>
              </a:rPr>
              <a:t>instead</a:t>
            </a:r>
            <a:r>
              <a:rPr lang="sv-SE" sz="1400" dirty="0">
                <a:solidFill>
                  <a:srgbClr val="44506B"/>
                </a:solidFill>
                <a:latin typeface="Calibri"/>
              </a:rPr>
              <a:t> </a:t>
            </a:r>
            <a:r>
              <a:rPr lang="sv-SE" sz="1400" dirty="0" err="1">
                <a:solidFill>
                  <a:srgbClr val="44506B"/>
                </a:solidFill>
                <a:latin typeface="Calibri"/>
              </a:rPr>
              <a:t>of</a:t>
            </a:r>
            <a:r>
              <a:rPr sz="1400" dirty="0">
                <a:solidFill>
                  <a:srgbClr val="44506B"/>
                </a:solidFill>
                <a:latin typeface="Calibri"/>
              </a:rPr>
              <a:t> an endpoint. Pull the body out of the </a:t>
            </a:r>
            <a:r>
              <a:rPr sz="1400" dirty="0" err="1">
                <a:solidFill>
                  <a:srgbClr val="44506B"/>
                </a:solidFill>
                <a:latin typeface="Calibri"/>
              </a:rPr>
              <a:t>FastAPI</a:t>
            </a:r>
            <a:r>
              <a:rPr sz="1400" dirty="0">
                <a:solidFill>
                  <a:srgbClr val="44506B"/>
                </a:solidFill>
                <a:latin typeface="Calibri"/>
              </a:rPr>
              <a:t> route into </a:t>
            </a:r>
            <a:r>
              <a:rPr sz="1400" dirty="0" err="1">
                <a:solidFill>
                  <a:srgbClr val="44506B"/>
                </a:solidFill>
                <a:latin typeface="Calibri"/>
              </a:rPr>
              <a:t>ingest_prices</a:t>
            </a:r>
            <a:r>
              <a:rPr sz="1400" dirty="0">
                <a:solidFill>
                  <a:srgbClr val="44506B"/>
                </a:solidFill>
                <a:latin typeface="Calibri"/>
              </a:rPr>
              <a:t>(conn, area, day) that returns the number of rows it wrote.</a:t>
            </a:r>
          </a:p>
          <a:p>
            <a:pPr>
              <a:lnSpc>
                <a:spcPct val="110000"/>
              </a:lnSpc>
              <a:spcAft>
                <a:spcPts val="900"/>
              </a:spcAft>
            </a:pPr>
            <a:r>
              <a:rPr sz="1400" b="1" dirty="0">
                <a:solidFill>
                  <a:srgbClr val="1E2761"/>
                </a:solidFill>
                <a:latin typeface="Calibri"/>
              </a:rPr>
              <a:t>2.  </a:t>
            </a:r>
            <a:r>
              <a:rPr lang="sv-SE" sz="1400" dirty="0">
                <a:solidFill>
                  <a:srgbClr val="44506B"/>
                </a:solidFill>
                <a:latin typeface="Calibri"/>
              </a:rPr>
              <a:t>I</a:t>
            </a:r>
            <a:r>
              <a:rPr sz="1400" dirty="0" err="1">
                <a:solidFill>
                  <a:srgbClr val="44506B"/>
                </a:solidFill>
                <a:latin typeface="Calibri"/>
              </a:rPr>
              <a:t>ngest</a:t>
            </a:r>
            <a:r>
              <a:rPr sz="1400" dirty="0">
                <a:solidFill>
                  <a:srgbClr val="44506B"/>
                </a:solidFill>
                <a:latin typeface="Calibri"/>
              </a:rPr>
              <a:t> a window</a:t>
            </a:r>
            <a:r>
              <a:rPr lang="sv-SE" sz="1400" dirty="0">
                <a:solidFill>
                  <a:srgbClr val="44506B"/>
                </a:solidFill>
                <a:latin typeface="Calibri"/>
              </a:rPr>
              <a:t> </a:t>
            </a:r>
            <a:r>
              <a:rPr lang="sv-SE" sz="1400" dirty="0" err="1">
                <a:solidFill>
                  <a:srgbClr val="44506B"/>
                </a:solidFill>
                <a:latin typeface="Calibri"/>
              </a:rPr>
              <a:t>of</a:t>
            </a:r>
            <a:r>
              <a:rPr lang="sv-SE" sz="1400" dirty="0">
                <a:solidFill>
                  <a:srgbClr val="44506B"/>
                </a:solidFill>
                <a:latin typeface="Calibri"/>
              </a:rPr>
              <a:t> dates</a:t>
            </a:r>
            <a:r>
              <a:rPr sz="1400" dirty="0">
                <a:solidFill>
                  <a:srgbClr val="44506B"/>
                </a:solidFill>
                <a:latin typeface="Calibri"/>
              </a:rPr>
              <a:t>. Copy </a:t>
            </a:r>
            <a:r>
              <a:rPr sz="1400" dirty="0" err="1">
                <a:solidFill>
                  <a:srgbClr val="44506B"/>
                </a:solidFill>
                <a:latin typeface="Calibri"/>
              </a:rPr>
              <a:t>daily_ingest.py</a:t>
            </a:r>
            <a:r>
              <a:rPr sz="1400" dirty="0">
                <a:solidFill>
                  <a:srgbClr val="44506B"/>
                </a:solidFill>
                <a:latin typeface="Calibri"/>
              </a:rPr>
              <a:t> to the ROOT of your repo (not data/, or the import fails), fill in the two calls, run it for the last 7 days. </a:t>
            </a:r>
            <a:endParaRPr lang="sv-SE" sz="1400" dirty="0">
              <a:solidFill>
                <a:srgbClr val="44506B"/>
              </a:solidFill>
              <a:latin typeface="Calibri"/>
            </a:endParaRPr>
          </a:p>
          <a:p>
            <a:pPr>
              <a:lnSpc>
                <a:spcPct val="110000"/>
              </a:lnSpc>
              <a:spcAft>
                <a:spcPts val="900"/>
              </a:spcAft>
            </a:pPr>
            <a:r>
              <a:rPr sz="1400" b="1" dirty="0">
                <a:solidFill>
                  <a:srgbClr val="1E2761"/>
                </a:solidFill>
                <a:latin typeface="Calibri"/>
              </a:rPr>
              <a:t>3.  </a:t>
            </a:r>
            <a:r>
              <a:rPr lang="sv-SE" sz="1400" dirty="0">
                <a:solidFill>
                  <a:srgbClr val="44506B"/>
                </a:solidFill>
                <a:latin typeface="Calibri"/>
              </a:rPr>
              <a:t>Make it </a:t>
            </a:r>
            <a:r>
              <a:rPr sz="1400" dirty="0">
                <a:solidFill>
                  <a:srgbClr val="44506B"/>
                </a:solidFill>
                <a:latin typeface="Calibri"/>
              </a:rPr>
              <a:t>run without you. Copy </a:t>
            </a:r>
            <a:r>
              <a:rPr sz="1400" dirty="0" err="1">
                <a:solidFill>
                  <a:srgbClr val="44506B"/>
                </a:solidFill>
                <a:latin typeface="Calibri"/>
              </a:rPr>
              <a:t>ingest.yml</a:t>
            </a:r>
            <a:r>
              <a:rPr sz="1400" dirty="0">
                <a:solidFill>
                  <a:srgbClr val="44506B"/>
                </a:solidFill>
                <a:latin typeface="Calibri"/>
              </a:rPr>
              <a:t>, put DATABASE_URL in Actions secrets and PRICE_AREA in Actions variables, then press Run workflow and watch it.</a:t>
            </a:r>
          </a:p>
        </p:txBody>
      </p:sp>
      <p:sp>
        <p:nvSpPr>
          <p:cNvPr id="8" name="Rounded Rectangle 7"/>
          <p:cNvSpPr/>
          <p:nvPr/>
        </p:nvSpPr>
        <p:spPr>
          <a:xfrm>
            <a:off x="502920" y="4990000"/>
            <a:ext cx="10800000" cy="115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00000" y="5100000"/>
            <a:ext cx="10400000" cy="350000"/>
          </a:xfrm>
          <a:prstGeom prst="rect">
            <a:avLst/>
          </a:prstGeom>
          <a:noFill/>
        </p:spPr>
        <p:txBody>
          <a:bodyPr wrap="square" lIns="0" tIns="0" rIns="0" bIns="0">
            <a:spAutoFit/>
          </a:bodyPr>
          <a:lstStyle/>
          <a:p>
            <a:pPr>
              <a:spcAft>
                <a:spcPts val="0"/>
              </a:spcAft>
            </a:pPr>
            <a:r>
              <a:rPr sz="1400" b="1">
                <a:solidFill>
                  <a:srgbClr val="F2994A"/>
                </a:solidFill>
                <a:latin typeface="Calibri"/>
              </a:rPr>
              <a:t>Hand in / write down</a:t>
            </a:r>
          </a:p>
        </p:txBody>
      </p:sp>
      <p:sp>
        <p:nvSpPr>
          <p:cNvPr id="10" name="TextBox 9"/>
          <p:cNvSpPr txBox="1"/>
          <p:nvPr/>
        </p:nvSpPr>
        <p:spPr>
          <a:xfrm>
            <a:off x="700000" y="5430000"/>
            <a:ext cx="10400000" cy="233205"/>
          </a:xfrm>
          <a:prstGeom prst="rect">
            <a:avLst/>
          </a:prstGeom>
          <a:noFill/>
        </p:spPr>
        <p:txBody>
          <a:bodyPr wrap="square" lIns="0" tIns="0" rIns="0" bIns="0">
            <a:spAutoFit/>
          </a:bodyPr>
          <a:lstStyle/>
          <a:p>
            <a:pPr>
              <a:lnSpc>
                <a:spcPct val="115000"/>
              </a:lnSpc>
              <a:spcAft>
                <a:spcPts val="0"/>
              </a:spcAft>
            </a:pPr>
            <a:r>
              <a:rPr sz="1400" b="0" dirty="0">
                <a:solidFill>
                  <a:srgbClr val="1E2761"/>
                </a:solidFill>
                <a:latin typeface="Calibri"/>
              </a:rPr>
              <a:t>A green run in your Actions tab, and the workflow merged to main. </a:t>
            </a:r>
          </a:p>
        </p:txBody>
      </p:sp>
      <p:sp>
        <p:nvSpPr>
          <p:cNvPr id="11" name="TextBox 10"/>
          <p:cNvSpPr txBox="1"/>
          <p:nvPr/>
        </p:nvSpPr>
        <p:spPr>
          <a:xfrm>
            <a:off x="502920" y="6510528"/>
            <a:ext cx="4572000" cy="274320"/>
          </a:xfrm>
          <a:prstGeom prst="rect">
            <a:avLst/>
          </a:prstGeom>
          <a:noFill/>
        </p:spPr>
        <p:txBody>
          <a:bodyPr wrap="square" lIns="0" tIns="0" rIns="0" bIns="0">
            <a:spAutoFit/>
          </a:bodyPr>
          <a:lstStyle/>
          <a:p>
            <a:pPr>
              <a:spcAft>
                <a:spcPts val="0"/>
              </a:spcAft>
            </a:pPr>
            <a:r>
              <a:rPr sz="900" b="0">
                <a:solidFill>
                  <a:srgbClr val="9AA6C4"/>
                </a:solidFill>
                <a:latin typeface="Calibri"/>
              </a:rPr>
              <a:t>Data Engineering och Agila metoder · Week 4</a:t>
            </a:r>
          </a:p>
        </p:txBody>
      </p:sp>
      <p:sp>
        <p:nvSpPr>
          <p:cNvPr id="12" name="TextBox 11"/>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spcAft>
                <a:spcPts val="0"/>
              </a:spcAft>
            </a:pPr>
            <a:r>
              <a:rPr sz="1200" b="1">
                <a:solidFill>
                  <a:srgbClr val="F2994A"/>
                </a:solidFill>
                <a:latin typeface="Calibri"/>
              </a:rPr>
              <a:t>SPRINT WORK</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spcAft>
                <a:spcPts val="0"/>
              </a:spcAft>
            </a:pPr>
            <a:r>
              <a:rPr sz="2600" b="1">
                <a:solidFill>
                  <a:srgbClr val="1E2761"/>
                </a:solidFill>
                <a:latin typeface="Calibri"/>
              </a:rPr>
              <a:t>Worth noticing while you work</a:t>
            </a:r>
          </a:p>
        </p:txBody>
      </p:sp>
      <p:sp>
        <p:nvSpPr>
          <p:cNvPr id="4" name="TextBox 3"/>
          <p:cNvSpPr txBox="1"/>
          <p:nvPr/>
        </p:nvSpPr>
        <p:spPr>
          <a:xfrm>
            <a:off x="502920" y="1500000"/>
            <a:ext cx="10800000" cy="2227341"/>
          </a:xfrm>
          <a:prstGeom prst="rect">
            <a:avLst/>
          </a:prstGeom>
          <a:noFill/>
        </p:spPr>
        <p:txBody>
          <a:bodyPr wrap="square" lIns="0" tIns="0" rIns="0" bIns="0">
            <a:spAutoFit/>
          </a:bodyPr>
          <a:lstStyle/>
          <a:p>
            <a:pPr>
              <a:lnSpc>
                <a:spcPct val="115000"/>
              </a:lnSpc>
              <a:spcAft>
                <a:spcPts val="1000"/>
              </a:spcAft>
            </a:pPr>
            <a:r>
              <a:rPr sz="1500" b="1" dirty="0">
                <a:solidFill>
                  <a:srgbClr val="44506B"/>
                </a:solidFill>
                <a:latin typeface="Calibri"/>
              </a:rPr>
              <a:t>•  Return the row count from your ingest function.</a:t>
            </a:r>
            <a:r>
              <a:rPr sz="1500" dirty="0">
                <a:solidFill>
                  <a:srgbClr val="44506B"/>
                </a:solidFill>
                <a:latin typeface="Calibri"/>
              </a:rPr>
              <a:t>  </a:t>
            </a:r>
            <a:r>
              <a:rPr sz="1500" dirty="0" err="1">
                <a:solidFill>
                  <a:srgbClr val="44506B"/>
                </a:solidFill>
                <a:latin typeface="Calibri"/>
              </a:rPr>
              <a:t>daily_ingest.py</a:t>
            </a:r>
            <a:r>
              <a:rPr sz="1500" dirty="0">
                <a:solidFill>
                  <a:srgbClr val="44506B"/>
                </a:solidFill>
                <a:latin typeface="Calibri"/>
              </a:rPr>
              <a:t> raises</a:t>
            </a:r>
            <a:r>
              <a:rPr lang="sv-SE" sz="1500" dirty="0">
                <a:solidFill>
                  <a:srgbClr val="44506B"/>
                </a:solidFill>
                <a:latin typeface="Calibri"/>
              </a:rPr>
              <a:t> an </a:t>
            </a:r>
            <a:r>
              <a:rPr lang="sv-SE" sz="1500" dirty="0" err="1">
                <a:solidFill>
                  <a:srgbClr val="44506B"/>
                </a:solidFill>
                <a:latin typeface="Calibri"/>
              </a:rPr>
              <a:t>error</a:t>
            </a:r>
            <a:r>
              <a:rPr sz="1500" dirty="0">
                <a:solidFill>
                  <a:srgbClr val="44506B"/>
                </a:solidFill>
                <a:latin typeface="Calibri"/>
              </a:rPr>
              <a:t> if the whole run wrote zero rows. </a:t>
            </a:r>
          </a:p>
          <a:p>
            <a:pPr>
              <a:lnSpc>
                <a:spcPct val="115000"/>
              </a:lnSpc>
              <a:spcAft>
                <a:spcPts val="1000"/>
              </a:spcAft>
            </a:pPr>
            <a:r>
              <a:rPr sz="1500" b="1" dirty="0">
                <a:solidFill>
                  <a:srgbClr val="44506B"/>
                </a:solidFill>
                <a:latin typeface="Calibri"/>
              </a:rPr>
              <a:t>•  DATABASE_URL is a secret. PRICE_AREA is a variable.</a:t>
            </a:r>
            <a:r>
              <a:rPr sz="1500" dirty="0">
                <a:solidFill>
                  <a:srgbClr val="44506B"/>
                </a:solidFill>
                <a:latin typeface="Calibri"/>
              </a:rPr>
              <a:t>  A secret is hidden once saved and masked in the logs. A variable is visible. Your area is not a secret; your connection string very much is.</a:t>
            </a:r>
          </a:p>
          <a:p>
            <a:pPr>
              <a:lnSpc>
                <a:spcPct val="115000"/>
              </a:lnSpc>
              <a:spcAft>
                <a:spcPts val="1000"/>
              </a:spcAft>
            </a:pPr>
            <a:r>
              <a:rPr sz="1500" b="1" dirty="0">
                <a:solidFill>
                  <a:srgbClr val="44506B"/>
                </a:solidFill>
                <a:latin typeface="Calibri"/>
              </a:rPr>
              <a:t>•  Re-fetching a day you already have is fine.</a:t>
            </a:r>
            <a:r>
              <a:rPr sz="1500" dirty="0">
                <a:solidFill>
                  <a:srgbClr val="44506B"/>
                </a:solidFill>
                <a:latin typeface="Calibri"/>
              </a:rPr>
              <a:t>  raw__ is append-only and the staging views pick the newest version. That is what makes a seven-day window safe.</a:t>
            </a:r>
          </a:p>
          <a:p>
            <a:pPr>
              <a:lnSpc>
                <a:spcPct val="115000"/>
              </a:lnSpc>
              <a:spcAft>
                <a:spcPts val="1000"/>
              </a:spcAft>
            </a:pPr>
            <a:r>
              <a:rPr sz="1500" b="1" dirty="0">
                <a:solidFill>
                  <a:srgbClr val="44506B"/>
                </a:solidFill>
                <a:latin typeface="Calibri"/>
              </a:rPr>
              <a:t>•  If you finish early:</a:t>
            </a:r>
            <a:r>
              <a:rPr sz="1500" dirty="0">
                <a:solidFill>
                  <a:srgbClr val="44506B"/>
                </a:solidFill>
                <a:latin typeface="Calibri"/>
              </a:rPr>
              <a:t>  run the ingestion twice and check raw__ grew while stg__ did not. Then break it on purpose — wrong secret name — and see what the failure looks like.</a:t>
            </a:r>
          </a:p>
        </p:txBody>
      </p:sp>
      <p:sp>
        <p:nvSpPr>
          <p:cNvPr id="5" name="TextBox 4"/>
          <p:cNvSpPr txBox="1"/>
          <p:nvPr/>
        </p:nvSpPr>
        <p:spPr>
          <a:xfrm>
            <a:off x="502920" y="6510528"/>
            <a:ext cx="4572000" cy="274320"/>
          </a:xfrm>
          <a:prstGeom prst="rect">
            <a:avLst/>
          </a:prstGeom>
          <a:noFill/>
        </p:spPr>
        <p:txBody>
          <a:bodyPr wrap="square" lIns="0" tIns="0" rIns="0" bIns="0">
            <a:spAutoFit/>
          </a:bodyPr>
          <a:lstStyle/>
          <a:p>
            <a:pPr>
              <a:spcAft>
                <a:spcPts val="0"/>
              </a:spcAft>
            </a:pPr>
            <a:r>
              <a:rPr sz="900" b="0">
                <a:solidFill>
                  <a:srgbClr val="9AA6C4"/>
                </a:solidFill>
                <a:latin typeface="Calibri"/>
              </a:rPr>
              <a:t>Data Engineering och Agila metoder · Week 4</a:t>
            </a:r>
          </a:p>
        </p:txBody>
      </p:sp>
      <p:sp>
        <p:nvSpPr>
          <p:cNvPr id="6" name="TextBox 5"/>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spcAft>
                <a:spcPts val="0"/>
              </a:spcAft>
            </a:pPr>
            <a:r>
              <a:rPr sz="1200" b="1">
                <a:solidFill>
                  <a:srgbClr val="F2994A"/>
                </a:solidFill>
                <a:latin typeface="Calibri"/>
              </a:rPr>
              <a:t>THIS AFTERNOON</a:t>
            </a:r>
          </a:p>
        </p:txBody>
      </p:sp>
      <p:sp>
        <p:nvSpPr>
          <p:cNvPr id="3" name="TextBox 2"/>
          <p:cNvSpPr txBox="1"/>
          <p:nvPr/>
        </p:nvSpPr>
        <p:spPr>
          <a:xfrm>
            <a:off x="502920" y="560000"/>
            <a:ext cx="10800000" cy="400110"/>
          </a:xfrm>
          <a:prstGeom prst="rect">
            <a:avLst/>
          </a:prstGeom>
          <a:noFill/>
        </p:spPr>
        <p:txBody>
          <a:bodyPr wrap="square" lIns="0" tIns="0" rIns="0" bIns="0">
            <a:spAutoFit/>
          </a:bodyPr>
          <a:lstStyle/>
          <a:p>
            <a:pPr>
              <a:spcAft>
                <a:spcPts val="0"/>
              </a:spcAft>
            </a:pPr>
            <a:r>
              <a:rPr lang="sv-SE" sz="2600" b="1" dirty="0">
                <a:solidFill>
                  <a:srgbClr val="1E2761"/>
                </a:solidFill>
                <a:latin typeface="Calibri"/>
              </a:rPr>
              <a:t>Project s</a:t>
            </a:r>
            <a:r>
              <a:rPr sz="2600" b="1" dirty="0" err="1">
                <a:solidFill>
                  <a:srgbClr val="1E2761"/>
                </a:solidFill>
                <a:latin typeface="Calibri"/>
              </a:rPr>
              <a:t>tudio</a:t>
            </a:r>
            <a:r>
              <a:rPr sz="2600" b="1" dirty="0">
                <a:solidFill>
                  <a:srgbClr val="1E2761"/>
                </a:solidFill>
                <a:latin typeface="Calibri"/>
              </a:rPr>
              <a:t> · 13:00–14:45</a:t>
            </a:r>
          </a:p>
        </p:txBody>
      </p:sp>
      <p:sp>
        <p:nvSpPr>
          <p:cNvPr id="4" name="TextBox 3"/>
          <p:cNvSpPr txBox="1"/>
          <p:nvPr/>
        </p:nvSpPr>
        <p:spPr>
          <a:xfrm>
            <a:off x="502920" y="1500000"/>
            <a:ext cx="10800000" cy="1089273"/>
          </a:xfrm>
          <a:prstGeom prst="rect">
            <a:avLst/>
          </a:prstGeom>
          <a:noFill/>
        </p:spPr>
        <p:txBody>
          <a:bodyPr wrap="square" lIns="0" tIns="0" rIns="0" bIns="0">
            <a:spAutoFit/>
          </a:bodyPr>
          <a:lstStyle/>
          <a:p>
            <a:pPr>
              <a:lnSpc>
                <a:spcPct val="115000"/>
              </a:lnSpc>
              <a:spcAft>
                <a:spcPts val="1000"/>
              </a:spcAft>
            </a:pPr>
            <a:r>
              <a:rPr sz="1600" b="1" dirty="0">
                <a:solidFill>
                  <a:srgbClr val="44506B"/>
                </a:solidFill>
                <a:latin typeface="Calibri"/>
              </a:rPr>
              <a:t>•  Sprint 1 is running.</a:t>
            </a:r>
            <a:r>
              <a:rPr sz="1600" dirty="0">
                <a:solidFill>
                  <a:srgbClr val="44506B"/>
                </a:solidFill>
                <a:latin typeface="Calibri"/>
              </a:rPr>
              <a:t>  Your ingestion should be scheduled and green by tomorrow.</a:t>
            </a:r>
          </a:p>
          <a:p>
            <a:pPr>
              <a:lnSpc>
                <a:spcPct val="115000"/>
              </a:lnSpc>
              <a:spcAft>
                <a:spcPts val="1000"/>
              </a:spcAft>
            </a:pPr>
            <a:r>
              <a:rPr sz="1600" b="1" dirty="0">
                <a:solidFill>
                  <a:srgbClr val="44506B"/>
                </a:solidFill>
                <a:latin typeface="Calibri"/>
              </a:rPr>
              <a:t>•  </a:t>
            </a:r>
            <a:r>
              <a:rPr lang="sv-SE" sz="1600" dirty="0">
                <a:solidFill>
                  <a:srgbClr val="44506B"/>
                </a:solidFill>
                <a:latin typeface="Calibri"/>
              </a:rPr>
              <a:t>Check </a:t>
            </a:r>
            <a:r>
              <a:rPr sz="1600" dirty="0">
                <a:solidFill>
                  <a:srgbClr val="44506B"/>
                </a:solidFill>
                <a:latin typeface="Calibri"/>
              </a:rPr>
              <a:t>whether your board reflects what you are actually doing.</a:t>
            </a:r>
          </a:p>
          <a:p>
            <a:pPr>
              <a:lnSpc>
                <a:spcPct val="115000"/>
              </a:lnSpc>
              <a:spcAft>
                <a:spcPts val="1000"/>
              </a:spcAft>
            </a:pPr>
            <a:r>
              <a:rPr sz="1600" b="1" dirty="0">
                <a:solidFill>
                  <a:srgbClr val="44506B"/>
                </a:solidFill>
                <a:latin typeface="Calibri"/>
              </a:rPr>
              <a:t>•  14:45:</a:t>
            </a:r>
            <a:r>
              <a:rPr sz="1600" dirty="0">
                <a:solidFill>
                  <a:srgbClr val="44506B"/>
                </a:solidFill>
                <a:latin typeface="Calibri"/>
              </a:rPr>
              <a:t>  each team names one blocker.</a:t>
            </a:r>
          </a:p>
        </p:txBody>
      </p:sp>
      <p:sp>
        <p:nvSpPr>
          <p:cNvPr id="5" name="TextBox 4"/>
          <p:cNvSpPr txBox="1"/>
          <p:nvPr/>
        </p:nvSpPr>
        <p:spPr>
          <a:xfrm>
            <a:off x="502920" y="5900000"/>
            <a:ext cx="10800000" cy="400000"/>
          </a:xfrm>
          <a:prstGeom prst="rect">
            <a:avLst/>
          </a:prstGeom>
          <a:noFill/>
        </p:spPr>
        <p:txBody>
          <a:bodyPr wrap="square" lIns="0" tIns="0" rIns="0" bIns="0">
            <a:spAutoFit/>
          </a:bodyPr>
          <a:lstStyle/>
          <a:p>
            <a:pPr>
              <a:spcAft>
                <a:spcPts val="0"/>
              </a:spcAft>
            </a:pPr>
            <a:r>
              <a:rPr sz="1300" b="1">
                <a:solidFill>
                  <a:srgbClr val="1E2761"/>
                </a:solidFill>
                <a:latin typeface="Calibri"/>
              </a:rPr>
              <a:t>Friday 4/9 — own-data teams: loadable base model + history in the repo.</a:t>
            </a:r>
          </a:p>
        </p:txBody>
      </p:sp>
      <p:sp>
        <p:nvSpPr>
          <p:cNvPr id="6" name="TextBox 5"/>
          <p:cNvSpPr txBox="1"/>
          <p:nvPr/>
        </p:nvSpPr>
        <p:spPr>
          <a:xfrm>
            <a:off x="502920" y="6510528"/>
            <a:ext cx="4572000" cy="274320"/>
          </a:xfrm>
          <a:prstGeom prst="rect">
            <a:avLst/>
          </a:prstGeom>
          <a:noFill/>
        </p:spPr>
        <p:txBody>
          <a:bodyPr wrap="square" lIns="0" tIns="0" rIns="0" bIns="0">
            <a:spAutoFit/>
          </a:bodyPr>
          <a:lstStyle/>
          <a:p>
            <a:pPr>
              <a:spcAft>
                <a:spcPts val="0"/>
              </a:spcAft>
            </a:pPr>
            <a:r>
              <a:rPr sz="900" b="0">
                <a:solidFill>
                  <a:srgbClr val="9AA6C4"/>
                </a:solidFill>
                <a:latin typeface="Calibri"/>
              </a:rPr>
              <a:t>Data Engineering och Agila metoder · Week 4</a:t>
            </a:r>
          </a:p>
        </p:txBody>
      </p:sp>
      <p:sp>
        <p:nvSpPr>
          <p:cNvPr id="7" name="TextBox 6"/>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2700</Words>
  <Application>Microsoft Macintosh PowerPoint</Application>
  <PresentationFormat>Bredbild</PresentationFormat>
  <Paragraphs>259</Paragraphs>
  <Slides>25</Slides>
  <Notes>0</Notes>
  <HiddenSlides>0</HiddenSlides>
  <MMClips>0</MMClips>
  <ScaleCrop>false</ScaleCrop>
  <HeadingPairs>
    <vt:vector size="6" baseType="variant">
      <vt:variant>
        <vt:lpstr>Använt teckensnitt</vt:lpstr>
      </vt:variant>
      <vt:variant>
        <vt:i4>3</vt:i4>
      </vt:variant>
      <vt:variant>
        <vt:lpstr>Tema</vt:lpstr>
      </vt:variant>
      <vt:variant>
        <vt:i4>1</vt:i4>
      </vt:variant>
      <vt:variant>
        <vt:lpstr>Bildrubriker</vt:lpstr>
      </vt:variant>
      <vt:variant>
        <vt:i4>25</vt:i4>
      </vt:variant>
    </vt:vector>
  </HeadingPairs>
  <TitlesOfParts>
    <vt:vector size="29" baseType="lpstr">
      <vt:lpstr>Arial</vt:lpstr>
      <vt:lpstr>Calibri</vt:lpstr>
      <vt:lpstr>Consolas</vt:lpstr>
      <vt:lpstr>Office Theme</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mikael huss</cp:lastModifiedBy>
  <cp:revision>13</cp:revision>
  <dcterms:created xsi:type="dcterms:W3CDTF">2013-01-27T09:14:16Z</dcterms:created>
  <dcterms:modified xsi:type="dcterms:W3CDTF">2026-08-31T06:18:12Z</dcterms:modified>
  <cp:category/>
</cp:coreProperties>
</file>