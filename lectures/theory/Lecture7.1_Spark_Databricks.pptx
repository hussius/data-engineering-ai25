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32707" y="1198004"/>
            <a:ext cx="106445" cy="10644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02527" y="521909"/>
            <a:ext cx="149319" cy="1493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7652" y="567405"/>
            <a:ext cx="171646" cy="17164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44390" y="491632"/>
            <a:ext cx="111931" cy="11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00509" y="448634"/>
            <a:ext cx="130510" cy="1305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18841" y="1246970"/>
            <a:ext cx="75265" cy="752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09413" y="560238"/>
            <a:ext cx="73156" cy="7315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280562" y="493963"/>
            <a:ext cx="136226" cy="13622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71684" y="629631"/>
            <a:ext cx="172377" cy="17237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45036" y="1685822"/>
            <a:ext cx="93260" cy="932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59468" y="1580272"/>
            <a:ext cx="140414" cy="140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63798" y="473996"/>
            <a:ext cx="140748" cy="1407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95381" y="1537410"/>
            <a:ext cx="92977" cy="9297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4709" y="1248998"/>
            <a:ext cx="81455" cy="8145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67800" y="617028"/>
            <a:ext cx="82907" cy="8290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93866" y="1544944"/>
            <a:ext cx="138830" cy="13883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360526" y="749010"/>
            <a:ext cx="170971" cy="17097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39407" y="1567902"/>
            <a:ext cx="77507" cy="7750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287988" y="1150974"/>
            <a:ext cx="147743" cy="14774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797406" y="1863404"/>
            <a:ext cx="76770" cy="767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867132" y="494992"/>
            <a:ext cx="72229" cy="7222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63853" y="1411056"/>
            <a:ext cx="145134" cy="14513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730196" y="1266726"/>
            <a:ext cx="153181" cy="1531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17628" y="1346437"/>
            <a:ext cx="165872" cy="16587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00793" y="1128293"/>
            <a:ext cx="140750" cy="1407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41976" y="2035934"/>
            <a:ext cx="103291" cy="10329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ENGINEERING · WEEK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Spark and Databricks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Data engineering och Agila metoder — IT Högskolan · Tue 1/9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  ·  IT Högskolan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sv-SE" sz="2600" b="1" dirty="0">
                <a:solidFill>
                  <a:srgbClr val="1E2761"/>
                </a:solidFill>
                <a:latin typeface="Calibri"/>
              </a:rPr>
              <a:t>What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we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will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do</a:t>
            </a:r>
            <a:endParaRPr sz="2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1500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Block 1 · 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W</a:t>
            </a:r>
            <a:r>
              <a:rPr sz="1600" dirty="0">
                <a:solidFill>
                  <a:srgbClr val="44506B"/>
                </a:solidFill>
                <a:latin typeface="Calibri"/>
              </a:rPr>
              <a:t>hy distributed computing exists</a:t>
            </a:r>
            <a:endParaRPr lang="sv-SE" sz="1600" dirty="0">
              <a:solidFill>
                <a:srgbClr val="44506B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Block 2 ·</a:t>
            </a:r>
            <a:r>
              <a:rPr lang="sv-SE" sz="1600" b="1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What</a:t>
            </a:r>
            <a:r>
              <a:rPr lang="sv-SE" sz="1600" b="1" dirty="0">
                <a:solidFill>
                  <a:srgbClr val="44506B"/>
                </a:solidFill>
                <a:latin typeface="Calibri"/>
              </a:rPr>
              <a:t> </a:t>
            </a:r>
            <a:r>
              <a:rPr sz="1600" dirty="0">
                <a:solidFill>
                  <a:srgbClr val="44506B"/>
                </a:solidFill>
                <a:latin typeface="Calibri"/>
              </a:rPr>
              <a:t>Spark actually does, and what Databricks adds 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to it</a:t>
            </a:r>
            <a:r>
              <a:rPr sz="1600" dirty="0">
                <a:solidFill>
                  <a:srgbClr val="44506B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Exercise · 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Spark on </a:t>
            </a:r>
            <a:r>
              <a:rPr sz="1600" dirty="0">
                <a:solidFill>
                  <a:srgbClr val="44506B"/>
                </a:solidFill>
                <a:latin typeface="Calibri"/>
              </a:rPr>
              <a:t>Databricks Free Edition.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13:00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Sprint 1 planning, then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project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work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for the rest of the afternoon.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dirty="0">
                <a:solidFill>
                  <a:srgbClr val="1E2761"/>
                </a:solidFill>
                <a:latin typeface="Calibri"/>
              </a:rPr>
              <a:t>You will not use Spark in the project.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Part 1 — Why distributed computing?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50000"/>
            <a:ext cx="950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sv-SE" sz="1500" dirty="0">
                <a:solidFill>
                  <a:srgbClr val="CADCFC"/>
                </a:solidFill>
                <a:latin typeface="Calibri"/>
              </a:rPr>
              <a:t>A </a:t>
            </a:r>
            <a:r>
              <a:rPr lang="sv-SE" sz="1500" dirty="0" err="1">
                <a:solidFill>
                  <a:srgbClr val="CADCFC"/>
                </a:solidFill>
                <a:latin typeface="Calibri"/>
              </a:rPr>
              <a:t>lot</a:t>
            </a:r>
            <a:r>
              <a:rPr lang="sv-SE" sz="1500" dirty="0">
                <a:solidFill>
                  <a:srgbClr val="CADCFC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of the time, you don't need it. Knowing when you do is the skill.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WHY DISTRIBUTED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Start from what you already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1500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dirty="0">
                <a:solidFill>
                  <a:srgbClr val="44506B"/>
                </a:solidFill>
                <a:latin typeface="Calibri"/>
              </a:rPr>
              <a:t>•  Last week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we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looked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at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a GROUP BY over a million rows.  It took under a second in </a:t>
            </a:r>
            <a:r>
              <a:rPr sz="1600" dirty="0" err="1">
                <a:solidFill>
                  <a:srgbClr val="44506B"/>
                </a:solidFill>
                <a:latin typeface="Calibri"/>
              </a:rPr>
              <a:t>DuckDB</a:t>
            </a:r>
            <a:r>
              <a:rPr sz="1600" dirty="0">
                <a:solidFill>
                  <a:srgbClr val="44506B"/>
                </a:solidFill>
                <a:latin typeface="Calibri"/>
              </a:rPr>
              <a:t>, on a laptop.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dirty="0">
                <a:solidFill>
                  <a:srgbClr val="44506B"/>
                </a:solidFill>
                <a:latin typeface="Calibri"/>
              </a:rPr>
              <a:t>•  Your project data is smaller than that.  A few years of hourly prices and weather for one area is a handful of megabytes.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dirty="0">
                <a:solidFill>
                  <a:srgbClr val="44506B"/>
                </a:solidFill>
                <a:latin typeface="Calibri"/>
              </a:rPr>
              <a:t>•  Modern laptops have 16–64 GB of RAM.  A cloud VM can be rented with 1–2 TB if you actually need it.</a:t>
            </a:r>
            <a:endParaRPr lang="sv-SE" sz="1600" dirty="0">
              <a:solidFill>
                <a:srgbClr val="44506B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sv-SE" sz="1600" dirty="0">
                <a:solidFill>
                  <a:srgbClr val="44506B"/>
                </a:solidFill>
                <a:latin typeface="Calibri"/>
              </a:rPr>
              <a:t>•  Ask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yourself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: do I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really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need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distributed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computing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WHY DISTRIBUTED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Two ways to get more compute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0000"/>
            <a:ext cx="525000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700000"/>
            <a:ext cx="485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Scale up (vertical)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300000"/>
            <a:ext cx="4850000" cy="18182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44506B"/>
                </a:solidFill>
                <a:latin typeface="Calibri"/>
              </a:rPr>
              <a:t>•  Buy a bigger machine.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 More cores, more RAM, faster disk.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44506B"/>
                </a:solidFill>
                <a:latin typeface="Calibri"/>
              </a:rPr>
              <a:t>•  Nothing about your code changes.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 Same pandas, same </a:t>
            </a:r>
            <a:r>
              <a:rPr sz="1400" dirty="0" err="1">
                <a:solidFill>
                  <a:srgbClr val="44506B"/>
                </a:solidFill>
                <a:latin typeface="Calibri"/>
              </a:rPr>
              <a:t>DuckDB</a:t>
            </a:r>
            <a:r>
              <a:rPr sz="1400" dirty="0">
                <a:solidFill>
                  <a:srgbClr val="44506B"/>
                </a:solidFill>
                <a:latin typeface="Calibri"/>
              </a:rPr>
              <a:t>, same SQL.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44506B"/>
                </a:solidFill>
                <a:latin typeface="Calibri"/>
              </a:rPr>
              <a:t>•  Simple and </a:t>
            </a:r>
            <a:r>
              <a:rPr lang="sv-SE" sz="1400" b="1" dirty="0">
                <a:solidFill>
                  <a:srgbClr val="44506B"/>
                </a:solidFill>
                <a:latin typeface="Calibri"/>
              </a:rPr>
              <a:t>goes far</a:t>
            </a:r>
            <a:r>
              <a:rPr sz="1400" b="1" dirty="0">
                <a:solidFill>
                  <a:srgbClr val="44506B"/>
                </a:solidFill>
                <a:latin typeface="Calibri"/>
              </a:rPr>
              <a:t>.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 Single machines handle terabyte workloads today.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44506B"/>
                </a:solidFill>
                <a:latin typeface="Calibri"/>
              </a:rPr>
              <a:t>•  Ceiling.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 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Above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 a 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certain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size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this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 is not </a:t>
            </a:r>
            <a:r>
              <a:rPr lang="sv-SE" sz="1400" dirty="0" err="1">
                <a:solidFill>
                  <a:srgbClr val="44506B"/>
                </a:solidFill>
                <a:latin typeface="Calibri"/>
              </a:rPr>
              <a:t>feasible</a:t>
            </a:r>
            <a:r>
              <a:rPr lang="sv-SE" sz="1400" dirty="0">
                <a:solidFill>
                  <a:srgbClr val="44506B"/>
                </a:solidFill>
                <a:latin typeface="Calibri"/>
              </a:rPr>
              <a:t>.</a:t>
            </a:r>
            <a:endParaRPr sz="1400" dirty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00000" y="1500000"/>
            <a:ext cx="525000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0000" y="1700000"/>
            <a:ext cx="485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Scale out (horizontal)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300000"/>
            <a:ext cx="4850000" cy="2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44506B"/>
                </a:solidFill>
                <a:latin typeface="Calibri"/>
              </a:rPr>
              <a:t>•  Add more machines.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 A cluster, coordinated by software.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44506B"/>
                </a:solidFill>
                <a:latin typeface="Calibri"/>
              </a:rPr>
              <a:t>•  Your code must change.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 The work has to be split into independent pieces.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44506B"/>
                </a:solidFill>
                <a:latin typeface="Calibri"/>
              </a:rPr>
              <a:t>•  No hard ceiling.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 Add nodes as the data grows.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 dirty="0">
                <a:solidFill>
                  <a:srgbClr val="44506B"/>
                </a:solidFill>
                <a:latin typeface="Calibri"/>
              </a:rPr>
              <a:t>•  You inherit a distributed system.</a:t>
            </a:r>
            <a:r>
              <a:rPr sz="1400" dirty="0">
                <a:solidFill>
                  <a:srgbClr val="44506B"/>
                </a:solidFill>
                <a:latin typeface="Calibri"/>
              </a:rPr>
              <a:t>  Network, partial failure, coordination,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0" y="5620000"/>
            <a:ext cx="380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Spark is scale-out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WHY DISTRIBUTED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dirty="0">
                <a:solidFill>
                  <a:srgbClr val="1E2761"/>
                </a:solidFill>
                <a:latin typeface="Calibri"/>
              </a:rPr>
              <a:t>Three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reasons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to go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beyond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one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lang="sv-SE" sz="2600" b="1" dirty="0" err="1">
                <a:solidFill>
                  <a:srgbClr val="1E2761"/>
                </a:solidFill>
                <a:latin typeface="Calibri"/>
              </a:rPr>
              <a:t>machine</a:t>
            </a:r>
            <a:endParaRPr sz="2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450000"/>
            <a:ext cx="1080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dirty="0">
                <a:solidFill>
                  <a:srgbClr val="1E2761"/>
                </a:solidFill>
                <a:latin typeface="Calibri"/>
              </a:rPr>
              <a:t>You only need distributed compute when you hit one of these </a:t>
            </a:r>
            <a:r>
              <a:rPr lang="sv-SE" sz="1500" b="1" dirty="0" err="1">
                <a:solidFill>
                  <a:srgbClr val="1E2761"/>
                </a:solidFill>
                <a:latin typeface="Calibri"/>
              </a:rPr>
              <a:t>walls</a:t>
            </a:r>
            <a:r>
              <a:rPr sz="1500" b="1" dirty="0">
                <a:solidFill>
                  <a:srgbClr val="1E2761"/>
                </a:solidFill>
                <a:latin typeface="Calibri"/>
              </a:rPr>
              <a:t>:</a:t>
            </a:r>
          </a:p>
        </p:txBody>
      </p:sp>
      <p:sp>
        <p:nvSpPr>
          <p:cNvPr id="5" name="Oval 4"/>
          <p:cNvSpPr/>
          <p:nvPr/>
        </p:nvSpPr>
        <p:spPr>
          <a:xfrm>
            <a:off x="700000" y="2010000"/>
            <a:ext cx="180000" cy="180000"/>
          </a:xfrm>
          <a:prstGeom prst="ellipse">
            <a:avLst/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0000" y="1950000"/>
            <a:ext cx="2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Memory 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0000" y="195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data does not fit in RAM, and processing it row-by-row from disk is too slow. The classic trigger.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2790000"/>
            <a:ext cx="180000" cy="180000"/>
          </a:xfrm>
          <a:prstGeom prst="ellipse">
            <a:avLst/>
          </a:prstGeom>
          <a:solidFill>
            <a:srgbClr val="C17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0000" y="2730000"/>
            <a:ext cx="2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Time 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0000" y="273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It fits, but a single-threaded pass takes eight hours and you need it in twenty minutes. Parallelism, not capacity.</a:t>
            </a:r>
          </a:p>
        </p:txBody>
      </p:sp>
      <p:sp>
        <p:nvSpPr>
          <p:cNvPr id="11" name="Oval 10"/>
          <p:cNvSpPr/>
          <p:nvPr/>
        </p:nvSpPr>
        <p:spPr>
          <a:xfrm>
            <a:off x="700000" y="3570000"/>
            <a:ext cx="180000" cy="180000"/>
          </a:xfrm>
          <a:prstGeom prst="ellipse">
            <a:avLst/>
          </a:prstGeom>
          <a:solidFill>
            <a:srgbClr val="1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000" y="3510000"/>
            <a:ext cx="2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Fault-tolerance 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0000" y="351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job runs for six hours and one failure means restarting from zero. You need a framework that can re-run a lost piece of the work, not the whole job.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9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000" y="457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Notice that the third one has nothing to do with size. A lot of Spark adoption is really about recovery and scheduling, not about data volume.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WHY DISTRIBUTED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dirty="0">
                <a:solidFill>
                  <a:srgbClr val="1E2761"/>
                </a:solidFill>
                <a:latin typeface="Calibri"/>
              </a:rPr>
              <a:t>The unfashionable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1824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Most "big data" jobs are not big.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Repeated industry analyses of real workloads find the median query touches well under 100 GB.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Hardware outran the frameworks.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Spark was designed in 2009, when a big server had 16 GB of RAM. A laptop now has more.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Single-node tools got dramatically better.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44506B"/>
                </a:solidFill>
                <a:latin typeface="Calibri"/>
              </a:rPr>
              <a:t>DuckDB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and Polars do out-of-core, multi-threaded, columnar work on one machine.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Distribution has a </a:t>
            </a:r>
            <a:r>
              <a:rPr lang="sv-SE" sz="1500" b="1" dirty="0">
                <a:solidFill>
                  <a:srgbClr val="44506B"/>
                </a:solidFill>
                <a:latin typeface="Calibri"/>
              </a:rPr>
              <a:t>startup</a:t>
            </a:r>
            <a:r>
              <a:rPr sz="1500" b="1" dirty="0">
                <a:solidFill>
                  <a:srgbClr val="44506B"/>
                </a:solidFill>
                <a:latin typeface="Calibri"/>
              </a:rPr>
              <a:t> cost.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44506B"/>
                </a:solidFill>
                <a:latin typeface="Calibri"/>
              </a:rPr>
              <a:t>Serialising</a:t>
            </a:r>
            <a:r>
              <a:rPr sz="1500" dirty="0">
                <a:solidFill>
                  <a:srgbClr val="44506B"/>
                </a:solidFill>
                <a:latin typeface="Calibri"/>
              </a:rPr>
              <a:t>, shuffling and coordinating across a network is work that a single machine simply never does.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Which is why a Spark job on small data is usually SLOWER.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You pay startup and shuffle cost to solve a problem you didn't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Part 2 — What Spark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SPARK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The one-sentence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1500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Split the data into partitions.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Chunks that can be processed independently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.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T</a:t>
            </a:r>
            <a:r>
              <a:rPr sz="1600" dirty="0">
                <a:solidFill>
                  <a:srgbClr val="44506B"/>
                </a:solidFill>
                <a:latin typeface="Calibri"/>
              </a:rPr>
              <a:t>his is the whole trick.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Send the computation to the data.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Moving code across a network is cheap; moving terabytes is not.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Run the same operation on every partition, in parallel.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One task per partition, spread across the machines.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Combine the results.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Cheap when it's a sum. Expensive when everything has to be </a:t>
            </a:r>
            <a:r>
              <a:rPr sz="1600" dirty="0" err="1">
                <a:solidFill>
                  <a:srgbClr val="44506B"/>
                </a:solidFill>
                <a:latin typeface="Calibri"/>
              </a:rPr>
              <a:t>reorganised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— see "shuffle".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Everything else in Spark is machinery for doing those four things reliably.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SPARK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Anatomy of a Spark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920" y="1500000"/>
            <a:ext cx="205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2920" y="1500000"/>
            <a:ext cx="325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2920" y="1500000"/>
            <a:ext cx="505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What it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50000"/>
            <a:ext cx="10800000" cy="8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920" y="2100000"/>
            <a:ext cx="19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Driver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0" y="2100000"/>
            <a:ext cx="315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sv-SE" sz="1300" dirty="0">
                <a:solidFill>
                  <a:srgbClr val="44506B"/>
                </a:solidFill>
                <a:latin typeface="Calibri"/>
              </a:rPr>
              <a:t>A process in </a:t>
            </a:r>
            <a:r>
              <a:rPr lang="sv-SE" sz="1300" dirty="0" err="1">
                <a:solidFill>
                  <a:srgbClr val="44506B"/>
                </a:solidFill>
                <a:latin typeface="Calibri"/>
              </a:rPr>
              <a:t>which</a:t>
            </a:r>
            <a:r>
              <a:rPr lang="sv-SE" sz="1300" dirty="0">
                <a:solidFill>
                  <a:srgbClr val="44506B"/>
                </a:solidFill>
                <a:latin typeface="Calibri"/>
              </a:rPr>
              <a:t> y</a:t>
            </a:r>
            <a:r>
              <a:rPr sz="1300" b="0" dirty="0">
                <a:solidFill>
                  <a:srgbClr val="44506B"/>
                </a:solidFill>
                <a:latin typeface="Calibri"/>
              </a:rPr>
              <a:t>our program</a:t>
            </a:r>
            <a:r>
              <a:rPr lang="sv-SE" sz="1300" b="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300" b="0" dirty="0" err="1">
                <a:solidFill>
                  <a:srgbClr val="44506B"/>
                </a:solidFill>
                <a:latin typeface="Calibri"/>
              </a:rPr>
              <a:t>runs</a:t>
            </a:r>
            <a:r>
              <a:rPr sz="1300" b="0" dirty="0">
                <a:solidFill>
                  <a:srgbClr val="44506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2920" y="2100000"/>
            <a:ext cx="49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Builds the plan, decides what runs where, collects results. Single point of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30000"/>
            <a:ext cx="10800000" cy="8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920" y="3080000"/>
            <a:ext cx="19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Cluster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0" y="3080000"/>
            <a:ext cx="31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YARN, Kubernetes, or Spark's 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2920" y="3080000"/>
            <a:ext cx="495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dirty="0">
                <a:solidFill>
                  <a:srgbClr val="44506B"/>
                </a:solidFill>
                <a:latin typeface="Calibri"/>
              </a:rPr>
              <a:t>Hands out machines. </a:t>
            </a:r>
            <a:r>
              <a:rPr lang="sv-SE" sz="1300" b="0" dirty="0">
                <a:solidFill>
                  <a:srgbClr val="44506B"/>
                </a:solidFill>
                <a:latin typeface="Calibri"/>
              </a:rPr>
              <a:t>(</a:t>
            </a:r>
            <a:r>
              <a:rPr sz="1300" b="0" dirty="0">
                <a:solidFill>
                  <a:srgbClr val="44506B"/>
                </a:solidFill>
                <a:latin typeface="Calibri"/>
              </a:rPr>
              <a:t>Databricks hides this from you entirely.</a:t>
            </a:r>
            <a:r>
              <a:rPr lang="sv-SE" sz="1300" b="0" dirty="0">
                <a:solidFill>
                  <a:srgbClr val="44506B"/>
                </a:solidFill>
                <a:latin typeface="Calibri"/>
              </a:rPr>
              <a:t>)</a:t>
            </a:r>
            <a:endParaRPr sz="1300" b="0" dirty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910000"/>
            <a:ext cx="10800000" cy="8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920" y="4060000"/>
            <a:ext cx="19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0" y="4060000"/>
            <a:ext cx="31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A JVM process on a worker machine.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2920" y="4060000"/>
            <a:ext cx="49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Runs tasks and holds cached data in its own memory.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90000"/>
            <a:ext cx="10800000" cy="8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920" y="5040000"/>
            <a:ext cx="19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0" y="5040000"/>
            <a:ext cx="3150000" cy="5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One unit of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2920" y="5040000"/>
            <a:ext cx="495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dirty="0">
                <a:solidFill>
                  <a:srgbClr val="44506B"/>
                </a:solidFill>
                <a:latin typeface="Calibri"/>
              </a:rPr>
              <a:t>One operation applied to one partition. The </a:t>
            </a:r>
            <a:r>
              <a:rPr lang="sv-SE" sz="1300" b="0" dirty="0" err="1">
                <a:solidFill>
                  <a:srgbClr val="44506B"/>
                </a:solidFill>
                <a:latin typeface="Calibri"/>
              </a:rPr>
              <a:t>piece</a:t>
            </a:r>
            <a:r>
              <a:rPr sz="1300" b="0" dirty="0">
                <a:solidFill>
                  <a:srgbClr val="44506B"/>
                </a:solidFill>
                <a:latin typeface="Calibri"/>
              </a:rPr>
              <a:t> Spark can re-run when something fails.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90000"/>
            <a:ext cx="108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"How many partitions?" is the tuning question that never goes away in real Spark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SPARK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dirty="0">
                <a:solidFill>
                  <a:srgbClr val="1E2761"/>
                </a:solidFill>
                <a:latin typeface="Calibri"/>
              </a:rPr>
              <a:t>Lazy evaluation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:</a:t>
            </a:r>
            <a:r>
              <a:rPr sz="2600" b="1" dirty="0">
                <a:solidFill>
                  <a:srgbClr val="1E2761"/>
                </a:solidFill>
                <a:latin typeface="Calibri"/>
              </a:rPr>
              <a:t> the thing that confuses everyone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1783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Transformations build a plan. They don't compute anything.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filter, select, </a:t>
            </a:r>
            <a:r>
              <a:rPr sz="1600" dirty="0" err="1">
                <a:solidFill>
                  <a:srgbClr val="44506B"/>
                </a:solidFill>
                <a:latin typeface="Calibri"/>
              </a:rPr>
              <a:t>withColumn</a:t>
            </a:r>
            <a:r>
              <a:rPr sz="1600" dirty="0">
                <a:solidFill>
                  <a:srgbClr val="44506B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44506B"/>
                </a:solidFill>
                <a:latin typeface="Calibri"/>
              </a:rPr>
              <a:t>groupBy</a:t>
            </a:r>
            <a:r>
              <a:rPr sz="1600" dirty="0">
                <a:solidFill>
                  <a:srgbClr val="44506B"/>
                </a:solidFill>
                <a:latin typeface="Calibri"/>
              </a:rPr>
              <a:t>, join </a:t>
            </a:r>
            <a:r>
              <a:rPr lang="sv-SE" sz="1600" dirty="0" err="1">
                <a:solidFill>
                  <a:srgbClr val="44506B"/>
                </a:solidFill>
                <a:latin typeface="Calibri"/>
              </a:rPr>
              <a:t>are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all lazy.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Actions trigger the computation.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show, count, collect, write — only now does anything actually run.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Why do it this way?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Seeing the whole plan before executing lets Spark </a:t>
            </a:r>
            <a:r>
              <a:rPr sz="1600" dirty="0" err="1">
                <a:solidFill>
                  <a:srgbClr val="44506B"/>
                </a:solidFill>
                <a:latin typeface="Calibri"/>
              </a:rPr>
              <a:t>optimis</a:t>
            </a:r>
            <a:r>
              <a:rPr lang="sv-SE" sz="1600" dirty="0">
                <a:solidFill>
                  <a:srgbClr val="44506B"/>
                </a:solidFill>
                <a:latin typeface="Calibri"/>
              </a:rPr>
              <a:t>e it</a:t>
            </a:r>
            <a:r>
              <a:rPr sz="1600" dirty="0">
                <a:solidFill>
                  <a:srgbClr val="44506B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Concretely: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Spark can push your filter down to the file read and skip 90% of the data, because it knew about the filter in advance.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SPARK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dirty="0">
                <a:solidFill>
                  <a:srgbClr val="1E2761"/>
                </a:solidFill>
                <a:latin typeface="Calibri"/>
              </a:rPr>
              <a:t>Narrow vs wide 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transformations</a:t>
            </a:r>
            <a:endParaRPr sz="2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500000"/>
            <a:ext cx="5250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700000"/>
            <a:ext cx="485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Narrow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300000"/>
            <a:ext cx="4850000" cy="3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44506B"/>
                </a:solidFill>
                <a:latin typeface="Calibri"/>
              </a:rPr>
              <a:t>•  Each output partition depends on one input partition.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44506B"/>
                </a:solidFill>
                <a:latin typeface="Calibri"/>
              </a:rPr>
              <a:t>•  filter, select, withColumn, map.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44506B"/>
                </a:solidFill>
                <a:latin typeface="Calibri"/>
              </a:rPr>
              <a:t>•  No data crosses the network.</a:t>
            </a:r>
            <a:r>
              <a:rPr sz="1300">
                <a:solidFill>
                  <a:srgbClr val="44506B"/>
                </a:solidFill>
                <a:latin typeface="Calibri"/>
              </a:rPr>
              <a:t>  Runs at full speed, in parallel, locally.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44506B"/>
                </a:solidFill>
                <a:latin typeface="Calibri"/>
              </a:rPr>
              <a:t>•  Chained together into one 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000" y="1500000"/>
            <a:ext cx="5250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0000" y="1700000"/>
            <a:ext cx="485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Wide transformation — the SHUFFLE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300000"/>
            <a:ext cx="4850000" cy="3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44506B"/>
                </a:solidFill>
                <a:latin typeface="Calibri"/>
              </a:rPr>
              <a:t>•  Output partitions depend on many input partitions.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44506B"/>
                </a:solidFill>
                <a:latin typeface="Calibri"/>
              </a:rPr>
              <a:t>•  groupBy, join, distinct, sort, repartition.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44506B"/>
                </a:solidFill>
                <a:latin typeface="Calibri"/>
              </a:rPr>
              <a:t>•  Data is written to disk, sent over the network, re-read.</a:t>
            </a:r>
            <a:r>
              <a:rPr sz="1300">
                <a:solidFill>
                  <a:srgbClr val="44506B"/>
                </a:solidFill>
                <a:latin typeface="Calibri"/>
              </a:rPr>
              <a:t>  This is where your job spends its time.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44506B"/>
                </a:solidFill>
                <a:latin typeface="Calibri"/>
              </a:rPr>
              <a:t>•  A stage boundary.</a:t>
            </a:r>
            <a:r>
              <a:rPr sz="1300">
                <a:solidFill>
                  <a:srgbClr val="44506B"/>
                </a:solidFill>
                <a:latin typeface="Calibri"/>
              </a:rPr>
              <a:t>  Everything before must finish before anything after starts.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0" y="5720000"/>
            <a:ext cx="380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Optimising Spark ≈ avoiding shuffles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SPARK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Same question, three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dirty="0" err="1">
                <a:solidFill>
                  <a:srgbClr val="1E2761"/>
                </a:solidFill>
                <a:latin typeface="Calibri"/>
              </a:rPr>
              <a:t>DuckDB</a:t>
            </a:r>
            <a:r>
              <a:rPr sz="1400" b="1" dirty="0">
                <a:solidFill>
                  <a:srgbClr val="1E2761"/>
                </a:solidFill>
                <a:latin typeface="Calibri"/>
              </a:rPr>
              <a:t> / SQL — what </a:t>
            </a:r>
            <a:r>
              <a:rPr lang="sv-SE" sz="1400" b="1" dirty="0" err="1">
                <a:solidFill>
                  <a:srgbClr val="1E2761"/>
                </a:solidFill>
                <a:latin typeface="Calibri"/>
              </a:rPr>
              <a:t>we</a:t>
            </a:r>
            <a:r>
              <a:rPr sz="14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lang="sv-SE" sz="1400" b="1" dirty="0" err="1">
                <a:solidFill>
                  <a:srgbClr val="1E2761"/>
                </a:solidFill>
                <a:latin typeface="Calibri"/>
              </a:rPr>
              <a:t>looked</a:t>
            </a:r>
            <a:r>
              <a:rPr lang="sv-SE" sz="1400" b="1" dirty="0">
                <a:solidFill>
                  <a:srgbClr val="1E2761"/>
                </a:solidFill>
                <a:latin typeface="Calibri"/>
              </a:rPr>
              <a:t> at</a:t>
            </a:r>
            <a:r>
              <a:rPr sz="1400" b="1" dirty="0">
                <a:solidFill>
                  <a:srgbClr val="1E2761"/>
                </a:solidFill>
                <a:latin typeface="Calibri"/>
              </a:rPr>
              <a:t> 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30000"/>
            <a:ext cx="104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44506B"/>
                </a:solidFill>
                <a:latin typeface="Consolas"/>
              </a:rPr>
              <a:t>SELECT venue, AVG(price) FROM concerts GROUP BY venue;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0000"/>
            <a:ext cx="10800000" cy="13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250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PySpark DataFrame API — the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850000"/>
            <a:ext cx="104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44506B"/>
                </a:solidFill>
                <a:latin typeface="Consolas"/>
              </a:rPr>
              <a:t>df = spark.read.parquet('concerts.parquet')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44506B"/>
                </a:solidFill>
                <a:latin typeface="Consolas"/>
              </a:rPr>
              <a:t>agg = df.groupBy('venue').avg('price')   # nothing has run yet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44506B"/>
                </a:solidFill>
                <a:latin typeface="Consolas"/>
              </a:rPr>
              <a:t>agg.show()                               # NOW it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0000"/>
            <a:ext cx="10800000" cy="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402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Spark SQL — identical plan, different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370000"/>
            <a:ext cx="104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44506B"/>
                </a:solidFill>
                <a:latin typeface="Consolas"/>
              </a:rPr>
              <a:t>spark.sql("SELECT venue, AVG(price) FROM concerts GROUP BY venue").show()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70000"/>
            <a:ext cx="108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Both Spark forms compile to the same optimised plan. The API you choose is a taste question, not a performance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SPARK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dirty="0">
                <a:solidFill>
                  <a:srgbClr val="1E2761"/>
                </a:solidFill>
                <a:latin typeface="Calibri"/>
              </a:rPr>
              <a:t>What Spark is bad a</a:t>
            </a:r>
            <a:r>
              <a:rPr lang="sv-SE" sz="2600" b="1" dirty="0">
                <a:solidFill>
                  <a:srgbClr val="1E2761"/>
                </a:solidFill>
                <a:latin typeface="Calibri"/>
              </a:rPr>
              <a:t>t</a:t>
            </a:r>
            <a:endParaRPr sz="2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Small data.</a:t>
            </a:r>
            <a:r>
              <a:rPr sz="1600">
                <a:solidFill>
                  <a:srgbClr val="44506B"/>
                </a:solidFill>
                <a:latin typeface="Calibri"/>
              </a:rPr>
              <a:t>  JVM and cluster startup can cost more than the entire computation.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Low-latency serving.</a:t>
            </a:r>
            <a:r>
              <a:rPr sz="1600">
                <a:solidFill>
                  <a:srgbClr val="44506B"/>
                </a:solidFill>
                <a:latin typeface="Calibri"/>
              </a:rPr>
              <a:t>  Spark answers batch questions in seconds-to-minutes. Your /predict endpoint answers in milliseconds. Different tools.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Single-row lookups.</a:t>
            </a:r>
            <a:r>
              <a:rPr sz="1600">
                <a:solidFill>
                  <a:srgbClr val="44506B"/>
                </a:solidFill>
                <a:latin typeface="Calibri"/>
              </a:rPr>
              <a:t>  "Give me the row for 2026-03-14 in SE3" — that's a database's job, not a scan engine's.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Being operated by one person part-time.</a:t>
            </a:r>
            <a:r>
              <a:rPr sz="1600">
                <a:solidFill>
                  <a:srgbClr val="44506B"/>
                </a:solidFill>
                <a:latin typeface="Calibri"/>
              </a:rPr>
              <a:t>  Cluster sizing, memory tuning and shuffle debugging are a real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Part 3 — Databricks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Spark is an engine. Databricks is the company selling the car it goes 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DATABRICKS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What Databricks adds to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2483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Same people.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Founded by the Berkeley team who created Spark. Spark is open source; Databricks is a commercial platform built around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Managed clusters.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You ask for compute, it appears, and it shuts itself down when idle. No YARN, no cluster manager to operate.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Notebooks as the primary surface.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Collaborative, multi-language (Python, SQL, Scala, R) in the same document.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Delta Lake and the </a:t>
            </a:r>
            <a:r>
              <a:rPr sz="1500" b="1" dirty="0" err="1">
                <a:solidFill>
                  <a:srgbClr val="44506B"/>
                </a:solidFill>
                <a:latin typeface="Calibri"/>
              </a:rPr>
              <a:t>lakehouse</a:t>
            </a:r>
            <a:r>
              <a:rPr sz="1500" b="1" dirty="0">
                <a:solidFill>
                  <a:srgbClr val="44506B"/>
                </a:solidFill>
                <a:latin typeface="Calibri"/>
              </a:rPr>
              <a:t>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Their storage format and the architecture argument built on it — next slide.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Unity Catalog.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One place for tables, permissions and lineage across the workspace. The governance </a:t>
            </a:r>
            <a:r>
              <a:rPr lang="sv-SE" sz="1500" dirty="0" err="1">
                <a:solidFill>
                  <a:srgbClr val="44506B"/>
                </a:solidFill>
                <a:latin typeface="Calibri"/>
              </a:rPr>
              <a:t>angle</a:t>
            </a:r>
            <a:r>
              <a:rPr sz="1500" dirty="0">
                <a:solidFill>
                  <a:srgbClr val="44506B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Jobs, orchestration, </a:t>
            </a:r>
            <a:r>
              <a:rPr sz="1500" b="1" dirty="0" err="1">
                <a:solidFill>
                  <a:srgbClr val="44506B"/>
                </a:solidFill>
                <a:latin typeface="Calibri"/>
              </a:rPr>
              <a:t>MLflow</a:t>
            </a:r>
            <a:r>
              <a:rPr sz="1500" b="1" dirty="0">
                <a:solidFill>
                  <a:srgbClr val="44506B"/>
                </a:solidFill>
                <a:latin typeface="Calibri"/>
              </a:rPr>
              <a:t>, model serving.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The pieces you built by hand this course, sold as a bundle.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DATABRICKS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Data lake, warehouse, lakehouse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0000"/>
            <a:ext cx="5250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700000"/>
            <a:ext cx="485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The old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300000"/>
            <a:ext cx="4850000" cy="15976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 dirty="0">
                <a:solidFill>
                  <a:srgbClr val="44506B"/>
                </a:solidFill>
                <a:latin typeface="Calibri"/>
              </a:rPr>
              <a:t>•  </a:t>
            </a:r>
            <a:r>
              <a:rPr sz="1300" dirty="0">
                <a:solidFill>
                  <a:srgbClr val="44506B"/>
                </a:solidFill>
                <a:latin typeface="Calibri"/>
              </a:rPr>
              <a:t>Data lake.  Cheap object storage, any format, no guarantees. Easy to fill, easy to turn into a swamp.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dirty="0">
                <a:solidFill>
                  <a:srgbClr val="44506B"/>
                </a:solidFill>
                <a:latin typeface="Calibri"/>
              </a:rPr>
              <a:t>•  Data warehouse.  Structured, governed, fast queries, expensive, and it hates unstructured data.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dirty="0">
                <a:solidFill>
                  <a:srgbClr val="44506B"/>
                </a:solidFill>
                <a:latin typeface="Calibri"/>
              </a:rPr>
              <a:t>•  So companies ran both</a:t>
            </a:r>
            <a:r>
              <a:rPr lang="sv-SE" sz="1300" dirty="0">
                <a:solidFill>
                  <a:srgbClr val="44506B"/>
                </a:solidFill>
                <a:latin typeface="Calibri"/>
              </a:rPr>
              <a:t>, a</a:t>
            </a:r>
            <a:r>
              <a:rPr sz="1300" dirty="0" err="1">
                <a:solidFill>
                  <a:srgbClr val="44506B"/>
                </a:solidFill>
                <a:latin typeface="Calibri"/>
              </a:rPr>
              <a:t>nd</a:t>
            </a:r>
            <a:r>
              <a:rPr sz="1300" dirty="0">
                <a:solidFill>
                  <a:srgbClr val="44506B"/>
                </a:solidFill>
                <a:latin typeface="Calibri"/>
              </a:rPr>
              <a:t> copied data endlessly between them, </a:t>
            </a:r>
            <a:r>
              <a:rPr lang="sv-SE" sz="1300" dirty="0">
                <a:solidFill>
                  <a:srgbClr val="44506B"/>
                </a:solidFill>
                <a:latin typeface="Calibri"/>
              </a:rPr>
              <a:t>leading to lots </a:t>
            </a:r>
            <a:r>
              <a:rPr lang="sv-SE" sz="1300" dirty="0" err="1">
                <a:solidFill>
                  <a:srgbClr val="44506B"/>
                </a:solidFill>
                <a:latin typeface="Calibri"/>
              </a:rPr>
              <a:t>of</a:t>
            </a:r>
            <a:r>
              <a:rPr lang="sv-SE" sz="1300" dirty="0">
                <a:solidFill>
                  <a:srgbClr val="44506B"/>
                </a:solidFill>
                <a:latin typeface="Calibri"/>
              </a:rPr>
              <a:t> </a:t>
            </a:r>
            <a:r>
              <a:rPr sz="1300" dirty="0">
                <a:solidFill>
                  <a:srgbClr val="44506B"/>
                </a:solidFill>
                <a:latin typeface="Calibri"/>
              </a:rPr>
              <a:t>data-engineering pain.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000" y="1500000"/>
            <a:ext cx="5250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0000" y="1700000"/>
            <a:ext cx="485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Lakehouse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300000"/>
            <a:ext cx="4850000" cy="907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dirty="0">
                <a:solidFill>
                  <a:srgbClr val="44506B"/>
                </a:solidFill>
                <a:latin typeface="Calibri"/>
              </a:rPr>
              <a:t>•  Delta Lake = Parquet files + a transaction log.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dirty="0">
                <a:solidFill>
                  <a:srgbClr val="44506B"/>
                </a:solidFill>
                <a:latin typeface="Calibri"/>
              </a:rPr>
              <a:t>•  </a:t>
            </a:r>
            <a:r>
              <a:rPr lang="sv-SE" sz="1300" dirty="0" err="1">
                <a:solidFill>
                  <a:srgbClr val="44506B"/>
                </a:solidFill>
                <a:latin typeface="Calibri"/>
              </a:rPr>
              <a:t>Enables</a:t>
            </a:r>
            <a:r>
              <a:rPr lang="sv-SE" sz="1300" dirty="0">
                <a:solidFill>
                  <a:srgbClr val="44506B"/>
                </a:solidFill>
                <a:latin typeface="Calibri"/>
              </a:rPr>
              <a:t> </a:t>
            </a:r>
            <a:r>
              <a:rPr sz="1300" dirty="0">
                <a:solidFill>
                  <a:srgbClr val="44506B"/>
                </a:solidFill>
                <a:latin typeface="Calibri"/>
              </a:rPr>
              <a:t>time travel.  Query the table as it was last Tuesday.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dirty="0">
                <a:solidFill>
                  <a:srgbClr val="44506B"/>
                </a:solidFill>
                <a:latin typeface="Calibri"/>
              </a:rPr>
              <a:t>•  </a:t>
            </a:r>
            <a:r>
              <a:rPr lang="sv-SE" sz="1300" dirty="0" err="1">
                <a:solidFill>
                  <a:srgbClr val="44506B"/>
                </a:solidFill>
                <a:latin typeface="Calibri"/>
              </a:rPr>
              <a:t>Competitors</a:t>
            </a:r>
            <a:r>
              <a:rPr lang="sv-SE" sz="1300" dirty="0">
                <a:solidFill>
                  <a:srgbClr val="44506B"/>
                </a:solidFill>
                <a:latin typeface="Calibri"/>
              </a:rPr>
              <a:t>: Apache </a:t>
            </a:r>
            <a:r>
              <a:rPr lang="sv-SE" sz="1300" dirty="0" err="1">
                <a:solidFill>
                  <a:srgbClr val="44506B"/>
                </a:solidFill>
                <a:latin typeface="Calibri"/>
              </a:rPr>
              <a:t>Iceberg</a:t>
            </a:r>
            <a:r>
              <a:rPr lang="sv-SE" sz="1300" dirty="0">
                <a:solidFill>
                  <a:srgbClr val="44506B"/>
                </a:solidFill>
                <a:latin typeface="Calibri"/>
              </a:rPr>
              <a:t>, Microsoft </a:t>
            </a:r>
            <a:r>
              <a:rPr lang="sv-SE" sz="1300" dirty="0" err="1">
                <a:solidFill>
                  <a:srgbClr val="44506B"/>
                </a:solidFill>
                <a:latin typeface="Calibri"/>
              </a:rPr>
              <a:t>Fabric</a:t>
            </a:r>
            <a:r>
              <a:rPr lang="sv-SE" sz="1300" dirty="0">
                <a:solidFill>
                  <a:srgbClr val="44506B"/>
                </a:solidFill>
                <a:latin typeface="Calibri"/>
              </a:rPr>
              <a:t> &amp; </a:t>
            </a:r>
            <a:r>
              <a:rPr lang="sv-SE" sz="1300" dirty="0" err="1">
                <a:solidFill>
                  <a:srgbClr val="44506B"/>
                </a:solidFill>
                <a:latin typeface="Calibri"/>
              </a:rPr>
              <a:t>OneLake</a:t>
            </a:r>
            <a:endParaRPr sz="1300" dirty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DATABRICKS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sv-SE" sz="2600" b="1" dirty="0">
                <a:solidFill>
                  <a:srgbClr val="1E2761"/>
                </a:solidFill>
                <a:latin typeface="Calibri"/>
              </a:rPr>
              <a:t>Product landscape</a:t>
            </a:r>
            <a:endParaRPr sz="26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2920" y="1500000"/>
            <a:ext cx="245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52920" y="1500000"/>
            <a:ext cx="375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52920" y="1500000"/>
            <a:ext cx="415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Relationship to Spark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50000"/>
            <a:ext cx="10800000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920" y="2100000"/>
            <a:ext cx="23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Databricks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2920" y="2100000"/>
            <a:ext cx="36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Commercial lakehouse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2920" y="2100000"/>
            <a:ext cx="40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Managed Spark plus storage, governance, ML tooling.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00000"/>
            <a:ext cx="10800000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920" y="3050000"/>
            <a:ext cx="23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Snowflake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2920" y="3050000"/>
            <a:ext cx="36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Cloud data warehouse.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2920" y="3050000"/>
            <a:ext cx="405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dirty="0">
                <a:solidFill>
                  <a:srgbClr val="44506B"/>
                </a:solidFill>
                <a:latin typeface="Calibri"/>
              </a:rPr>
              <a:t>Main competitor. Its own engine</a:t>
            </a:r>
            <a:r>
              <a:rPr lang="sv-SE" sz="1300" b="0" dirty="0">
                <a:solidFill>
                  <a:srgbClr val="44506B"/>
                </a:solidFill>
                <a:latin typeface="Calibri"/>
              </a:rPr>
              <a:t>,</a:t>
            </a:r>
            <a:r>
              <a:rPr sz="1300" b="0" dirty="0">
                <a:solidFill>
                  <a:srgbClr val="44506B"/>
                </a:solidFill>
                <a:latin typeface="Calibri"/>
              </a:rPr>
              <a:t> no Spark.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50000"/>
            <a:ext cx="10800000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920" y="4000000"/>
            <a:ext cx="23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EMR / Dataproc / Synapse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2920" y="4000000"/>
            <a:ext cx="36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AWS / Google / Microsoft managed clusters.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2920" y="4000000"/>
            <a:ext cx="40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Cloud vendors' own hosted Spark.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00000"/>
            <a:ext cx="10800000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920" y="4950000"/>
            <a:ext cx="23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Flink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2920" y="4950000"/>
            <a:ext cx="365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Stream processor.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2920" y="4950000"/>
            <a:ext cx="405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dirty="0">
                <a:solidFill>
                  <a:srgbClr val="44506B"/>
                </a:solidFill>
                <a:latin typeface="Calibri"/>
              </a:rPr>
              <a:t>The genuinely streaming-first alternative.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Same aggregation, different engine. The point is the comparison, not the syntax.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EXERCISE · BLOCK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Run it on 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645" y="1380000"/>
            <a:ext cx="840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dirty="0">
                <a:solidFill>
                  <a:srgbClr val="1E2761"/>
                </a:solidFill>
                <a:latin typeface="Calibri"/>
              </a:rPr>
              <a:t>Databricks Free Edition </a:t>
            </a:r>
            <a:r>
              <a:rPr lang="sv-SE" sz="1500" b="1" dirty="0">
                <a:solidFill>
                  <a:srgbClr val="1E2761"/>
                </a:solidFill>
                <a:latin typeface="Calibri"/>
              </a:rPr>
              <a:t>– I </a:t>
            </a:r>
            <a:r>
              <a:rPr lang="sv-SE" sz="1500" b="1" dirty="0" err="1">
                <a:solidFill>
                  <a:srgbClr val="1E2761"/>
                </a:solidFill>
                <a:latin typeface="Calibri"/>
              </a:rPr>
              <a:t>run</a:t>
            </a:r>
            <a:r>
              <a:rPr lang="sv-SE" sz="1500" b="1" dirty="0">
                <a:solidFill>
                  <a:srgbClr val="1E2761"/>
                </a:solidFill>
                <a:latin typeface="Calibri"/>
              </a:rPr>
              <a:t> it, </a:t>
            </a:r>
            <a:r>
              <a:rPr lang="sv-SE" sz="1500" b="1" dirty="0" err="1">
                <a:solidFill>
                  <a:srgbClr val="1E2761"/>
                </a:solidFill>
                <a:latin typeface="Calibri"/>
              </a:rPr>
              <a:t>you</a:t>
            </a:r>
            <a:r>
              <a:rPr lang="sv-SE" sz="15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lang="sv-SE" sz="1500" b="1" dirty="0" err="1">
                <a:solidFill>
                  <a:srgbClr val="1E2761"/>
                </a:solidFill>
                <a:latin typeface="Calibri"/>
              </a:rPr>
              <a:t>watch</a:t>
            </a:r>
            <a:endParaRPr sz="15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900000"/>
            <a:ext cx="10800000" cy="2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2080000"/>
            <a:ext cx="10400000" cy="1354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br>
              <a:rPr lang="sv-SE" sz="1400" dirty="0"/>
            </a:br>
            <a:r>
              <a:rPr lang="sv-SE" sz="1400" dirty="0"/>
              <a:t>- Same </a:t>
            </a:r>
            <a:r>
              <a:rPr lang="sv-SE" sz="1400" dirty="0" err="1"/>
              <a:t>concerts</a:t>
            </a:r>
            <a:r>
              <a:rPr lang="sv-SE" sz="1400" dirty="0"/>
              <a:t> aggregation as </a:t>
            </a:r>
            <a:r>
              <a:rPr lang="sv-SE" sz="1400" dirty="0" err="1"/>
              <a:t>section</a:t>
            </a:r>
            <a:r>
              <a:rPr lang="sv-SE" sz="1400" dirty="0"/>
              <a:t> 2's </a:t>
            </a:r>
            <a:r>
              <a:rPr lang="sv-SE" sz="1400" dirty="0" err="1"/>
              <a:t>example</a:t>
            </a:r>
            <a:r>
              <a:rPr lang="sv-SE" sz="1400" dirty="0"/>
              <a:t>, </a:t>
            </a:r>
            <a:r>
              <a:rPr lang="sv-SE" sz="1400" dirty="0" err="1"/>
              <a:t>run</a:t>
            </a:r>
            <a:r>
              <a:rPr lang="sv-SE" sz="1400" dirty="0"/>
              <a:t> on the </a:t>
            </a:r>
            <a:r>
              <a:rPr lang="sv-SE" sz="1400" dirty="0" err="1"/>
              <a:t>projector</a:t>
            </a:r>
            <a:r>
              <a:rPr lang="sv-SE" sz="1400" dirty="0"/>
              <a:t>.</a:t>
            </a:r>
          </a:p>
          <a:p>
            <a:endParaRPr lang="sv-SE" sz="1400" dirty="0"/>
          </a:p>
          <a:p>
            <a:pPr lvl="0"/>
            <a:r>
              <a:rPr lang="sv-SE" sz="1400" dirty="0"/>
              <a:t>- Watch the timings: </a:t>
            </a:r>
            <a:r>
              <a:rPr lang="sv-SE" sz="1400" dirty="0" err="1"/>
              <a:t>first</a:t>
            </a:r>
            <a:r>
              <a:rPr lang="sv-SE" sz="1400" dirty="0"/>
              <a:t> </a:t>
            </a:r>
            <a:r>
              <a:rPr lang="sv-SE" sz="1400" dirty="0" err="1"/>
              <a:t>run</a:t>
            </a:r>
            <a:r>
              <a:rPr lang="sv-SE" sz="1400" dirty="0"/>
              <a:t> </a:t>
            </a:r>
            <a:r>
              <a:rPr lang="sv-SE" sz="1400" dirty="0" err="1"/>
              <a:t>slow</a:t>
            </a:r>
            <a:r>
              <a:rPr lang="sv-SE" sz="1400" dirty="0"/>
              <a:t> (</a:t>
            </a:r>
            <a:r>
              <a:rPr lang="sv-SE" sz="1400" dirty="0" err="1"/>
              <a:t>warm-up</a:t>
            </a:r>
            <a:r>
              <a:rPr lang="sv-SE" sz="1400" dirty="0"/>
              <a:t>), second </a:t>
            </a:r>
            <a:r>
              <a:rPr lang="sv-SE" sz="1400" dirty="0" err="1"/>
              <a:t>run</a:t>
            </a:r>
            <a:r>
              <a:rPr lang="sv-SE" sz="1400" dirty="0"/>
              <a:t> fast.</a:t>
            </a:r>
          </a:p>
          <a:p>
            <a:pPr lvl="0"/>
            <a:endParaRPr lang="sv-SE" sz="1400" dirty="0"/>
          </a:p>
          <a:p>
            <a:pPr lvl="0"/>
            <a:r>
              <a:rPr lang="sv-SE" sz="1400" dirty="0"/>
              <a:t>- Watch the </a:t>
            </a:r>
            <a:r>
              <a:rPr lang="sv-SE" sz="1400" dirty="0" err="1"/>
              <a:t>query</a:t>
            </a:r>
            <a:r>
              <a:rPr lang="sv-SE" sz="1400" dirty="0"/>
              <a:t> plan for </a:t>
            </a:r>
            <a:r>
              <a:rPr lang="sv-SE" dirty="0"/>
              <a:t>Exchange</a:t>
            </a:r>
            <a:r>
              <a:rPr lang="sv-SE" sz="1400" dirty="0"/>
              <a:t> — </a:t>
            </a:r>
            <a:r>
              <a:rPr lang="sv-SE" sz="1400" dirty="0" err="1"/>
              <a:t>that's</a:t>
            </a:r>
            <a:r>
              <a:rPr lang="sv-SE" sz="1400" dirty="0"/>
              <a:t> the shuffle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sv-SE" sz="1200" b="1" dirty="0">
                <a:solidFill>
                  <a:srgbClr val="F2994A"/>
                </a:solidFill>
                <a:latin typeface="Calibri"/>
              </a:rPr>
              <a:t>TAKEAWAYS</a:t>
            </a:r>
            <a:endParaRPr sz="1200" b="1" dirty="0">
              <a:solidFill>
                <a:srgbClr val="F2994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Five questions to answer while today is 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1824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What is Spark, in your own words?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Not the marketing sentence.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What does Databricks add on top of Spark?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Name </a:t>
            </a:r>
            <a:r>
              <a:rPr lang="sv-SE" sz="1500" dirty="0">
                <a:solidFill>
                  <a:srgbClr val="44506B"/>
                </a:solidFill>
                <a:latin typeface="Calibri"/>
              </a:rPr>
              <a:t>2-3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concrete things.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Why does your project not use either?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</a:t>
            </a:r>
            <a:endParaRPr lang="sv-SE" sz="1500" dirty="0">
              <a:solidFill>
                <a:srgbClr val="44506B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Under what change would that answer flip?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Be specific: how much data, how many sources, </a:t>
            </a:r>
            <a:r>
              <a:rPr lang="sv-SE" sz="1500" dirty="0">
                <a:solidFill>
                  <a:srgbClr val="44506B"/>
                </a:solidFill>
                <a:latin typeface="Calibri"/>
              </a:rPr>
              <a:t>…</a:t>
            </a:r>
            <a:r>
              <a:rPr sz="1500" dirty="0">
                <a:solidFill>
                  <a:srgbClr val="44506B"/>
                </a:solidFill>
                <a:latin typeface="Calibri"/>
              </a:rPr>
              <a:t>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44506B"/>
                </a:solidFill>
                <a:latin typeface="Calibri"/>
              </a:rPr>
              <a:t>•  What did the timing experiment show, and did it match your expectation?</a:t>
            </a:r>
            <a:r>
              <a:rPr sz="1500" dirty="0">
                <a:solidFill>
                  <a:srgbClr val="44506B"/>
                </a:solidFill>
                <a:latin typeface="Calibri"/>
              </a:rPr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THIS AFTERNOON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Sprint 1 planning · 13:00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677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30 minutes per team, then </a:t>
            </a:r>
            <a:r>
              <a:rPr lang="sv-SE" sz="1600" b="1" dirty="0" err="1">
                <a:solidFill>
                  <a:srgbClr val="44506B"/>
                </a:solidFill>
                <a:latin typeface="Calibri"/>
              </a:rPr>
              <a:t>project</a:t>
            </a:r>
            <a:r>
              <a:rPr lang="sv-SE" sz="1600" b="1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600" b="1" dirty="0" err="1">
                <a:solidFill>
                  <a:srgbClr val="44506B"/>
                </a:solidFill>
                <a:latin typeface="Calibri"/>
              </a:rPr>
              <a:t>work</a:t>
            </a:r>
            <a:r>
              <a:rPr sz="1600" b="1" dirty="0">
                <a:solidFill>
                  <a:srgbClr val="44506B"/>
                </a:solidFill>
                <a:latin typeface="Calibri"/>
              </a:rPr>
              <a:t> until 14:45.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44506B"/>
                </a:solidFill>
                <a:latin typeface="Calibri"/>
              </a:rPr>
              <a:t>•  End of day:</a:t>
            </a:r>
            <a:r>
              <a:rPr sz="1600" dirty="0">
                <a:solidFill>
                  <a:srgbClr val="44506B"/>
                </a:solidFill>
                <a:latin typeface="Calibri"/>
              </a:rPr>
              <a:t>  each team names one blocker.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Deadline Friday 4/9 — own-data teams: loadable base model + history in the repo.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2048</Words>
  <Application>Microsoft Macintosh PowerPoint</Application>
  <PresentationFormat>Bredbild</PresentationFormat>
  <Paragraphs>214</Paragraphs>
  <Slides>22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huss</cp:lastModifiedBy>
  <cp:revision>35</cp:revision>
  <dcterms:created xsi:type="dcterms:W3CDTF">2013-01-27T09:14:16Z</dcterms:created>
  <dcterms:modified xsi:type="dcterms:W3CDTF">2026-08-31T19:37:43Z</dcterms:modified>
  <cp:category/>
</cp:coreProperties>
</file>