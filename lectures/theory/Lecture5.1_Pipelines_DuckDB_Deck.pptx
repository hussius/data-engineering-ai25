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73" r:id="rId9"/>
    <p:sldId id="265" r:id="rId10"/>
    <p:sldId id="266" r:id="rId11"/>
    <p:sldId id="274" r:id="rId12"/>
    <p:sldId id="275" r:id="rId13"/>
    <p:sldId id="267" r:id="rId14"/>
    <p:sldId id="276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45"/>
  </p:normalViewPr>
  <p:slideViewPr>
    <p:cSldViewPr snapToGrid="0" snapToObjects="1">
      <p:cViewPr varScale="1">
        <p:scale>
          <a:sx n="113" d="100"/>
          <a:sy n="113" d="100"/>
        </p:scale>
        <p:origin x="5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285716" y="747032"/>
            <a:ext cx="91190" cy="9119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333024" y="2188324"/>
            <a:ext cx="108490" cy="10849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236270" y="474847"/>
            <a:ext cx="142014" cy="14201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855230" y="2168103"/>
            <a:ext cx="139377" cy="139377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110158" y="1182855"/>
            <a:ext cx="93994" cy="9399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807936" y="2172428"/>
            <a:ext cx="85132" cy="8513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105320" y="2197970"/>
            <a:ext cx="130906" cy="13090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480446" y="831731"/>
            <a:ext cx="112053" cy="11205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462798" y="835950"/>
            <a:ext cx="90398" cy="9039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994381" y="1835513"/>
            <a:ext cx="173776" cy="1737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863530" y="468567"/>
            <a:ext cx="157157" cy="157157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980248" y="379470"/>
            <a:ext cx="80892" cy="8089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930072" y="1330078"/>
            <a:ext cx="99487" cy="99487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294560" y="1825748"/>
            <a:ext cx="121964" cy="12196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590694" y="1856596"/>
            <a:ext cx="153602" cy="15360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219734" y="2064875"/>
            <a:ext cx="155436" cy="15543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333100" y="608753"/>
            <a:ext cx="77583" cy="7758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370294" y="2275691"/>
            <a:ext cx="64703" cy="6470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882051" y="2029395"/>
            <a:ext cx="88440" cy="8844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428353" y="1462595"/>
            <a:ext cx="162101" cy="16210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927531" y="1818440"/>
            <a:ext cx="115200" cy="1152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271825" y="1909497"/>
            <a:ext cx="135238" cy="13523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774699" y="1612494"/>
            <a:ext cx="136579" cy="13657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920210" y="1373086"/>
            <a:ext cx="149388" cy="14938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640080"/>
            <a:ext cx="3200000" cy="400000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DATA ENGINEERING · WEEK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1600200"/>
            <a:ext cx="9601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 dirty="0">
                <a:solidFill>
                  <a:srgbClr val="FFFFFF"/>
                </a:solidFill>
                <a:latin typeface="Calibri"/>
              </a:rPr>
              <a:t>Pipelines</a:t>
            </a:r>
            <a:r>
              <a:rPr lang="sv-SE" sz="4000" b="0" dirty="0">
                <a:solidFill>
                  <a:srgbClr val="FFFFFF"/>
                </a:solidFill>
                <a:latin typeface="Calibri"/>
              </a:rPr>
              <a:t> and</a:t>
            </a:r>
            <a:r>
              <a:rPr sz="4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4000" b="0" dirty="0" err="1">
                <a:solidFill>
                  <a:srgbClr val="FFFFFF"/>
                </a:solidFill>
                <a:latin typeface="Calibri"/>
              </a:rPr>
              <a:t>DuckDB</a:t>
            </a:r>
            <a:endParaRPr sz="4000" b="0" dirty="0">
              <a:solidFill>
                <a:srgbClr val="FFFFFF"/>
              </a:solidFill>
              <a:latin typeface="Calibri"/>
            </a:endParaRPr>
          </a:p>
          <a:p>
            <a:endParaRPr sz="4000" b="0" dirty="0">
              <a:solidFill>
                <a:srgbClr val="FFFFFF"/>
              </a:solidFill>
              <a:latin typeface="Calibri"/>
            </a:endParaRPr>
          </a:p>
          <a:p>
            <a:endParaRPr sz="40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0080" y="4200000"/>
            <a:ext cx="9601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CADCFC"/>
                </a:solidFill>
                <a:latin typeface="Calibri"/>
              </a:rPr>
              <a:t>Data engineering och Agila </a:t>
            </a:r>
            <a:r>
              <a:rPr sz="1500" b="0" dirty="0" err="1">
                <a:solidFill>
                  <a:srgbClr val="CADCFC"/>
                </a:solidFill>
                <a:latin typeface="Calibri"/>
              </a:rPr>
              <a:t>metoder</a:t>
            </a:r>
            <a:r>
              <a:rPr sz="1500" b="0" dirty="0">
                <a:solidFill>
                  <a:srgbClr val="CADCFC"/>
                </a:solidFill>
                <a:latin typeface="Calibri"/>
              </a:rPr>
              <a:t> — IT </a:t>
            </a:r>
            <a:r>
              <a:rPr sz="1500" b="0" dirty="0" err="1">
                <a:solidFill>
                  <a:srgbClr val="CADCFC"/>
                </a:solidFill>
                <a:latin typeface="Calibri"/>
              </a:rPr>
              <a:t>Högskolan</a:t>
            </a:r>
            <a:r>
              <a:rPr sz="1500" b="0" dirty="0">
                <a:solidFill>
                  <a:srgbClr val="CADCFC"/>
                </a:solidFill>
                <a:latin typeface="Calibri"/>
              </a:rPr>
              <a:t> · Tue 25/</a:t>
            </a:r>
            <a:r>
              <a:rPr lang="sv-SE" sz="1500" b="0" dirty="0">
                <a:solidFill>
                  <a:srgbClr val="CADCFC"/>
                </a:solidFill>
                <a:latin typeface="Calibri"/>
              </a:rPr>
              <a:t>8</a:t>
            </a:r>
            <a:endParaRPr sz="1500" b="0" dirty="0">
              <a:solidFill>
                <a:srgbClr val="CADCFC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0080" y="4750000"/>
            <a:ext cx="96012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Mikael Huss  ·  IT Högskolan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75720" y="6510528"/>
            <a:ext cx="9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A6C4"/>
                </a:solidFill>
                <a:latin typeface="Calibr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994A"/>
                </a:solidFill>
                <a:latin typeface="Calibri"/>
              </a:rPr>
              <a:t>RECAP · 15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96012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Before we start: Week 2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Data Engineering och Agila metoder · 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00000"/>
            <a:ext cx="10800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dirty="0">
                <a:solidFill>
                  <a:srgbClr val="44506B"/>
                </a:solidFill>
                <a:latin typeface="Calibri"/>
              </a:rPr>
              <a:t>•  Git for teams</a:t>
            </a:r>
            <a:r>
              <a:rPr sz="1600" dirty="0">
                <a:solidFill>
                  <a:srgbClr val="44506B"/>
                </a:solidFill>
                <a:latin typeface="Calibri"/>
              </a:rPr>
              <a:t>  branch, commit, push, pull request — you used this on your own repo.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44506B"/>
                </a:solidFill>
                <a:latin typeface="Calibri"/>
              </a:rPr>
              <a:t>•  Code review</a:t>
            </a:r>
            <a:r>
              <a:rPr sz="1600" dirty="0">
                <a:solidFill>
                  <a:srgbClr val="44506B"/>
                </a:solidFill>
                <a:latin typeface="Calibri"/>
              </a:rPr>
              <a:t>  blocking vs. non-blocking, at least one comment addressed before merge.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44506B"/>
                </a:solidFill>
                <a:latin typeface="Calibri"/>
              </a:rPr>
              <a:t>•  The first real pipeline</a:t>
            </a:r>
            <a:r>
              <a:rPr sz="1600" dirty="0">
                <a:solidFill>
                  <a:srgbClr val="44506B"/>
                </a:solidFill>
                <a:latin typeface="Calibri"/>
              </a:rPr>
              <a:t>  ingestion API + Postgres, raw and clean layers, docker-compose.</a:t>
            </a:r>
          </a:p>
          <a:p>
            <a:pPr>
              <a:spcAft>
                <a:spcPts val="800"/>
              </a:spcAft>
            </a:pPr>
            <a:endParaRPr sz="1600" dirty="0">
              <a:solidFill>
                <a:srgbClr val="44506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3200000"/>
            <a:ext cx="100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Pipeline design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00000"/>
            <a:ext cx="95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ADCFC"/>
                </a:solidFill>
                <a:latin typeface="Calibri"/>
              </a:rPr>
              <a:t>ETL vs. ELT, batch vs. streaming, and the bronze/silver/gold naming convention you'll use for the rest of the course.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Data Engineering och Agila metoder · Week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994A"/>
                </a:solidFill>
                <a:latin typeface="Calibri"/>
              </a:rPr>
              <a:t>PIPELINE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96012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ETL vs. ELT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Data Engineering och Agila metoder · 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0000"/>
            <a:ext cx="5250000" cy="42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0000" y="1700000"/>
            <a:ext cx="48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2761"/>
                </a:solidFill>
                <a:latin typeface="Calibri"/>
              </a:rPr>
              <a:t>ETL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2350000"/>
            <a:ext cx="485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4506B"/>
                </a:solidFill>
                <a:latin typeface="Calibri"/>
              </a:rPr>
              <a:t>•  Extract → Transform → Load.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4506B"/>
                </a:solidFill>
                <a:latin typeface="Calibri"/>
              </a:rPr>
              <a:t>•  Transform happens before the data lands — outside the warehouse, in the pipeline code.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4506B"/>
                </a:solidFill>
                <a:latin typeface="Calibri"/>
              </a:rPr>
              <a:t>•  You decide the shape of the data up front.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4506B"/>
                </a:solidFill>
                <a:latin typeface="Calibri"/>
              </a:rPr>
              <a:t>•  Classic pattern when the destination is expensive or fragile.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00000" y="1500000"/>
            <a:ext cx="5250000" cy="42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0000" y="1700000"/>
            <a:ext cx="48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2761"/>
                </a:solidFill>
                <a:latin typeface="Calibri"/>
              </a:rPr>
              <a:t>ELT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000" y="2350000"/>
            <a:ext cx="485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4506B"/>
                </a:solidFill>
                <a:latin typeface="Calibri"/>
              </a:rPr>
              <a:t>•  Extract → Load → Transform.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4506B"/>
                </a:solidFill>
                <a:latin typeface="Calibri"/>
              </a:rPr>
              <a:t>•  Raw data lands first, transform happens inside the warehouse/database afterwards.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4506B"/>
                </a:solidFill>
                <a:latin typeface="Calibri"/>
              </a:rPr>
              <a:t>•  Cheap, elastic compute (DuckDB, cloud warehouses) made this the default since ~2015.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4506B"/>
                </a:solidFill>
                <a:latin typeface="Calibri"/>
              </a:rPr>
              <a:t>•  This is what you did Thursday: land raw, then build clean on top.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00000" y="5900000"/>
            <a:ext cx="3000000" cy="380000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This course: ELT throughout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994A"/>
                </a:solidFill>
                <a:latin typeface="Calibri"/>
              </a:rPr>
              <a:t>PIPELINE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96012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Batch vs. streaming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Data Engineering och Agila metoder · 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0000"/>
            <a:ext cx="108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44506B"/>
                </a:solidFill>
                <a:latin typeface="Calibri"/>
              </a:rPr>
              <a:t>•  Batch</a:t>
            </a:r>
            <a:r>
              <a:rPr sz="1600">
                <a:solidFill>
                  <a:srgbClr val="44506B"/>
                </a:solidFill>
                <a:latin typeface="Calibri"/>
              </a:rPr>
              <a:t>  process data in chunks, on a schedule (hourly, daily). Simple, debuggable, and what every pipeline in this course uses.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44506B"/>
                </a:solidFill>
                <a:latin typeface="Calibri"/>
              </a:rPr>
              <a:t>•  Streaming</a:t>
            </a:r>
            <a:r>
              <a:rPr sz="1600">
                <a:solidFill>
                  <a:srgbClr val="44506B"/>
                </a:solidFill>
                <a:latin typeface="Calibri"/>
              </a:rPr>
              <a:t>  process events continuously, as they arrive (Kafka, Kinesis, Flink). Lower latency, much higher operational complexity.</a:t>
            </a:r>
          </a:p>
        </p:txBody>
      </p:sp>
      <p:pic>
        <p:nvPicPr>
          <p:cNvPr id="10" name="Bildobjekt 9" descr="Comprehensive Guide to Apache Kafka: Architecture, Use Cases, and Code  Examples | by Dev Cookies | Dev Genius">
            <a:extLst>
              <a:ext uri="{FF2B5EF4-FFF2-40B4-BE49-F238E27FC236}">
                <a16:creationId xmlns:a16="http://schemas.microsoft.com/office/drawing/2014/main" id="{74414FDD-22F3-D4A3-50D7-71624DC47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160" y="2642550"/>
            <a:ext cx="2929519" cy="2991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994A"/>
                </a:solidFill>
                <a:latin typeface="Calibri"/>
              </a:rPr>
              <a:t>PIPELINE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96012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The medallion architecture: bronze, silver, gold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Data Engineering och Agila metoder · 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6</a:t>
            </a:r>
          </a:p>
        </p:txBody>
      </p:sp>
      <p:pic>
        <p:nvPicPr>
          <p:cNvPr id="20" name="Bildobjekt 19" descr="Building Reliable, Performant Data Pipelines with Delta Lake">
            <a:extLst>
              <a:ext uri="{FF2B5EF4-FFF2-40B4-BE49-F238E27FC236}">
                <a16:creationId xmlns:a16="http://schemas.microsoft.com/office/drawing/2014/main" id="{07A5E713-EBFA-075E-6132-D13926BFBC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011"/>
          <a:stretch>
            <a:fillRect/>
          </a:stretch>
        </p:blipFill>
        <p:spPr>
          <a:xfrm>
            <a:off x="818445" y="1636888"/>
            <a:ext cx="9753599" cy="39853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60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F2994A"/>
                </a:solidFill>
                <a:latin typeface="Calibri"/>
              </a:rPr>
              <a:t>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96012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Row vs. columnar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Data Engineering och Agila metoder · 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0000"/>
            <a:ext cx="5250000" cy="38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0000" y="1700000"/>
            <a:ext cx="48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2761"/>
                </a:solidFill>
                <a:latin typeface="Calibri"/>
              </a:rPr>
              <a:t>Row-oriented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2300000"/>
            <a:ext cx="485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4506B"/>
                </a:solidFill>
                <a:latin typeface="Calibri"/>
              </a:rPr>
              <a:t>•  Stores each record together, field by field.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4506B"/>
                </a:solidFill>
                <a:latin typeface="Calibri"/>
              </a:rPr>
              <a:t>•  Fast for reading/writing one full record (a transaction).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4506B"/>
                </a:solidFill>
                <a:latin typeface="Calibri"/>
              </a:rPr>
              <a:t>•  Postgres, MySQL — OLTP workloads.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00000" y="1500000"/>
            <a:ext cx="5250000" cy="38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0000" y="1700000"/>
            <a:ext cx="48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2761"/>
                </a:solidFill>
                <a:latin typeface="Calibri"/>
              </a:rPr>
              <a:t>Column-oriented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000" y="2300000"/>
            <a:ext cx="485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4506B"/>
                </a:solidFill>
                <a:latin typeface="Calibri"/>
              </a:rPr>
              <a:t>•  Stores each column together, across all records.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4506B"/>
                </a:solidFill>
                <a:latin typeface="Calibri"/>
              </a:rPr>
              <a:t>•  Fast for aggregating one field over millions of rows.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4506B"/>
                </a:solidFill>
                <a:latin typeface="Calibri"/>
              </a:rPr>
              <a:t>•  DuckDB, Parquet, most warehouses — OLAP workloads.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C1EA3-3BF2-BF89-254B-1A0A7CF02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45660D-97AA-5260-61CF-EE51E6D6B976}"/>
              </a:ext>
            </a:extLst>
          </p:cNvPr>
          <p:cNvSpPr txBox="1"/>
          <p:nvPr/>
        </p:nvSpPr>
        <p:spPr>
          <a:xfrm>
            <a:off x="502920" y="300000"/>
            <a:ext cx="60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F2994A"/>
                </a:solidFill>
                <a:latin typeface="Calibri"/>
              </a:rPr>
              <a:t>STORAGE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BB8267-B2BA-F5C8-AC2F-C4B0928818E1}"/>
              </a:ext>
            </a:extLst>
          </p:cNvPr>
          <p:cNvSpPr txBox="1"/>
          <p:nvPr/>
        </p:nvSpPr>
        <p:spPr>
          <a:xfrm>
            <a:off x="502920" y="560000"/>
            <a:ext cx="96012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sv-SE" sz="2600" b="1" dirty="0">
                <a:solidFill>
                  <a:srgbClr val="1E2761"/>
                </a:solidFill>
                <a:latin typeface="Calibri"/>
              </a:rPr>
              <a:t>Concert data</a:t>
            </a:r>
            <a:endParaRPr sz="2600" b="1" dirty="0">
              <a:solidFill>
                <a:srgbClr val="1E2761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D1E956-ADDB-AD48-F816-B115757A130D}"/>
              </a:ext>
            </a:extLst>
          </p:cNvPr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Data Engineering och Agila metoder · Week 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8B68D1-5623-762B-4024-F8F6FDDB86D2}"/>
              </a:ext>
            </a:extLst>
          </p:cNvPr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CBDA1CA-5732-C951-3A82-85BE5619850B}"/>
              </a:ext>
            </a:extLst>
          </p:cNvPr>
          <p:cNvSpPr/>
          <p:nvPr/>
        </p:nvSpPr>
        <p:spPr>
          <a:xfrm>
            <a:off x="761526" y="3372813"/>
            <a:ext cx="8013276" cy="2887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15" name="Bildobjekt 14">
            <a:extLst>
              <a:ext uri="{FF2B5EF4-FFF2-40B4-BE49-F238E27FC236}">
                <a16:creationId xmlns:a16="http://schemas.microsoft.com/office/drawing/2014/main" id="{2C8BFB0D-C15F-E66D-A190-0FA700706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60000"/>
            <a:ext cx="3517900" cy="1968500"/>
          </a:xfrm>
          <a:prstGeom prst="rect">
            <a:avLst/>
          </a:prstGeom>
        </p:spPr>
      </p:pic>
      <p:sp>
        <p:nvSpPr>
          <p:cNvPr id="17" name="textruta 16">
            <a:extLst>
              <a:ext uri="{FF2B5EF4-FFF2-40B4-BE49-F238E27FC236}">
                <a16:creationId xmlns:a16="http://schemas.microsoft.com/office/drawing/2014/main" id="{24F6905F-6C43-E878-5607-011C14F62258}"/>
              </a:ext>
            </a:extLst>
          </p:cNvPr>
          <p:cNvSpPr txBox="1"/>
          <p:nvPr/>
        </p:nvSpPr>
        <p:spPr>
          <a:xfrm>
            <a:off x="4854222" y="1558000"/>
            <a:ext cx="605084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dirty="0"/>
              <a:t>[Debaser,Rock,350] </a:t>
            </a:r>
          </a:p>
          <a:p>
            <a:r>
              <a:rPr lang="sv-SE" dirty="0"/>
              <a:t>[Nalen,Pop,420] </a:t>
            </a:r>
          </a:p>
          <a:p>
            <a:r>
              <a:rPr lang="sv-SE" dirty="0"/>
              <a:t>[Annexet,Metal,600] </a:t>
            </a:r>
          </a:p>
          <a:p>
            <a:r>
              <a:rPr lang="sv-SE" dirty="0"/>
              <a:t>[Fryshuset,Indie,280] </a:t>
            </a:r>
          </a:p>
          <a:p>
            <a:r>
              <a:rPr lang="sv-SE" dirty="0"/>
              <a:t>[Cirkus,Jazz,510]</a:t>
            </a:r>
          </a:p>
        </p:txBody>
      </p:sp>
      <p:sp>
        <p:nvSpPr>
          <p:cNvPr id="18" name="textruta 17">
            <a:extLst>
              <a:ext uri="{FF2B5EF4-FFF2-40B4-BE49-F238E27FC236}">
                <a16:creationId xmlns:a16="http://schemas.microsoft.com/office/drawing/2014/main" id="{F34012C1-8000-F37F-9535-7C819EB054E9}"/>
              </a:ext>
            </a:extLst>
          </p:cNvPr>
          <p:cNvSpPr txBox="1"/>
          <p:nvPr/>
        </p:nvSpPr>
        <p:spPr>
          <a:xfrm>
            <a:off x="4854222" y="1120555"/>
            <a:ext cx="2059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 err="1"/>
              <a:t>Row-based</a:t>
            </a:r>
            <a:r>
              <a:rPr lang="sv-SE" b="1" dirty="0"/>
              <a:t> </a:t>
            </a:r>
            <a:r>
              <a:rPr lang="sv-SE" b="1" dirty="0" err="1"/>
              <a:t>storage</a:t>
            </a:r>
            <a:r>
              <a:rPr lang="sv-SE" b="1" dirty="0"/>
              <a:t>:</a:t>
            </a:r>
          </a:p>
        </p:txBody>
      </p:sp>
      <p:sp>
        <p:nvSpPr>
          <p:cNvPr id="20" name="textruta 19">
            <a:extLst>
              <a:ext uri="{FF2B5EF4-FFF2-40B4-BE49-F238E27FC236}">
                <a16:creationId xmlns:a16="http://schemas.microsoft.com/office/drawing/2014/main" id="{1FDD9B6F-2897-4A77-CEE8-E5EA88F97055}"/>
              </a:ext>
            </a:extLst>
          </p:cNvPr>
          <p:cNvSpPr txBox="1"/>
          <p:nvPr/>
        </p:nvSpPr>
        <p:spPr>
          <a:xfrm>
            <a:off x="7434580" y="1572576"/>
            <a:ext cx="43154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dirty="0"/>
              <a:t>[</a:t>
            </a:r>
            <a:r>
              <a:rPr lang="sv-SE" dirty="0" err="1"/>
              <a:t>Debaser,Nalen,Annexet,Fryshuset,Cirkus</a:t>
            </a:r>
            <a:r>
              <a:rPr lang="sv-SE" dirty="0"/>
              <a:t>] </a:t>
            </a:r>
          </a:p>
          <a:p>
            <a:r>
              <a:rPr lang="sv-SE" dirty="0"/>
              <a:t>[</a:t>
            </a:r>
            <a:r>
              <a:rPr lang="sv-SE" dirty="0" err="1"/>
              <a:t>Rock,Pop,Metal,Indie,Jazz</a:t>
            </a:r>
            <a:r>
              <a:rPr lang="sv-SE" dirty="0"/>
              <a:t>] [350,420,600,280,510]</a:t>
            </a:r>
          </a:p>
        </p:txBody>
      </p:sp>
      <p:sp>
        <p:nvSpPr>
          <p:cNvPr id="22" name="textruta 21">
            <a:extLst>
              <a:ext uri="{FF2B5EF4-FFF2-40B4-BE49-F238E27FC236}">
                <a16:creationId xmlns:a16="http://schemas.microsoft.com/office/drawing/2014/main" id="{29E57352-0D67-A077-9ED1-8DFBF510DABA}"/>
              </a:ext>
            </a:extLst>
          </p:cNvPr>
          <p:cNvSpPr txBox="1"/>
          <p:nvPr/>
        </p:nvSpPr>
        <p:spPr>
          <a:xfrm>
            <a:off x="7399200" y="1120555"/>
            <a:ext cx="2704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b="1" dirty="0" err="1"/>
              <a:t>Column</a:t>
            </a:r>
            <a:r>
              <a:rPr lang="sv-SE" sz="1800" b="1" dirty="0" err="1"/>
              <a:t>-based</a:t>
            </a:r>
            <a:r>
              <a:rPr lang="sv-SE" sz="1800" b="1" dirty="0"/>
              <a:t> </a:t>
            </a:r>
            <a:r>
              <a:rPr lang="sv-SE" sz="1800" b="1" dirty="0" err="1"/>
              <a:t>storage</a:t>
            </a:r>
            <a:r>
              <a:rPr lang="sv-SE" sz="1800" b="1" dirty="0"/>
              <a:t>:</a:t>
            </a:r>
          </a:p>
        </p:txBody>
      </p:sp>
      <p:sp>
        <p:nvSpPr>
          <p:cNvPr id="24" name="textruta 23">
            <a:extLst>
              <a:ext uri="{FF2B5EF4-FFF2-40B4-BE49-F238E27FC236}">
                <a16:creationId xmlns:a16="http://schemas.microsoft.com/office/drawing/2014/main" id="{E7D60E4A-D0FA-AAE3-B256-79B82EA55DFE}"/>
              </a:ext>
            </a:extLst>
          </p:cNvPr>
          <p:cNvSpPr txBox="1"/>
          <p:nvPr/>
        </p:nvSpPr>
        <p:spPr>
          <a:xfrm>
            <a:off x="695768" y="3632335"/>
            <a:ext cx="98932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i="1" dirty="0"/>
              <a:t>Task 1: </a:t>
            </a:r>
            <a:r>
              <a:rPr lang="sv-SE" dirty="0"/>
              <a:t>Get all the info </a:t>
            </a:r>
            <a:r>
              <a:rPr lang="sv-SE" dirty="0" err="1"/>
              <a:t>about</a:t>
            </a:r>
            <a:r>
              <a:rPr lang="sv-SE" dirty="0"/>
              <a:t> the Annexet show: </a:t>
            </a:r>
            <a:r>
              <a:rPr lang="sv-SE" dirty="0" err="1"/>
              <a:t>venue</a:t>
            </a:r>
            <a:r>
              <a:rPr lang="sv-SE" dirty="0"/>
              <a:t>, genre, and </a:t>
            </a:r>
            <a:r>
              <a:rPr lang="sv-SE" dirty="0" err="1"/>
              <a:t>price</a:t>
            </a:r>
            <a:r>
              <a:rPr lang="sv-SE" dirty="0"/>
              <a:t>. </a:t>
            </a:r>
            <a:r>
              <a:rPr lang="sv-SE" dirty="0" err="1"/>
              <a:t>How</a:t>
            </a:r>
            <a:r>
              <a:rPr lang="sv-SE" dirty="0"/>
              <a:t> </a:t>
            </a:r>
            <a:r>
              <a:rPr lang="sv-SE" dirty="0" err="1"/>
              <a:t>many</a:t>
            </a:r>
            <a:r>
              <a:rPr lang="sv-SE" dirty="0"/>
              <a:t> data blocks do </a:t>
            </a:r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have</a:t>
            </a:r>
            <a:r>
              <a:rPr lang="sv-SE" dirty="0"/>
              <a:t> to look at to </a:t>
            </a:r>
            <a:r>
              <a:rPr lang="sv-SE" dirty="0" err="1"/>
              <a:t>answer</a:t>
            </a:r>
            <a:r>
              <a:rPr lang="sv-SE" dirty="0"/>
              <a:t> the </a:t>
            </a:r>
            <a:r>
              <a:rPr lang="sv-SE" dirty="0" err="1"/>
              <a:t>question</a:t>
            </a:r>
            <a:r>
              <a:rPr lang="sv-SE" dirty="0"/>
              <a:t> in </a:t>
            </a:r>
            <a:r>
              <a:rPr lang="sv-SE" dirty="0" err="1"/>
              <a:t>row</a:t>
            </a:r>
            <a:r>
              <a:rPr lang="sv-SE" dirty="0"/>
              <a:t> </a:t>
            </a:r>
            <a:r>
              <a:rPr lang="sv-SE" dirty="0" err="1"/>
              <a:t>based</a:t>
            </a:r>
            <a:r>
              <a:rPr lang="sv-SE" dirty="0"/>
              <a:t> </a:t>
            </a:r>
            <a:r>
              <a:rPr lang="sv-SE" dirty="0" err="1"/>
              <a:t>storage</a:t>
            </a:r>
            <a:r>
              <a:rPr lang="sv-SE" dirty="0"/>
              <a:t>? </a:t>
            </a:r>
            <a:r>
              <a:rPr lang="sv-SE" dirty="0" err="1"/>
              <a:t>How</a:t>
            </a:r>
            <a:r>
              <a:rPr lang="sv-SE" dirty="0"/>
              <a:t> </a:t>
            </a:r>
            <a:r>
              <a:rPr lang="sv-SE" dirty="0" err="1"/>
              <a:t>many</a:t>
            </a:r>
            <a:r>
              <a:rPr lang="sv-SE" dirty="0"/>
              <a:t> in </a:t>
            </a:r>
            <a:r>
              <a:rPr lang="sv-SE" dirty="0" err="1"/>
              <a:t>column</a:t>
            </a:r>
            <a:r>
              <a:rPr lang="sv-SE" dirty="0"/>
              <a:t> </a:t>
            </a:r>
            <a:r>
              <a:rPr lang="sv-SE" dirty="0" err="1"/>
              <a:t>based</a:t>
            </a:r>
            <a:r>
              <a:rPr lang="sv-SE" dirty="0"/>
              <a:t>?</a:t>
            </a:r>
          </a:p>
          <a:p>
            <a:endParaRPr lang="sv-SE" dirty="0"/>
          </a:p>
          <a:p>
            <a:r>
              <a:rPr lang="sv-SE" i="1" dirty="0"/>
              <a:t>Task 2</a:t>
            </a:r>
            <a:r>
              <a:rPr lang="sv-SE" dirty="0"/>
              <a:t>: </a:t>
            </a:r>
            <a:r>
              <a:rPr lang="sv-SE" dirty="0" err="1"/>
              <a:t>What’s</a:t>
            </a:r>
            <a:r>
              <a:rPr lang="sv-SE" dirty="0"/>
              <a:t> the </a:t>
            </a:r>
            <a:r>
              <a:rPr lang="sv-SE" dirty="0" err="1"/>
              <a:t>average</a:t>
            </a:r>
            <a:r>
              <a:rPr lang="sv-SE" dirty="0"/>
              <a:t> </a:t>
            </a:r>
            <a:r>
              <a:rPr lang="sv-SE" dirty="0" err="1"/>
              <a:t>price</a:t>
            </a:r>
            <a:r>
              <a:rPr lang="sv-SE" dirty="0"/>
              <a:t> per show? </a:t>
            </a:r>
            <a:r>
              <a:rPr lang="sv-SE" dirty="0" err="1"/>
              <a:t>How</a:t>
            </a:r>
            <a:r>
              <a:rPr lang="sv-SE" dirty="0"/>
              <a:t> </a:t>
            </a:r>
            <a:r>
              <a:rPr lang="sv-SE" dirty="0" err="1"/>
              <a:t>many</a:t>
            </a:r>
            <a:r>
              <a:rPr lang="sv-SE" dirty="0"/>
              <a:t> data blocks do </a:t>
            </a:r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have</a:t>
            </a:r>
            <a:r>
              <a:rPr lang="sv-SE" dirty="0"/>
              <a:t> to look at in </a:t>
            </a:r>
            <a:r>
              <a:rPr lang="sv-SE" dirty="0" err="1"/>
              <a:t>row</a:t>
            </a:r>
            <a:r>
              <a:rPr lang="sv-SE" dirty="0"/>
              <a:t> vs </a:t>
            </a:r>
            <a:r>
              <a:rPr lang="sv-SE" dirty="0" err="1"/>
              <a:t>column</a:t>
            </a:r>
            <a:r>
              <a:rPr lang="sv-SE" dirty="0"/>
              <a:t> </a:t>
            </a:r>
            <a:r>
              <a:rPr lang="sv-SE" dirty="0" err="1"/>
              <a:t>based</a:t>
            </a:r>
            <a:r>
              <a:rPr lang="sv-SE" dirty="0"/>
              <a:t> </a:t>
            </a:r>
            <a:r>
              <a:rPr lang="sv-SE" dirty="0" err="1"/>
              <a:t>storage</a:t>
            </a:r>
            <a:r>
              <a:rPr lang="sv-SE" dirty="0"/>
              <a:t>, </a:t>
            </a:r>
            <a:r>
              <a:rPr lang="sv-SE" dirty="0" err="1"/>
              <a:t>respectively</a:t>
            </a:r>
            <a:r>
              <a:rPr lang="sv-SE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48103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994A"/>
                </a:solidFill>
                <a:latin typeface="Calibri"/>
              </a:rPr>
              <a:t>APIS &amp;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96012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File formats: CSV, JSON, Parquet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Data Engineering och Agila metoder · 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0000"/>
            <a:ext cx="1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2994A"/>
                </a:solidFill>
                <a:latin typeface="Calibri"/>
              </a:rPr>
              <a:t>Format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2920" y="150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2994A"/>
                </a:solidFill>
                <a:latin typeface="Calibri"/>
              </a:rPr>
              <a:t>Shape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02920" y="1500000"/>
            <a:ext cx="3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2994A"/>
                </a:solidFill>
                <a:latin typeface="Calibri"/>
              </a:rPr>
              <a:t>Good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2920" y="150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2994A"/>
                </a:solidFill>
                <a:latin typeface="Calibri"/>
              </a:rPr>
              <a:t>Watch out for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50000"/>
            <a:ext cx="10800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920" y="2100000"/>
            <a:ext cx="135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06B"/>
                </a:solidFill>
                <a:latin typeface="Calibri"/>
              </a:rPr>
              <a:t>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2920" y="2100000"/>
            <a:ext cx="275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06B"/>
                </a:solidFill>
                <a:latin typeface="Calibri"/>
              </a:rPr>
              <a:t>Row-oriented, text, no types.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2920" y="2100000"/>
            <a:ext cx="295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06B"/>
                </a:solidFill>
                <a:latin typeface="Calibri"/>
              </a:rPr>
              <a:t>Universal, human-readable.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2920" y="2100000"/>
            <a:ext cx="275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06B"/>
                </a:solidFill>
                <a:latin typeface="Calibri"/>
              </a:rPr>
              <a:t>No schema, slow at scale, ambiguous types.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000000"/>
            <a:ext cx="10800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2920" y="3150000"/>
            <a:ext cx="135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06B"/>
                </a:solidFill>
                <a:latin typeface="Calibri"/>
              </a:rPr>
              <a:t>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52920" y="3150000"/>
            <a:ext cx="275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06B"/>
                </a:solidFill>
                <a:latin typeface="Calibri"/>
              </a:rPr>
              <a:t>Row-oriented, text, nested.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2920" y="3150000"/>
            <a:ext cx="295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06B"/>
                </a:solidFill>
                <a:latin typeface="Calibri"/>
              </a:rPr>
              <a:t>Matches most API responses directly.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2920" y="3150000"/>
            <a:ext cx="275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06B"/>
                </a:solidFill>
                <a:latin typeface="Calibri"/>
              </a:rPr>
              <a:t>Verbose, still no enforced schema.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050000"/>
            <a:ext cx="10800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2920" y="4200000"/>
            <a:ext cx="135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06B"/>
                </a:solidFill>
                <a:latin typeface="Calibri"/>
              </a:rPr>
              <a:t>Parquet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52920" y="4200000"/>
            <a:ext cx="275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06B"/>
                </a:solidFill>
                <a:latin typeface="Calibri"/>
              </a:rPr>
              <a:t>Columnar, binary, typed.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2920" y="4200000"/>
            <a:ext cx="295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06B"/>
                </a:solidFill>
                <a:latin typeface="Calibri"/>
              </a:rPr>
              <a:t>Compressed, fast for analytics, predicate pushdown.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2920" y="4200000"/>
            <a:ext cx="275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06B"/>
                </a:solidFill>
                <a:latin typeface="Calibri"/>
              </a:rPr>
              <a:t>Not human-readable; needs a reader.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250000"/>
            <a:ext cx="10800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44506B"/>
                </a:solidFill>
                <a:latin typeface="Calibri"/>
              </a:rPr>
              <a:t>The pipeline you built Thursday: JSON in from the API → bronze table in Postgres.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994A"/>
                </a:solidFill>
                <a:latin typeface="Calibri"/>
              </a:rPr>
              <a:t>THE DUCKDB VS POSTGRES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96012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Meet DuckDB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Data Engineering och Agila metoder · 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0000"/>
            <a:ext cx="108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Embedded, not a server</a:t>
            </a:r>
            <a:r>
              <a:rPr sz="1500">
                <a:solidFill>
                  <a:srgbClr val="44506B"/>
                </a:solidFill>
                <a:latin typeface="Calibri"/>
              </a:rPr>
              <a:t>  one .duckdb file, or fully in-memory — no process to start, no socket to connect to.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Columnar OLAP engine</a:t>
            </a:r>
            <a:r>
              <a:rPr sz="1500">
                <a:solidFill>
                  <a:srgbClr val="44506B"/>
                </a:solidFill>
                <a:latin typeface="Calibri"/>
              </a:rPr>
              <a:t>  built for aggregate queries over lots of rows, not for many small concurrent transactions.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Reads Postgres directly</a:t>
            </a:r>
            <a:r>
              <a:rPr sz="1500">
                <a:solidFill>
                  <a:srgbClr val="44506B"/>
                </a:solidFill>
                <a:latin typeface="Calibri"/>
              </a:rPr>
              <a:t>  the postgres extension attaches to a live Postgres database and queries it — no export step.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Speaks Parquet natively</a:t>
            </a:r>
            <a:r>
              <a:rPr sz="1500">
                <a:solidFill>
                  <a:srgbClr val="44506B"/>
                </a:solidFill>
                <a:latin typeface="Calibri"/>
              </a:rPr>
              <a:t>  including predicate pushdown against files in cloud storage, without downloading the whole file.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D5BA0-B079-0331-37B7-D3FAC45E6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210CF3-8B69-F25A-34E0-B0049DE7F87D}"/>
              </a:ext>
            </a:extLst>
          </p:cNvPr>
          <p:cNvSpPr txBox="1"/>
          <p:nvPr/>
        </p:nvSpPr>
        <p:spPr>
          <a:xfrm>
            <a:off x="502920" y="30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994A"/>
                </a:solidFill>
                <a:latin typeface="Calibri"/>
              </a:rPr>
              <a:t>THE DUCKDB VS POSTGRES DEMO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04E540-BB51-7375-5C37-255CA3794A41}"/>
              </a:ext>
            </a:extLst>
          </p:cNvPr>
          <p:cNvSpPr txBox="1"/>
          <p:nvPr/>
        </p:nvSpPr>
        <p:spPr>
          <a:xfrm>
            <a:off x="502920" y="560000"/>
            <a:ext cx="96012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Meet DuckDB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850005-FADA-F485-0B2A-2CEBE0B29A08}"/>
              </a:ext>
            </a:extLst>
          </p:cNvPr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Data Engineering och Agila metoder · Week 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540C75-3C6D-388C-DE25-32A4622CB2E3}"/>
              </a:ext>
            </a:extLst>
          </p:cNvPr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11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0EC7D7-23C2-3192-F695-E896BA083171}"/>
              </a:ext>
            </a:extLst>
          </p:cNvPr>
          <p:cNvSpPr txBox="1"/>
          <p:nvPr/>
        </p:nvSpPr>
        <p:spPr>
          <a:xfrm>
            <a:off x="502920" y="1500000"/>
            <a:ext cx="108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Embedded, not a server</a:t>
            </a:r>
            <a:r>
              <a:rPr sz="1500">
                <a:solidFill>
                  <a:srgbClr val="44506B"/>
                </a:solidFill>
                <a:latin typeface="Calibri"/>
              </a:rPr>
              <a:t>  one .duckdb file, or fully in-memory — no process to start, no socket to connect to.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Columnar OLAP engine</a:t>
            </a:r>
            <a:r>
              <a:rPr sz="1500">
                <a:solidFill>
                  <a:srgbClr val="44506B"/>
                </a:solidFill>
                <a:latin typeface="Calibri"/>
              </a:rPr>
              <a:t>  built for aggregate queries over lots of rows, not for many small concurrent transactions.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Reads Postgres directly</a:t>
            </a:r>
            <a:r>
              <a:rPr sz="1500">
                <a:solidFill>
                  <a:srgbClr val="44506B"/>
                </a:solidFill>
                <a:latin typeface="Calibri"/>
              </a:rPr>
              <a:t>  the postgres extension attaches to a live Postgres database and queries it — no export step.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Speaks Parquet natively</a:t>
            </a:r>
            <a:r>
              <a:rPr sz="1500">
                <a:solidFill>
                  <a:srgbClr val="44506B"/>
                </a:solidFill>
                <a:latin typeface="Calibri"/>
              </a:rPr>
              <a:t>  including predicate pushdown against files in cloud storage, without downloading the whole file.</a:t>
            </a:r>
          </a:p>
        </p:txBody>
      </p:sp>
    </p:spTree>
    <p:extLst>
      <p:ext uri="{BB962C8B-B14F-4D97-AF65-F5344CB8AC3E}">
        <p14:creationId xmlns:p14="http://schemas.microsoft.com/office/powerpoint/2010/main" val="3561709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DCC27-2DE6-1231-BA04-847971A00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8C6C3C-3509-C685-21AA-5AC5E412948C}"/>
              </a:ext>
            </a:extLst>
          </p:cNvPr>
          <p:cNvSpPr txBox="1"/>
          <p:nvPr/>
        </p:nvSpPr>
        <p:spPr>
          <a:xfrm>
            <a:off x="502920" y="30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994A"/>
                </a:solidFill>
                <a:latin typeface="Calibri"/>
              </a:rPr>
              <a:t>THE DUCKDB VS POSTGRES DEMO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167ACE-5DFB-3FA5-F80C-A437BE151AA2}"/>
              </a:ext>
            </a:extLst>
          </p:cNvPr>
          <p:cNvSpPr txBox="1"/>
          <p:nvPr/>
        </p:nvSpPr>
        <p:spPr>
          <a:xfrm>
            <a:off x="502920" y="560000"/>
            <a:ext cx="96012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sv-SE" sz="2600" b="1" dirty="0">
                <a:solidFill>
                  <a:srgbClr val="1E2761"/>
                </a:solidFill>
                <a:latin typeface="Calibri"/>
              </a:rPr>
              <a:t>Mini-demo:</a:t>
            </a:r>
            <a:r>
              <a:rPr sz="2600" b="1" dirty="0">
                <a:solidFill>
                  <a:srgbClr val="1E2761"/>
                </a:solidFill>
                <a:latin typeface="Calibri"/>
              </a:rPr>
              <a:t> </a:t>
            </a:r>
            <a:r>
              <a:rPr sz="2600" b="1" dirty="0" err="1">
                <a:solidFill>
                  <a:srgbClr val="1E2761"/>
                </a:solidFill>
                <a:latin typeface="Calibri"/>
              </a:rPr>
              <a:t>DuckDB</a:t>
            </a:r>
            <a:r>
              <a:rPr lang="sv-SE" sz="2600" b="1" dirty="0">
                <a:solidFill>
                  <a:srgbClr val="1E2761"/>
                </a:solidFill>
                <a:latin typeface="Calibri"/>
              </a:rPr>
              <a:t> and </a:t>
            </a:r>
            <a:r>
              <a:rPr lang="sv-SE" sz="2600" b="1" dirty="0" err="1">
                <a:solidFill>
                  <a:srgbClr val="1E2761"/>
                </a:solidFill>
                <a:latin typeface="Calibri"/>
              </a:rPr>
              <a:t>local</a:t>
            </a:r>
            <a:r>
              <a:rPr lang="sv-SE" sz="2600" b="1" dirty="0">
                <a:solidFill>
                  <a:srgbClr val="1E2761"/>
                </a:solidFill>
                <a:latin typeface="Calibri"/>
              </a:rPr>
              <a:t> </a:t>
            </a:r>
            <a:r>
              <a:rPr lang="sv-SE" sz="2600" b="1" dirty="0" err="1">
                <a:solidFill>
                  <a:srgbClr val="1E2761"/>
                </a:solidFill>
                <a:latin typeface="Calibri"/>
              </a:rPr>
              <a:t>files</a:t>
            </a:r>
            <a:endParaRPr sz="2600" b="1" dirty="0">
              <a:solidFill>
                <a:srgbClr val="1E2761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E91C48-2488-C98C-3D86-6810135B96B2}"/>
              </a:ext>
            </a:extLst>
          </p:cNvPr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Data Engineering och Agila metoder · Week 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915B2E-8068-93AC-33C3-376BEE77511A}"/>
              </a:ext>
            </a:extLst>
          </p:cNvPr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11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6D89AC-E4BA-3F5B-2A2D-37E606AB7670}"/>
              </a:ext>
            </a:extLst>
          </p:cNvPr>
          <p:cNvSpPr txBox="1"/>
          <p:nvPr/>
        </p:nvSpPr>
        <p:spPr>
          <a:xfrm>
            <a:off x="502920" y="1500000"/>
            <a:ext cx="10800000" cy="1544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sv-SE" sz="1500" dirty="0" err="1">
                <a:solidFill>
                  <a:srgbClr val="44506B"/>
                </a:solidFill>
                <a:latin typeface="Calibri"/>
              </a:rPr>
              <a:t>You</a:t>
            </a:r>
            <a:r>
              <a:rPr lang="sv-SE" sz="1500" dirty="0">
                <a:solidFill>
                  <a:srgbClr val="44506B"/>
                </a:solidFill>
                <a:latin typeface="Calibri"/>
              </a:rPr>
              <a:t> </a:t>
            </a:r>
            <a:r>
              <a:rPr lang="sv-SE" sz="1500" dirty="0" err="1">
                <a:solidFill>
                  <a:srgbClr val="44506B"/>
                </a:solidFill>
                <a:latin typeface="Calibri"/>
              </a:rPr>
              <a:t>can</a:t>
            </a:r>
            <a:r>
              <a:rPr lang="sv-SE" sz="1500" dirty="0">
                <a:solidFill>
                  <a:srgbClr val="44506B"/>
                </a:solidFill>
                <a:latin typeface="Calibri"/>
              </a:rPr>
              <a:t> </a:t>
            </a:r>
            <a:r>
              <a:rPr lang="sv-SE" sz="1500" dirty="0" err="1">
                <a:solidFill>
                  <a:srgbClr val="44506B"/>
                </a:solidFill>
                <a:latin typeface="Calibri"/>
              </a:rPr>
              <a:t>query</a:t>
            </a:r>
            <a:r>
              <a:rPr lang="sv-SE" sz="1500" dirty="0">
                <a:solidFill>
                  <a:srgbClr val="44506B"/>
                </a:solidFill>
                <a:latin typeface="Calibri"/>
              </a:rPr>
              <a:t> CSV and </a:t>
            </a:r>
            <a:r>
              <a:rPr lang="sv-SE" sz="1500" dirty="0" err="1">
                <a:solidFill>
                  <a:srgbClr val="44506B"/>
                </a:solidFill>
                <a:latin typeface="Calibri"/>
              </a:rPr>
              <a:t>Parquet</a:t>
            </a:r>
            <a:r>
              <a:rPr lang="sv-SE" sz="1500" dirty="0">
                <a:solidFill>
                  <a:srgbClr val="44506B"/>
                </a:solidFill>
                <a:latin typeface="Calibri"/>
              </a:rPr>
              <a:t> </a:t>
            </a:r>
            <a:r>
              <a:rPr lang="sv-SE" sz="1500" dirty="0" err="1">
                <a:solidFill>
                  <a:srgbClr val="44506B"/>
                </a:solidFill>
                <a:latin typeface="Calibri"/>
              </a:rPr>
              <a:t>files</a:t>
            </a:r>
            <a:r>
              <a:rPr lang="sv-SE" sz="1500" dirty="0">
                <a:solidFill>
                  <a:srgbClr val="44506B"/>
                </a:solidFill>
                <a:latin typeface="Calibri"/>
              </a:rPr>
              <a:t> </a:t>
            </a:r>
            <a:r>
              <a:rPr lang="sv-SE" sz="1500" dirty="0" err="1">
                <a:solidFill>
                  <a:srgbClr val="44506B"/>
                </a:solidFill>
                <a:latin typeface="Calibri"/>
              </a:rPr>
              <a:t>with</a:t>
            </a:r>
            <a:r>
              <a:rPr lang="sv-SE" sz="1500" dirty="0">
                <a:solidFill>
                  <a:srgbClr val="44506B"/>
                </a:solidFill>
                <a:latin typeface="Calibri"/>
              </a:rPr>
              <a:t> SQL syntax:</a:t>
            </a:r>
          </a:p>
          <a:p>
            <a:pPr>
              <a:spcAft>
                <a:spcPts val="800"/>
              </a:spcAft>
            </a:pPr>
            <a:endParaRPr lang="sv-SE" sz="1500" dirty="0">
              <a:solidFill>
                <a:srgbClr val="44506B"/>
              </a:solidFill>
              <a:latin typeface="Calibri"/>
            </a:endParaRPr>
          </a:p>
          <a:p>
            <a:r>
              <a:rPr lang="sv-SE" dirty="0" err="1"/>
              <a:t>query_str_csv</a:t>
            </a:r>
            <a:r>
              <a:rPr lang="sv-SE" dirty="0"/>
              <a:t> = "SELECT * FROM '</a:t>
            </a:r>
            <a:r>
              <a:rPr lang="sv-SE" dirty="0" err="1"/>
              <a:t>concerts.csv</a:t>
            </a:r>
            <a:r>
              <a:rPr lang="sv-SE" dirty="0"/>
              <a:t>' LIMIT 5";</a:t>
            </a:r>
          </a:p>
          <a:p>
            <a:r>
              <a:rPr lang="sv-SE" dirty="0" err="1"/>
              <a:t>response</a:t>
            </a:r>
            <a:r>
              <a:rPr lang="sv-SE" dirty="0"/>
              <a:t> = </a:t>
            </a:r>
            <a:r>
              <a:rPr lang="sv-SE" dirty="0" err="1"/>
              <a:t>duckdb.sql</a:t>
            </a:r>
            <a:r>
              <a:rPr lang="sv-SE" dirty="0"/>
              <a:t>(</a:t>
            </a:r>
            <a:r>
              <a:rPr lang="sv-SE" dirty="0" err="1"/>
              <a:t>query_str_csv</a:t>
            </a:r>
            <a:r>
              <a:rPr lang="sv-SE" dirty="0"/>
              <a:t>)</a:t>
            </a:r>
          </a:p>
          <a:p>
            <a:pPr>
              <a:spcAft>
                <a:spcPts val="800"/>
              </a:spcAft>
            </a:pPr>
            <a:r>
              <a:rPr lang="sv-SE" sz="1500" dirty="0">
                <a:solidFill>
                  <a:srgbClr val="44506B"/>
                </a:solidFill>
                <a:latin typeface="Calibri"/>
              </a:rPr>
              <a:t> </a:t>
            </a:r>
            <a:endParaRPr sz="1500" dirty="0">
              <a:solidFill>
                <a:srgbClr val="44506B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55187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994A"/>
                </a:solidFill>
                <a:latin typeface="Calibri"/>
              </a:rPr>
              <a:t>THE DUCKDB VS POSTGRES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96012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DuckDB vs. Postgres — when to reach for which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Data Engineering och Agila metoder · 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0000"/>
            <a:ext cx="5250000" cy="4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0000" y="1700000"/>
            <a:ext cx="48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2761"/>
                </a:solidFill>
                <a:latin typeface="Calibri"/>
              </a:rPr>
              <a:t>Postgres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2300000"/>
            <a:ext cx="4850000" cy="1159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dirty="0">
                <a:solidFill>
                  <a:srgbClr val="44506B"/>
                </a:solidFill>
                <a:latin typeface="Calibri"/>
              </a:rPr>
              <a:t>•  System of record — the source of truth your app writes to.</a:t>
            </a:r>
          </a:p>
          <a:p>
            <a:pPr>
              <a:spcAft>
                <a:spcPts val="800"/>
              </a:spcAft>
            </a:pPr>
            <a:r>
              <a:rPr sz="1400" dirty="0">
                <a:solidFill>
                  <a:srgbClr val="44506B"/>
                </a:solidFill>
                <a:latin typeface="Calibri"/>
              </a:rPr>
              <a:t>•  Many small, concurrent read/write transactions.</a:t>
            </a:r>
          </a:p>
          <a:p>
            <a:pPr>
              <a:spcAft>
                <a:spcPts val="800"/>
              </a:spcAft>
            </a:pPr>
            <a:r>
              <a:rPr sz="1400" dirty="0">
                <a:solidFill>
                  <a:srgbClr val="44506B"/>
                </a:solidFill>
                <a:latin typeface="Calibri"/>
              </a:rPr>
              <a:t>•  You</a:t>
            </a:r>
            <a:r>
              <a:rPr lang="sv-SE" sz="1400" dirty="0">
                <a:solidFill>
                  <a:srgbClr val="44506B"/>
                </a:solidFill>
                <a:latin typeface="Calibri"/>
              </a:rPr>
              <a:t>’</a:t>
            </a:r>
            <a:r>
              <a:rPr lang="sv-SE" sz="1400" dirty="0" err="1">
                <a:solidFill>
                  <a:srgbClr val="44506B"/>
                </a:solidFill>
                <a:latin typeface="Calibri"/>
              </a:rPr>
              <a:t>ll</a:t>
            </a:r>
            <a:r>
              <a:rPr lang="sv-SE" sz="1400" dirty="0">
                <a:solidFill>
                  <a:srgbClr val="44506B"/>
                </a:solidFill>
                <a:latin typeface="Calibri"/>
              </a:rPr>
              <a:t> </a:t>
            </a:r>
            <a:r>
              <a:rPr lang="sv-SE" sz="1400" dirty="0" err="1">
                <a:solidFill>
                  <a:srgbClr val="44506B"/>
                </a:solidFill>
                <a:latin typeface="Calibri"/>
              </a:rPr>
              <a:t>use</a:t>
            </a:r>
            <a:r>
              <a:rPr lang="sv-SE" sz="1400" dirty="0">
                <a:solidFill>
                  <a:srgbClr val="44506B"/>
                </a:solidFill>
                <a:latin typeface="Calibri"/>
              </a:rPr>
              <a:t> </a:t>
            </a:r>
            <a:r>
              <a:rPr lang="sv-SE" sz="1400" dirty="0" err="1">
                <a:solidFill>
                  <a:srgbClr val="44506B"/>
                </a:solidFill>
                <a:latin typeface="Calibri"/>
              </a:rPr>
              <a:t>Postgres</a:t>
            </a:r>
            <a:r>
              <a:rPr lang="sv-SE" sz="1400" dirty="0">
                <a:solidFill>
                  <a:srgbClr val="44506B"/>
                </a:solidFill>
                <a:latin typeface="Calibri"/>
              </a:rPr>
              <a:t> in </a:t>
            </a:r>
            <a:r>
              <a:rPr lang="sv-SE" sz="1400" dirty="0" err="1">
                <a:solidFill>
                  <a:srgbClr val="44506B"/>
                </a:solidFill>
                <a:latin typeface="Calibri"/>
              </a:rPr>
              <a:t>your</a:t>
            </a:r>
            <a:r>
              <a:rPr sz="1400" dirty="0">
                <a:solidFill>
                  <a:srgbClr val="44506B"/>
                </a:solidFill>
                <a:latin typeface="Calibri"/>
              </a:rPr>
              <a:t> </a:t>
            </a:r>
            <a:r>
              <a:rPr lang="sv-SE" sz="1400" dirty="0">
                <a:solidFill>
                  <a:srgbClr val="44506B"/>
                </a:solidFill>
                <a:latin typeface="Calibri"/>
              </a:rPr>
              <a:t>pipeline for </a:t>
            </a:r>
            <a:r>
              <a:rPr sz="1400" dirty="0">
                <a:solidFill>
                  <a:srgbClr val="44506B"/>
                </a:solidFill>
                <a:latin typeface="Calibri"/>
              </a:rPr>
              <a:t>bronze, features, predictions.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00000" y="1500000"/>
            <a:ext cx="5250000" cy="4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0000" y="1700000"/>
            <a:ext cx="48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2761"/>
                </a:solidFill>
                <a:latin typeface="Calibri"/>
              </a:rPr>
              <a:t>DuckDB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000" y="2300000"/>
            <a:ext cx="4850000" cy="625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dirty="0">
                <a:solidFill>
                  <a:srgbClr val="44506B"/>
                </a:solidFill>
                <a:latin typeface="Calibri"/>
              </a:rPr>
              <a:t>•  Analysis tool — you reach for it to ask questions of the data.</a:t>
            </a:r>
          </a:p>
          <a:p>
            <a:pPr>
              <a:spcAft>
                <a:spcPts val="800"/>
              </a:spcAft>
            </a:pPr>
            <a:r>
              <a:rPr sz="1400" dirty="0">
                <a:solidFill>
                  <a:srgbClr val="44506B"/>
                </a:solidFill>
                <a:latin typeface="Calibri"/>
              </a:rPr>
              <a:t>•  One heavy aggregate query beats many small ones.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563D6-391C-BA67-2D2C-ACD296A8D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582DE4-85B6-EE71-AE98-96579EDB8BAA}"/>
              </a:ext>
            </a:extLst>
          </p:cNvPr>
          <p:cNvSpPr txBox="1"/>
          <p:nvPr/>
        </p:nvSpPr>
        <p:spPr>
          <a:xfrm>
            <a:off x="502920" y="30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994A"/>
                </a:solidFill>
                <a:latin typeface="Calibri"/>
              </a:rPr>
              <a:t>THE DUCKDB VS POSTGRES DEMO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111513-CE4E-3096-A7A3-A56DC84C9020}"/>
              </a:ext>
            </a:extLst>
          </p:cNvPr>
          <p:cNvSpPr txBox="1"/>
          <p:nvPr/>
        </p:nvSpPr>
        <p:spPr>
          <a:xfrm>
            <a:off x="502920" y="560000"/>
            <a:ext cx="96012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sv-SE" sz="2600" b="1" dirty="0">
                <a:solidFill>
                  <a:srgbClr val="1E2761"/>
                </a:solidFill>
                <a:latin typeface="Calibri"/>
              </a:rPr>
              <a:t>Demo:</a:t>
            </a:r>
            <a:r>
              <a:rPr sz="2600" b="1" dirty="0">
                <a:solidFill>
                  <a:srgbClr val="1E2761"/>
                </a:solidFill>
                <a:latin typeface="Calibri"/>
              </a:rPr>
              <a:t> </a:t>
            </a:r>
            <a:r>
              <a:rPr sz="2600" b="1" dirty="0" err="1">
                <a:solidFill>
                  <a:srgbClr val="1E2761"/>
                </a:solidFill>
                <a:latin typeface="Calibri"/>
              </a:rPr>
              <a:t>DuckDB</a:t>
            </a:r>
            <a:r>
              <a:rPr lang="sv-SE" sz="2600" b="1" dirty="0">
                <a:solidFill>
                  <a:srgbClr val="1E2761"/>
                </a:solidFill>
                <a:latin typeface="Calibri"/>
              </a:rPr>
              <a:t> </a:t>
            </a:r>
            <a:r>
              <a:rPr lang="sv-SE" sz="2600" b="1" dirty="0" err="1">
                <a:solidFill>
                  <a:srgbClr val="1E2761"/>
                </a:solidFill>
                <a:latin typeface="Calibri"/>
              </a:rPr>
              <a:t>with</a:t>
            </a:r>
            <a:r>
              <a:rPr lang="sv-SE" sz="2600" b="1" dirty="0">
                <a:solidFill>
                  <a:srgbClr val="1E2761"/>
                </a:solidFill>
                <a:latin typeface="Calibri"/>
              </a:rPr>
              <a:t> Neon</a:t>
            </a:r>
            <a:endParaRPr sz="2600" b="1" dirty="0">
              <a:solidFill>
                <a:srgbClr val="1E2761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373C60-66DA-5219-3C38-A7BEEE93F68F}"/>
              </a:ext>
            </a:extLst>
          </p:cNvPr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Data Engineering och Agila metoder · Week 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2EC6BC-7605-1835-4342-BE917B36BB81}"/>
              </a:ext>
            </a:extLst>
          </p:cNvPr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11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95629F-3E9B-6851-2277-6DCE363B0E51}"/>
              </a:ext>
            </a:extLst>
          </p:cNvPr>
          <p:cNvSpPr txBox="1"/>
          <p:nvPr/>
        </p:nvSpPr>
        <p:spPr>
          <a:xfrm>
            <a:off x="502920" y="1500000"/>
            <a:ext cx="1080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sv-SE" sz="1500" dirty="0">
                <a:solidFill>
                  <a:srgbClr val="44506B"/>
                </a:solidFill>
                <a:latin typeface="Calibri"/>
              </a:rPr>
              <a:t> </a:t>
            </a:r>
            <a:endParaRPr sz="1500" dirty="0">
              <a:solidFill>
                <a:srgbClr val="44506B"/>
              </a:solidFill>
              <a:latin typeface="Calibri"/>
            </a:endParaRPr>
          </a:p>
        </p:txBody>
      </p:sp>
      <p:pic>
        <p:nvPicPr>
          <p:cNvPr id="10" name="Bildobjekt 9">
            <a:extLst>
              <a:ext uri="{FF2B5EF4-FFF2-40B4-BE49-F238E27FC236}">
                <a16:creationId xmlns:a16="http://schemas.microsoft.com/office/drawing/2014/main" id="{70EC1A44-5709-E679-19C8-13799383B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5900" y="3136900"/>
            <a:ext cx="1600200" cy="584200"/>
          </a:xfrm>
          <a:prstGeom prst="rect">
            <a:avLst/>
          </a:prstGeom>
        </p:spPr>
      </p:pic>
      <p:sp>
        <p:nvSpPr>
          <p:cNvPr id="11" name="textruta 10">
            <a:extLst>
              <a:ext uri="{FF2B5EF4-FFF2-40B4-BE49-F238E27FC236}">
                <a16:creationId xmlns:a16="http://schemas.microsoft.com/office/drawing/2014/main" id="{28F0EC2B-7D3A-A79B-3AC8-163B51B04F0E}"/>
              </a:ext>
            </a:extLst>
          </p:cNvPr>
          <p:cNvSpPr txBox="1"/>
          <p:nvPr/>
        </p:nvSpPr>
        <p:spPr>
          <a:xfrm>
            <a:off x="3138311" y="2641600"/>
            <a:ext cx="2476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Cloud </a:t>
            </a:r>
            <a:r>
              <a:rPr lang="sv-SE" dirty="0" err="1"/>
              <a:t>Postgres</a:t>
            </a:r>
            <a:r>
              <a:rPr lang="sv-SE" dirty="0"/>
              <a:t> </a:t>
            </a:r>
            <a:r>
              <a:rPr lang="sv-SE" dirty="0" err="1"/>
              <a:t>database</a:t>
            </a:r>
            <a:endParaRPr lang="sv-SE" dirty="0"/>
          </a:p>
        </p:txBody>
      </p:sp>
      <p:sp>
        <p:nvSpPr>
          <p:cNvPr id="12" name="textruta 11">
            <a:extLst>
              <a:ext uri="{FF2B5EF4-FFF2-40B4-BE49-F238E27FC236}">
                <a16:creationId xmlns:a16="http://schemas.microsoft.com/office/drawing/2014/main" id="{87B106F6-8E0D-715E-5FE5-6E889F060892}"/>
              </a:ext>
            </a:extLst>
          </p:cNvPr>
          <p:cNvSpPr txBox="1"/>
          <p:nvPr/>
        </p:nvSpPr>
        <p:spPr>
          <a:xfrm>
            <a:off x="1128889" y="4594578"/>
            <a:ext cx="9234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Alternatives: </a:t>
            </a:r>
            <a:r>
              <a:rPr lang="sv-SE" dirty="0" err="1"/>
              <a:t>Supabase</a:t>
            </a:r>
            <a:r>
              <a:rPr lang="sv-SE" dirty="0"/>
              <a:t>, Cloud SQL (Google Cloud), Amazon RDS, Azure </a:t>
            </a:r>
            <a:r>
              <a:rPr lang="sv-SE" dirty="0" err="1"/>
              <a:t>Database</a:t>
            </a:r>
            <a:r>
              <a:rPr lang="sv-SE" dirty="0"/>
              <a:t> for </a:t>
            </a:r>
            <a:r>
              <a:rPr lang="sv-SE" dirty="0" err="1"/>
              <a:t>PostgreSQL</a:t>
            </a:r>
            <a:r>
              <a:rPr lang="sv-S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15558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994A"/>
                </a:solidFill>
                <a:latin typeface="Calibri"/>
              </a:rPr>
              <a:t>THE DUCKDB VS POSTGRES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96012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Live demo: what actually happened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Data Engineering och Agila metoder · 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50000"/>
            <a:ext cx="10800000" cy="9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0000" y="1420000"/>
            <a:ext cx="10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Attach a live Postgres database from DuckDB: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780000"/>
            <a:ext cx="104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761"/>
                </a:solidFill>
                <a:latin typeface="Consolas"/>
              </a:rPr>
              <a:t>ATTACH 'postgresql://...' AS pg (TYPE postgres);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420000"/>
            <a:ext cx="10800000" cy="25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0000" y="2520000"/>
            <a:ext cx="10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Three timings, same GROUP BY query, one attached table:</a:t>
            </a:r>
          </a:p>
        </p:txBody>
      </p:sp>
      <p:sp>
        <p:nvSpPr>
          <p:cNvPr id="11" name="Oval 10"/>
          <p:cNvSpPr/>
          <p:nvPr/>
        </p:nvSpPr>
        <p:spPr>
          <a:xfrm>
            <a:off x="700000" y="3060000"/>
            <a:ext cx="180000" cy="18000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0000" y="3020000"/>
            <a:ext cx="26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E2761"/>
                </a:solidFill>
                <a:latin typeface="Calibri"/>
              </a:rPr>
              <a:t>psql, server-side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0000" y="3020000"/>
            <a:ext cx="745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4506B"/>
                </a:solidFill>
                <a:latin typeface="Calibri"/>
              </a:rPr>
              <a:t>aggregation runs inside Neon's compute; only the small grouped result crosses the network.</a:t>
            </a:r>
          </a:p>
        </p:txBody>
      </p:sp>
      <p:sp>
        <p:nvSpPr>
          <p:cNvPr id="14" name="Oval 13"/>
          <p:cNvSpPr/>
          <p:nvPr/>
        </p:nvSpPr>
        <p:spPr>
          <a:xfrm>
            <a:off x="700000" y="3680000"/>
            <a:ext cx="180000" cy="180000"/>
          </a:xfrm>
          <a:prstGeom prst="ellipse">
            <a:avLst/>
          </a:prstGeom>
          <a:solidFill>
            <a:srgbClr val="B0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0000" y="3640000"/>
            <a:ext cx="26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E2761"/>
                </a:solidFill>
                <a:latin typeface="Calibri"/>
              </a:rPr>
              <a:t>DuckDB via ATTACH, naive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0000" y="3640000"/>
            <a:ext cx="745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4506B"/>
                </a:solidFill>
                <a:latin typeface="Calibri"/>
              </a:rPr>
              <a:t>SLOWER than psql — DuckDB pulls all 1M raw rows across the network first, then aggregates locally.</a:t>
            </a:r>
          </a:p>
        </p:txBody>
      </p:sp>
      <p:sp>
        <p:nvSpPr>
          <p:cNvPr id="17" name="Oval 16"/>
          <p:cNvSpPr/>
          <p:nvPr/>
        </p:nvSpPr>
        <p:spPr>
          <a:xfrm>
            <a:off x="700000" y="4300000"/>
            <a:ext cx="180000" cy="180000"/>
          </a:xfrm>
          <a:prstGeom prst="ellipse">
            <a:avLst/>
          </a:prstGeom>
          <a:solidFill>
            <a:srgbClr val="1E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0000" y="4260000"/>
            <a:ext cx="26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E2761"/>
                </a:solidFill>
                <a:latin typeface="Calibri"/>
              </a:rPr>
              <a:t>DuckDB, local copy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0000" y="4260000"/>
            <a:ext cx="745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4506B"/>
                </a:solidFill>
                <a:latin typeface="Calibri"/>
              </a:rPr>
              <a:t>materialize once (CREATE TABLE ... AS SELECT * FROM pg....), then query locally — fastest of the three.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150000"/>
            <a:ext cx="10800000" cy="1350000"/>
          </a:xfrm>
          <a:prstGeom prst="roundRect">
            <a:avLst>
              <a:gd name="adj" fmla="val 6000"/>
            </a:avLst>
          </a:prstGeom>
          <a:solidFill>
            <a:srgbClr val="F1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0000" y="5230000"/>
            <a:ext cx="104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dirty="0">
                <a:solidFill>
                  <a:srgbClr val="1E2761"/>
                </a:solidFill>
                <a:latin typeface="Calibri"/>
              </a:rPr>
              <a:t>The lesson isn't "</a:t>
            </a:r>
            <a:r>
              <a:rPr sz="1300" b="0" dirty="0" err="1">
                <a:solidFill>
                  <a:srgbClr val="1E2761"/>
                </a:solidFill>
                <a:latin typeface="Calibri"/>
              </a:rPr>
              <a:t>DuckDB</a:t>
            </a:r>
            <a:r>
              <a:rPr sz="1300" b="0" dirty="0">
                <a:solidFill>
                  <a:srgbClr val="1E2761"/>
                </a:solidFill>
                <a:latin typeface="Calibri"/>
              </a:rPr>
              <a:t> is always faster." ATTACH is for ad hoc exploration across a live source. If you're going to hammer it with heavy analytics repeatedly, pull the data down once and work locally — which is exactly why bronze/silver/gold exists instead of everyone querying the OLTP database directly, forever.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1137</TotalTime>
  <Words>1273</Words>
  <Application>Microsoft Macintosh PowerPoint</Application>
  <PresentationFormat>Bredbild</PresentationFormat>
  <Paragraphs>148</Paragraphs>
  <Slides>15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mikael huss</cp:lastModifiedBy>
  <cp:revision>2</cp:revision>
  <dcterms:created xsi:type="dcterms:W3CDTF">2013-01-27T09:14:16Z</dcterms:created>
  <dcterms:modified xsi:type="dcterms:W3CDTF">2026-08-23T12:41:24Z</dcterms:modified>
  <cp:category/>
</cp:coreProperties>
</file>