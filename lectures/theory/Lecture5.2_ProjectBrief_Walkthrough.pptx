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85716" y="747032"/>
            <a:ext cx="91190" cy="9119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3024" y="2188324"/>
            <a:ext cx="108490" cy="10849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36270" y="474847"/>
            <a:ext cx="142014" cy="1420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55230" y="2168103"/>
            <a:ext cx="139377" cy="13937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10158" y="1182855"/>
            <a:ext cx="93994" cy="9399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07936" y="2172428"/>
            <a:ext cx="85132" cy="851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05320" y="2197970"/>
            <a:ext cx="130906" cy="13090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80446" y="831731"/>
            <a:ext cx="112053" cy="11205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62798" y="835950"/>
            <a:ext cx="90398" cy="903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94381" y="1835513"/>
            <a:ext cx="173776" cy="1737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3530" y="468567"/>
            <a:ext cx="157157" cy="1571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80248" y="379470"/>
            <a:ext cx="80892" cy="808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30072" y="1330078"/>
            <a:ext cx="99487" cy="994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94560" y="1825748"/>
            <a:ext cx="121964" cy="1219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90694" y="1856596"/>
            <a:ext cx="153602" cy="15360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19734" y="2064875"/>
            <a:ext cx="155436" cy="15543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33100" y="608753"/>
            <a:ext cx="77583" cy="775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70294" y="2275691"/>
            <a:ext cx="64703" cy="647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82051" y="2029395"/>
            <a:ext cx="88440" cy="88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28353" y="1462595"/>
            <a:ext cx="162101" cy="1621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27531" y="1818440"/>
            <a:ext cx="115200" cy="115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71825" y="1909497"/>
            <a:ext cx="135238" cy="1352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74699" y="1612494"/>
            <a:ext cx="136579" cy="1365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20210" y="1373086"/>
            <a:ext cx="149388" cy="14938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640080"/>
            <a:ext cx="320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PROJECT BRIEF · WEEK 3–9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600200"/>
            <a:ext cx="96012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dirty="0">
                <a:solidFill>
                  <a:srgbClr val="FFFFFF"/>
                </a:solidFill>
                <a:latin typeface="Calibri"/>
              </a:rPr>
              <a:t>You get a trained model.</a:t>
            </a:r>
          </a:p>
          <a:p>
            <a:endParaRPr sz="4000" b="0" dirty="0">
              <a:solidFill>
                <a:srgbClr val="FFFFFF"/>
              </a:solidFill>
              <a:latin typeface="Calibri"/>
            </a:endParaRPr>
          </a:p>
          <a:p>
            <a:endParaRPr sz="4000" b="0" dirty="0">
              <a:solidFill>
                <a:srgbClr val="FFFFFF"/>
              </a:solidFill>
              <a:latin typeface="Calibri"/>
            </a:endParaRPr>
          </a:p>
          <a:p>
            <a:r>
              <a:rPr sz="4000" b="1" dirty="0">
                <a:solidFill>
                  <a:srgbClr val="F2994A"/>
                </a:solidFill>
                <a:latin typeface="Calibri"/>
              </a:rPr>
              <a:t>Everything around it is yours.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CADCFC"/>
                </a:solidFill>
                <a:latin typeface="Calibri"/>
              </a:rPr>
              <a:t>Grupprojekt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· 25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augusti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– 8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oktober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2026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5720" y="6510528"/>
            <a:ext cx="9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The system,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00000"/>
            <a:ext cx="10800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000000"/>
            <a:ext cx="10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E2761"/>
                </a:solidFill>
                <a:latin typeface="Calibri"/>
              </a:rPr>
              <a:t>Automatically pull fresh data → turn it into features → retrain the model on schedule → serve it as a public API → log and monitor its own predictions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00000"/>
            <a:ext cx="10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4506B"/>
                </a:solidFill>
                <a:latin typeface="Calibri"/>
              </a:rPr>
              <a:t>•  Model training itself is not in scope — you already have that from earlier courses.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506B"/>
                </a:solidFill>
                <a:latin typeface="Calibri"/>
              </a:rPr>
              <a:t>•  This project is entirely about the infrastructure around the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STARTER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What you get at the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model/train.py</a:t>
            </a:r>
            <a:r>
              <a:rPr sz="1500">
                <a:solidFill>
                  <a:srgbClr val="44506B"/>
                </a:solidFill>
                <a:latin typeface="Calibri"/>
              </a:rPr>
              <a:t>  the training script — your starting point for retraining.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model/utforskning.ipynb</a:t>
            </a:r>
            <a:r>
              <a:rPr sz="1500">
                <a:solidFill>
                  <a:srgbClr val="44506B"/>
                </a:solidFill>
                <a:latin typeface="Calibri"/>
              </a:rPr>
              <a:t>  the notebook the model was built in.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model/model.pkl</a:t>
            </a:r>
            <a:r>
              <a:rPr sz="1500">
                <a:solidFill>
                  <a:srgbClr val="44506B"/>
                </a:solidFill>
                <a:latin typeface="Calibri"/>
              </a:rPr>
              <a:t>  a trained baseline model, so you can start immediately.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data/historik.csv</a:t>
            </a:r>
            <a:r>
              <a:rPr sz="1500">
                <a:solidFill>
                  <a:srgbClr val="44506B"/>
                </a:solidFill>
                <a:latin typeface="Calibri"/>
              </a:rPr>
              <a:t>  historical data, so you're not stuck if an API is down.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db/schema.sql + .env.example</a:t>
            </a:r>
            <a:r>
              <a:rPr sz="1500">
                <a:solidFill>
                  <a:srgbClr val="44506B"/>
                </a:solidFill>
                <a:latin typeface="Calibri"/>
              </a:rPr>
              <a:t>  starter schema for your bronze table, plus a connection-string template.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README.md</a:t>
            </a:r>
            <a:r>
              <a:rPr sz="1500">
                <a:solidFill>
                  <a:srgbClr val="44506B"/>
                </a:solidFill>
                <a:latin typeface="Calibri"/>
              </a:rPr>
              <a:t>  technical getting-started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00000"/>
            <a:ext cx="8600000" cy="38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Plus: your own price area × target + SMHI station — not identical across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WHAT YOU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Six components. All six required for a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2920" y="16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920" y="21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Feature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20" y="25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SMHI + elprisetjustnu.se → validated features in Postgres, scheduled, containerized.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27920" y="15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07920" y="16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7920" y="21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Training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920" y="25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reads features, retrains, registers a new version in Hugging Face 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2920" y="15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2920" y="16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2920" y="21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Inference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2920" y="25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FastAPI in a container, /predict + /health, public HTTPS.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2920" y="38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20" y="43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920" y="47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for every prediction: which data, which code, which model version, when.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7920" y="37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7920" y="38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7920" y="43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7920" y="47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compare predictions to actual outcomes, error metric over time, a degradation threshold.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2920" y="3700000"/>
            <a:ext cx="3550000" cy="2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2920" y="3820000"/>
            <a:ext cx="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994A"/>
                </a:solidFill>
                <a:latin typeface="Calibri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2920" y="43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CI/CD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2920" y="4750000"/>
            <a:ext cx="32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4506B"/>
                </a:solidFill>
                <a:latin typeface="Calibri"/>
              </a:rPr>
              <a:t>GitHub Actions on every PR, image built and tagged on merge to 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WHAT YOU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Optional depth: Hopsworks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000"/>
            <a:ext cx="1080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000" y="1850000"/>
            <a:ext cx="102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4506B"/>
                </a:solidFill>
                <a:latin typeface="Calibri"/>
              </a:rPr>
              <a:t>In Week 6 everyone tries Hopsworks in a guided exercise. Afterwards you may point your real feature/training pipeline at Hopsworks instead of Postgres — entirely optional.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Technical platform — free, no card, 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0000"/>
            <a:ext cx="1080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2920" y="16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2920" y="16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Code, review, CI/CD, pipeline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920" y="16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920" y="23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Neon / Supabase (Postgres)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2920" y="23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Raw data, features, logged predictions,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920" y="23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00000"/>
            <a:ext cx="1080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920" y="30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Hugging Face Spaces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2920" y="30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Inference deployment + model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920" y="30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920" y="37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SMHI Öppna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2920" y="37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Weather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920" y="37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00000"/>
            <a:ext cx="1080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920" y="44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elprisetjustnu.se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2920" y="44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Target variable: electricity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2920" y="44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920" y="51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Databricks Free Edition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2920" y="51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Week 4 Spark demo only — not in the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920" y="51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700000"/>
            <a:ext cx="10800000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2920" y="5820000"/>
            <a:ext cx="3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Calibri"/>
              </a:rPr>
              <a:t>Hopsworks Serverless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2920" y="5820000"/>
            <a:ext cx="5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Optional feature-store depth, Week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920" y="5820000"/>
            <a:ext cx="1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Calibri"/>
              </a:rPr>
              <a:t>Free, no 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06B"/>
                </a:solidFill>
                <a:latin typeface="Calibri"/>
              </a:rPr>
              <a:t>Want to use something else? Fine, as long as it's free, runs your container, and gives a public HTTPS address — talk to me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994A"/>
                </a:solidFill>
                <a:latin typeface="Calibri"/>
              </a:rPr>
              <a:t>ARBETSSÄTT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How you work is part of the grade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0000"/>
            <a:ext cx="108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</a:t>
            </a:r>
            <a:r>
              <a:rPr lang="sv-SE" sz="1500" b="1" dirty="0" err="1">
                <a:solidFill>
                  <a:srgbClr val="44506B"/>
                </a:solidFill>
                <a:latin typeface="Calibri"/>
              </a:rPr>
              <a:t>Two-week</a:t>
            </a:r>
            <a:r>
              <a:rPr lang="sv-SE" sz="1500" b="1" dirty="0">
                <a:solidFill>
                  <a:srgbClr val="44506B"/>
                </a:solidFill>
                <a:latin typeface="Calibri"/>
              </a:rPr>
              <a:t> sprints</a:t>
            </a:r>
            <a:r>
              <a:rPr sz="1500" b="1" dirty="0">
                <a:solidFill>
                  <a:srgbClr val="44506B"/>
                </a:solidFill>
                <a:latin typeface="Calibri"/>
              </a:rPr>
              <a:t>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each opens with sprint planning, closes with review + retrospective.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Daily stand-up.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max 10 minutes, start of every lecture day.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A board that reflects reality.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cards move when work moves, not the night before a review.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A written, applied Definition of Done.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Scrum, Kanban, or a mix — your choice, but you justify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00000"/>
            <a:ext cx="950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Lärandemål 9 &amp; 10 are graded on what actually shows up in your artefacts, not what the report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Three examination moments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0000"/>
            <a:ext cx="1080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0000" y="1780000"/>
            <a:ext cx="750000" cy="7500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0000" y="1650000"/>
            <a:ext cx="94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Redovisning i grupp — 17/9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120000"/>
            <a:ext cx="94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Lärandemål 1, 2, 8. ~15 min presentation: project plan, agile working method, ethical analysis. Mid-project, not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0000"/>
            <a:ext cx="1080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0000" y="3380000"/>
            <a:ext cx="750000" cy="7500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3250000"/>
            <a:ext cx="94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Projektarbete — löpande, slutleverans 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720000"/>
            <a:ext cx="94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Lärandemål 3–7, 9–14, 16. The finished system, the code, the report, and how the work actually went.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00000"/>
            <a:ext cx="1080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0000" y="4980000"/>
            <a:ext cx="750000" cy="7500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000" y="4850000"/>
            <a:ext cx="94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Individuell analys — 5/10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5320000"/>
            <a:ext cx="94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506B"/>
                </a:solidFill>
                <a:latin typeface="Calibri"/>
              </a:rPr>
              <a:t>Lärandemål 15, 17. 2–4 pages, individual: what you built, your technical choices, real data problems you 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Deliberately out of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0000"/>
            <a:ext cx="1080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You don't train a model from scratch — you get one.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You don't stand up your own Kubernetes cluster.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No data warehouse, no dimensional modeling.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No streaming — everything in this course is batch.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First deadline: this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Data Engineering och Agila metoder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000"/>
            <a:ext cx="10800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1850000"/>
            <a:ext cx="10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Projektplan och första 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400000"/>
            <a:ext cx="10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506B"/>
                </a:solidFill>
                <a:latin typeface="Calibri"/>
              </a:rPr>
              <a:t>Document + board in GitHub Projects — due Friday 28/8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00000"/>
            <a:ext cx="108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Weeks 3–5</a:t>
            </a:r>
            <a:r>
              <a:rPr sz="1500">
                <a:solidFill>
                  <a:srgbClr val="44506B"/>
                </a:solidFill>
                <a:latin typeface="Calibri"/>
              </a:rPr>
              <a:t>  Sprint 1 — feature pipeline, then training pipeline and model registration.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Weeks 6–7</a:t>
            </a:r>
            <a:r>
              <a:rPr sz="1500">
                <a:solidFill>
                  <a:srgbClr val="44506B"/>
                </a:solidFill>
                <a:latin typeface="Calibri"/>
              </a:rPr>
              <a:t>  Sprint 2 — inference deployment, traceability, monitoring. Group presentation 17/9.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Weeks 8–9</a:t>
            </a:r>
            <a:r>
              <a:rPr sz="1500">
                <a:solidFill>
                  <a:srgbClr val="44506B"/>
                </a:solidFill>
                <a:latin typeface="Calibri"/>
              </a:rPr>
              <a:t>  Sprint 3 — retraining, data quality, integration. Final presentation + report 8/10.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918</Words>
  <Application>Microsoft Macintosh PowerPoint</Application>
  <PresentationFormat>Bredbild</PresentationFormat>
  <Paragraphs>114</Paragraphs>
  <Slides>10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3</cp:revision>
  <dcterms:created xsi:type="dcterms:W3CDTF">2013-01-27T09:14:16Z</dcterms:created>
  <dcterms:modified xsi:type="dcterms:W3CDTF">2026-08-23T15:34:02Z</dcterms:modified>
  <cp:category/>
</cp:coreProperties>
</file>